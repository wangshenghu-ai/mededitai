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0" r:id="rId2"/>
    <p:sldMasterId id="2147483652" r:id="rId3"/>
    <p:sldMasterId id="2147483654" r:id="rId4"/>
    <p:sldMasterId id="2147483669" r:id="rId5"/>
  </p:sldMasterIdLst>
  <p:notesMasterIdLst>
    <p:notesMasterId r:id="rId29"/>
  </p:notesMasterIdLst>
  <p:handoutMasterIdLst>
    <p:handoutMasterId r:id="rId30"/>
  </p:handoutMasterIdLst>
  <p:sldIdLst>
    <p:sldId id="283" r:id="rId6"/>
    <p:sldId id="296" r:id="rId7"/>
    <p:sldId id="293" r:id="rId8"/>
    <p:sldId id="285" r:id="rId9"/>
    <p:sldId id="294" r:id="rId10"/>
    <p:sldId id="303" r:id="rId11"/>
    <p:sldId id="298" r:id="rId12"/>
    <p:sldId id="287" r:id="rId13"/>
    <p:sldId id="288" r:id="rId14"/>
    <p:sldId id="281" r:id="rId15"/>
    <p:sldId id="300" r:id="rId16"/>
    <p:sldId id="290" r:id="rId17"/>
    <p:sldId id="292" r:id="rId18"/>
    <p:sldId id="286" r:id="rId19"/>
    <p:sldId id="291" r:id="rId20"/>
    <p:sldId id="284" r:id="rId21"/>
    <p:sldId id="295" r:id="rId22"/>
    <p:sldId id="282" r:id="rId23"/>
    <p:sldId id="289" r:id="rId24"/>
    <p:sldId id="299" r:id="rId25"/>
    <p:sldId id="297" r:id="rId26"/>
    <p:sldId id="302" r:id="rId27"/>
    <p:sldId id="301" r:id="rId28"/>
  </p:sldIdLst>
  <p:sldSz cx="7559675" cy="10979150"/>
  <p:notesSz cx="6858000" cy="9144000"/>
  <p:embeddedFontLst>
    <p:embeddedFont>
      <p:font typeface="Microsoft YaHei" panose="020B0503020204020204" pitchFamily="34" charset="-122"/>
      <p:regular r:id="rId31"/>
      <p:bold r:id="rId32"/>
    </p:embeddedFont>
    <p:embeddedFont>
      <p:font typeface="Johnson Display" pitchFamily="2" charset="0"/>
      <p:regular r:id="rId33"/>
      <p:bold r:id="rId34"/>
      <p:italic r:id="rId35"/>
      <p:boldItalic r:id="rId36"/>
    </p:embeddedFont>
    <p:embeddedFont>
      <p:font typeface="Johnson Text" pitchFamily="2" charset="0"/>
      <p:regular r:id="rId37"/>
      <p:bold r:id="rId38"/>
      <p:italic r:id="rId39"/>
      <p:boldItalic r:id="rId40"/>
    </p:embeddedFont>
  </p:embeddedFontLst>
  <p:custDataLst>
    <p:tags r:id="rId4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y Fan" initials="KF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1F1C"/>
    <a:srgbClr val="EC1601"/>
    <a:srgbClr val="FF1F1B"/>
    <a:srgbClr val="F50709"/>
    <a:srgbClr val="F30005"/>
    <a:srgbClr val="A5A6A5"/>
    <a:srgbClr val="D8C4C2"/>
    <a:srgbClr val="D15E52"/>
    <a:srgbClr val="ECECEC"/>
    <a:srgbClr val="F5F3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348" autoAdjust="0"/>
    <p:restoredTop sz="96286"/>
  </p:normalViewPr>
  <p:slideViewPr>
    <p:cSldViewPr snapToGrid="0">
      <p:cViewPr varScale="1">
        <p:scale>
          <a:sx n="69" d="100"/>
          <a:sy n="69" d="100"/>
        </p:scale>
        <p:origin x="2120" y="2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116" d="100"/>
          <a:sy n="116" d="100"/>
        </p:scale>
        <p:origin x="3680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font" Target="fonts/font9.fntdata"/><Relationship Id="rId21" Type="http://schemas.openxmlformats.org/officeDocument/2006/relationships/slide" Target="slides/slide16.xml"/><Relationship Id="rId34" Type="http://schemas.openxmlformats.org/officeDocument/2006/relationships/font" Target="fonts/font4.fntdata"/><Relationship Id="rId42" Type="http://schemas.openxmlformats.org/officeDocument/2006/relationships/commentAuthors" Target="commentAuthor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font" Target="fonts/font6.fntdata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font" Target="fonts/font1.fntdata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handoutMaster" Target="handoutMasters/handoutMaster1.xml"/><Relationship Id="rId35" Type="http://schemas.openxmlformats.org/officeDocument/2006/relationships/font" Target="fonts/font5.fntdata"/><Relationship Id="rId43" Type="http://schemas.openxmlformats.org/officeDocument/2006/relationships/presProps" Target="presProps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tableStyles" Target="tableStyles.xml"/><Relationship Id="rId20" Type="http://schemas.openxmlformats.org/officeDocument/2006/relationships/slide" Target="slides/slide15.xml"/><Relationship Id="rId41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Johnson Text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37F42B-4C86-0A43-8FA1-0E0D1126CEC8}" type="datetimeFigureOut">
              <a:rPr lang="en-US" smtClean="0">
                <a:latin typeface="Johnson Text" pitchFamily="2" charset="77"/>
              </a:rPr>
              <a:t>4/13/26</a:t>
            </a:fld>
            <a:endParaRPr lang="en-US" dirty="0">
              <a:latin typeface="Johnson Text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Johnson Text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11A9B5-35A3-E649-8148-DE3199393FDC}" type="slidenum">
              <a:rPr lang="en-US" smtClean="0">
                <a:latin typeface="Johnson Text" pitchFamily="2" charset="77"/>
              </a:rPr>
              <a:t>‹#›</a:t>
            </a:fld>
            <a:endParaRPr lang="en-US" dirty="0">
              <a:latin typeface="Johnson Tex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Johnson Display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Johnson Display" pitchFamily="2" charset="77"/>
              </a:defRPr>
            </a:lvl1pPr>
          </a:lstStyle>
          <a:p>
            <a:fld id="{BA4529F8-1B9C-C04B-A698-DC6C48C547B6}" type="datetimeFigureOut">
              <a:rPr lang="en-US" smtClean="0"/>
              <a:t>4/13/26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6963" y="1143000"/>
            <a:ext cx="21240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Johnson Display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Johnson Display" pitchFamily="2" charset="77"/>
              </a:defRPr>
            </a:lvl1pPr>
          </a:lstStyle>
          <a:p>
            <a:fld id="{08B18E93-EE38-CB4F-AFC1-65CB91DBAD44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Johnson Display" pitchFamily="2" charset="77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Johnson Display" pitchFamily="2" charset="77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Johnson Display" pitchFamily="2" charset="77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Johnson Display" pitchFamily="2" charset="77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Johnson Display" pitchFamily="2" charset="7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C29D6-0B32-D545-58C2-B0AD9DCF8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05129EE-04A2-5840-E01B-3315A21D0B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06946E7-6691-2A8F-275A-AA452EEA04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D011D4-F8B5-9ED3-F70E-AB30AD3181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B18E93-EE38-CB4F-AFC1-65CB91DBAD4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9713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985CB-63E3-BF54-351D-079CD6907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4D52641-68B0-868C-AA74-42C140A3D8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C9FC4F6-89FC-9252-9F57-4473CB170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2E44DF-C2E2-8128-431B-55D139BD1D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B18E93-EE38-CB4F-AFC1-65CB91DBAD44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9403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BE7D1-4A26-45A4-A565-EA78D8FE9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7DBFC08-AD4E-B191-B854-3C0ABE0D6C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CBE469B-F754-DAE3-E6ED-DFFAD76047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06B041-AA95-7BDA-41D3-BD45AB7A63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B18E93-EE38-CB4F-AFC1-65CB91DBAD44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227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B18E93-EE38-CB4F-AFC1-65CB91DBAD44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0104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5521A-3032-562F-19A0-A57B9C665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C6AC87B-78D1-97A5-0590-F0C3D80CBB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ADB9674-7E43-132C-2D41-3D4103B11C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CDAF8E-60C4-3EB4-D957-BBE5242C6F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B18E93-EE38-CB4F-AFC1-65CB91DBAD44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394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416758" y="591581"/>
            <a:ext cx="6726160" cy="8786843"/>
          </a:xfrm>
        </p:spPr>
        <p:txBody>
          <a:bodyPr/>
          <a:lstStyle>
            <a:lvl1pPr marL="0" indent="0">
              <a:lnSpc>
                <a:spcPct val="80000"/>
              </a:lnSpc>
              <a:spcBef>
                <a:spcPts val="855"/>
              </a:spcBef>
              <a:spcAft>
                <a:spcPts val="855"/>
              </a:spcAft>
              <a:buFontTx/>
              <a:buNone/>
              <a:defRPr sz="1165" b="0" i="0">
                <a:latin typeface="+mj-lt"/>
              </a:defRPr>
            </a:lvl1pPr>
            <a:lvl2pPr marL="0" indent="0">
              <a:buFontTx/>
              <a:buNone/>
              <a:defRPr sz="975"/>
            </a:lvl2pPr>
            <a:lvl3pPr marL="0" indent="0">
              <a:buFontTx/>
              <a:buNone/>
              <a:defRPr sz="975"/>
            </a:lvl3pPr>
            <a:lvl4pPr marL="0" indent="0">
              <a:buFontTx/>
              <a:buNone/>
              <a:defRPr sz="975"/>
            </a:lvl4pPr>
            <a:lvl5pPr marL="0" indent="0">
              <a:buFontTx/>
              <a:buNone/>
              <a:defRPr sz="975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758" y="9810667"/>
            <a:ext cx="6726160" cy="31027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855"/>
              </a:spcBef>
              <a:spcAft>
                <a:spcPts val="855"/>
              </a:spcAft>
              <a:defRPr sz="78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430"/>
              </a:spcAft>
            </a:pPr>
            <a:r>
              <a:rPr lang="en-US"/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430"/>
              </a:spcAft>
            </a:pPr>
            <a:r>
              <a:rPr lang="en-US"/>
              <a:t>Slide footer goes here if required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416758" y="591581"/>
            <a:ext cx="6726160" cy="8786843"/>
          </a:xfrm>
        </p:spPr>
        <p:txBody>
          <a:bodyPr/>
          <a:lstStyle>
            <a:lvl1pPr marL="0" indent="0">
              <a:lnSpc>
                <a:spcPct val="80000"/>
              </a:lnSpc>
              <a:spcBef>
                <a:spcPts val="855"/>
              </a:spcBef>
              <a:spcAft>
                <a:spcPts val="855"/>
              </a:spcAft>
              <a:buFontTx/>
              <a:buNone/>
              <a:defRPr sz="1165" b="0" i="0">
                <a:latin typeface="+mj-lt"/>
              </a:defRPr>
            </a:lvl1pPr>
            <a:lvl2pPr marL="0" indent="0">
              <a:buFontTx/>
              <a:buNone/>
              <a:defRPr sz="975"/>
            </a:lvl2pPr>
            <a:lvl3pPr marL="0" indent="0">
              <a:buFontTx/>
              <a:buNone/>
              <a:defRPr sz="975"/>
            </a:lvl3pPr>
            <a:lvl4pPr marL="0" indent="0">
              <a:buFontTx/>
              <a:buNone/>
              <a:defRPr sz="975"/>
            </a:lvl4pPr>
            <a:lvl5pPr marL="0" indent="0">
              <a:buFontTx/>
              <a:buNone/>
              <a:defRPr sz="975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758" y="9810667"/>
            <a:ext cx="6726160" cy="31027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855"/>
              </a:spcBef>
              <a:spcAft>
                <a:spcPts val="855"/>
              </a:spcAft>
              <a:defRPr sz="78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430"/>
              </a:spcAft>
            </a:pPr>
            <a:r>
              <a:rPr lang="en-US"/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430"/>
              </a:spcAft>
            </a:pPr>
            <a:r>
              <a:rPr lang="en-US"/>
              <a:t>Slide footer goes here if required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416758" y="591581"/>
            <a:ext cx="6726160" cy="8786843"/>
          </a:xfrm>
        </p:spPr>
        <p:txBody>
          <a:bodyPr/>
          <a:lstStyle>
            <a:lvl1pPr marL="0" indent="0">
              <a:lnSpc>
                <a:spcPct val="80000"/>
              </a:lnSpc>
              <a:spcBef>
                <a:spcPts val="855"/>
              </a:spcBef>
              <a:spcAft>
                <a:spcPts val="855"/>
              </a:spcAft>
              <a:buFontTx/>
              <a:buNone/>
              <a:defRPr sz="1165" b="0" i="0">
                <a:latin typeface="+mj-lt"/>
              </a:defRPr>
            </a:lvl1pPr>
            <a:lvl2pPr marL="0" indent="0">
              <a:buFontTx/>
              <a:buNone/>
              <a:defRPr sz="975"/>
            </a:lvl2pPr>
            <a:lvl3pPr marL="0" indent="0">
              <a:buFontTx/>
              <a:buNone/>
              <a:defRPr sz="975"/>
            </a:lvl3pPr>
            <a:lvl4pPr marL="0" indent="0">
              <a:buFontTx/>
              <a:buNone/>
              <a:defRPr sz="975"/>
            </a:lvl4pPr>
            <a:lvl5pPr marL="0" indent="0">
              <a:buFontTx/>
              <a:buNone/>
              <a:defRPr sz="975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758" y="9810667"/>
            <a:ext cx="6726160" cy="31027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855"/>
              </a:spcBef>
              <a:spcAft>
                <a:spcPts val="855"/>
              </a:spcAft>
              <a:defRPr sz="78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430"/>
              </a:spcAft>
            </a:pPr>
            <a:r>
              <a:rPr lang="en-US"/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430"/>
              </a:spcAft>
            </a:pPr>
            <a:r>
              <a:rPr lang="en-US"/>
              <a:t>Slide footer goes here if required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416758" y="591583"/>
            <a:ext cx="6726160" cy="8786842"/>
          </a:xfrm>
        </p:spPr>
        <p:txBody>
          <a:bodyPr/>
          <a:lstStyle>
            <a:lvl1pPr marL="0" indent="0">
              <a:lnSpc>
                <a:spcPct val="80000"/>
              </a:lnSpc>
              <a:spcBef>
                <a:spcPts val="785"/>
              </a:spcBef>
              <a:spcAft>
                <a:spcPts val="785"/>
              </a:spcAft>
              <a:buFontTx/>
              <a:buNone/>
              <a:defRPr sz="1070" b="0" i="0">
                <a:latin typeface="+mj-lt"/>
              </a:defRPr>
            </a:lvl1pPr>
            <a:lvl2pPr marL="0" indent="0">
              <a:buFontTx/>
              <a:buNone/>
              <a:defRPr sz="890"/>
            </a:lvl2pPr>
            <a:lvl3pPr marL="0" indent="0">
              <a:buFontTx/>
              <a:buNone/>
              <a:defRPr sz="890"/>
            </a:lvl3pPr>
            <a:lvl4pPr marL="0" indent="0">
              <a:buFontTx/>
              <a:buNone/>
              <a:defRPr sz="890"/>
            </a:lvl4pPr>
            <a:lvl5pPr marL="0" indent="0">
              <a:buFontTx/>
              <a:buNone/>
              <a:defRPr sz="89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758" y="9833945"/>
            <a:ext cx="6726160" cy="28700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785"/>
              </a:spcBef>
              <a:spcAft>
                <a:spcPts val="785"/>
              </a:spcAft>
              <a:defRPr sz="71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90"/>
              </a:spcAft>
            </a:pPr>
            <a:r>
              <a:rPr lang="en-US"/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90"/>
              </a:spcAft>
            </a:pPr>
            <a:r>
              <a:rPr lang="en-US"/>
              <a:t>Slide footer goes here if required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D4DB07F-14F6-9036-03D9-790AEB924B4B}"/>
              </a:ext>
            </a:extLst>
          </p:cNvPr>
          <p:cNvGrpSpPr/>
          <p:nvPr userDrawn="1"/>
        </p:nvGrpSpPr>
        <p:grpSpPr>
          <a:xfrm>
            <a:off x="0" y="421136"/>
            <a:ext cx="230980" cy="266653"/>
            <a:chOff x="0" y="437078"/>
            <a:chExt cx="230980" cy="295156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1339F89D-4815-4872-78FC-0766EC2F7E94}"/>
                </a:ext>
              </a:extLst>
            </p:cNvPr>
            <p:cNvSpPr/>
            <p:nvPr userDrawn="1"/>
          </p:nvSpPr>
          <p:spPr>
            <a:xfrm>
              <a:off x="0" y="437078"/>
              <a:ext cx="152400" cy="2951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+mj-ea"/>
                <a:ea typeface="+mj-ea"/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B4020C66-0965-A55C-3983-DAC7A929079A}"/>
                </a:ext>
              </a:extLst>
            </p:cNvPr>
            <p:cNvSpPr/>
            <p:nvPr userDrawn="1"/>
          </p:nvSpPr>
          <p:spPr>
            <a:xfrm>
              <a:off x="180975" y="437078"/>
              <a:ext cx="50005" cy="295156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+mj-ea"/>
                <a:ea typeface="+mj-ea"/>
              </a:endParaRPr>
            </a:p>
          </p:txBody>
        </p:sp>
      </p:grp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A344E80D-5DE0-505A-070C-B5C653DFD3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6397" y="406077"/>
            <a:ext cx="6834505" cy="31604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548DC5E9-8A3D-E2E9-0B45-84064757C59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6715" y="10492125"/>
            <a:ext cx="6834187" cy="100412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172800" indent="-1728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600">
                <a:latin typeface="+mn-lt"/>
                <a:ea typeface="+mn-ea"/>
              </a:defRPr>
            </a:lvl1pPr>
            <a:lvl2pPr marL="0" indent="0">
              <a:buFont typeface="+mj-lt"/>
              <a:buNone/>
              <a:defRPr sz="800"/>
            </a:lvl2pPr>
            <a:lvl3pPr>
              <a:buFont typeface="+mj-lt"/>
              <a:buAutoNum type="arabicPeriod"/>
              <a:defRPr sz="800"/>
            </a:lvl3pPr>
            <a:lvl4pPr>
              <a:buFont typeface="+mj-lt"/>
              <a:buAutoNum type="arabicPeriod"/>
              <a:defRPr sz="800"/>
            </a:lvl4pPr>
            <a:lvl5pPr marL="228599" indent="-228599">
              <a:buFont typeface="+mj-lt"/>
              <a:buAutoNum type="arabicPeriod"/>
              <a:defRPr sz="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6480399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7">
          <p15:clr>
            <a:srgbClr val="FBAE40"/>
          </p15:clr>
        </p15:guide>
        <p15:guide id="2" pos="2381">
          <p15:clr>
            <a:srgbClr val="FBAE40"/>
          </p15:clr>
        </p15:guide>
        <p15:guide id="3" orient="horz" pos="465">
          <p15:clr>
            <a:srgbClr val="FBAE40"/>
          </p15:clr>
        </p15:guide>
        <p15:guide id="5" pos="226">
          <p15:clr>
            <a:srgbClr val="FBAE40"/>
          </p15:clr>
        </p15:guide>
        <p15:guide id="6" pos="4536">
          <p15:clr>
            <a:srgbClr val="FBAE40"/>
          </p15:clr>
        </p15:guide>
        <p15:guide id="11" orient="horz" pos="510">
          <p15:clr>
            <a:srgbClr val="FBAE40"/>
          </p15:clr>
        </p15:guide>
        <p15:guide id="13" orient="horz" pos="649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0578" y="419872"/>
            <a:ext cx="5983159" cy="526113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0553" y="2333070"/>
            <a:ext cx="3207407" cy="5261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0551" y="9403398"/>
            <a:ext cx="6785828" cy="31027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855"/>
              </a:spcBef>
              <a:spcAft>
                <a:spcPts val="855"/>
              </a:spcAft>
              <a:defRPr sz="78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430"/>
              </a:spcAft>
            </a:pPr>
            <a:r>
              <a:rPr lang="en-US"/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430"/>
              </a:spcAft>
            </a:pPr>
            <a:r>
              <a:rPr lang="en-US"/>
              <a:t>Slide footer goes here if required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76492" y="10300163"/>
            <a:ext cx="369886" cy="27974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ct val="110000"/>
              </a:lnSpc>
              <a:spcBef>
                <a:spcPts val="855"/>
              </a:spcBef>
              <a:spcAft>
                <a:spcPts val="855"/>
              </a:spcAft>
              <a:defRPr sz="975" b="0" i="0">
                <a:solidFill>
                  <a:schemeClr val="tx1"/>
                </a:solidFill>
                <a:latin typeface="+mn-lt"/>
              </a:defRPr>
            </a:lvl1pPr>
          </a:lstStyle>
          <a:p>
            <a:fld id="{AEC8D767-5246-2244-A4A3-B8AFB218393C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4" name="Graphic 5"/>
          <p:cNvSpPr>
            <a:spLocks noChangeAspect="1"/>
          </p:cNvSpPr>
          <p:nvPr userDrawn="1"/>
        </p:nvSpPr>
        <p:spPr>
          <a:xfrm>
            <a:off x="360551" y="10387789"/>
            <a:ext cx="1996158" cy="449147"/>
          </a:xfrm>
          <a:custGeom>
            <a:avLst/>
            <a:gdLst>
              <a:gd name="connsiteX0" fmla="*/ 515919 w 5217319"/>
              <a:gd name="connsiteY0" fmla="*/ 444383 h 1046042"/>
              <a:gd name="connsiteX1" fmla="*/ 436291 w 5217319"/>
              <a:gd name="connsiteY1" fmla="*/ 308665 h 1046042"/>
              <a:gd name="connsiteX2" fmla="*/ 515919 w 5217319"/>
              <a:gd name="connsiteY2" fmla="*/ 172948 h 1046042"/>
              <a:gd name="connsiteX3" fmla="*/ 595547 w 5217319"/>
              <a:gd name="connsiteY3" fmla="*/ 308665 h 1046042"/>
              <a:gd name="connsiteX4" fmla="*/ 515919 w 5217319"/>
              <a:gd name="connsiteY4" fmla="*/ 444383 h 1046042"/>
              <a:gd name="connsiteX5" fmla="*/ 515919 w 5217319"/>
              <a:gd name="connsiteY5" fmla="*/ 136478 h 1046042"/>
              <a:gd name="connsiteX6" fmla="*/ 354094 w 5217319"/>
              <a:gd name="connsiteY6" fmla="*/ 308665 h 1046042"/>
              <a:gd name="connsiteX7" fmla="*/ 515919 w 5217319"/>
              <a:gd name="connsiteY7" fmla="*/ 480853 h 1046042"/>
              <a:gd name="connsiteX8" fmla="*/ 677744 w 5217319"/>
              <a:gd name="connsiteY8" fmla="*/ 308665 h 1046042"/>
              <a:gd name="connsiteX9" fmla="*/ 515919 w 5217319"/>
              <a:gd name="connsiteY9" fmla="*/ 136478 h 1046042"/>
              <a:gd name="connsiteX10" fmla="*/ 1239519 w 5217319"/>
              <a:gd name="connsiteY10" fmla="*/ 136478 h 1046042"/>
              <a:gd name="connsiteX11" fmla="*/ 1147999 w 5217319"/>
              <a:gd name="connsiteY11" fmla="*/ 184819 h 1046042"/>
              <a:gd name="connsiteX12" fmla="*/ 1144003 w 5217319"/>
              <a:gd name="connsiteY12" fmla="*/ 184819 h 1046042"/>
              <a:gd name="connsiteX13" fmla="*/ 1144003 w 5217319"/>
              <a:gd name="connsiteY13" fmla="*/ 143126 h 1046042"/>
              <a:gd name="connsiteX14" fmla="*/ 1065707 w 5217319"/>
              <a:gd name="connsiteY14" fmla="*/ 143126 h 1046042"/>
              <a:gd name="connsiteX15" fmla="*/ 1065707 w 5217319"/>
              <a:gd name="connsiteY15" fmla="*/ 474205 h 1046042"/>
              <a:gd name="connsiteX16" fmla="*/ 1144003 w 5217319"/>
              <a:gd name="connsiteY16" fmla="*/ 474205 h 1046042"/>
              <a:gd name="connsiteX17" fmla="*/ 1144003 w 5217319"/>
              <a:gd name="connsiteY17" fmla="*/ 260229 h 1046042"/>
              <a:gd name="connsiteX18" fmla="*/ 1209646 w 5217319"/>
              <a:gd name="connsiteY18" fmla="*/ 182730 h 1046042"/>
              <a:gd name="connsiteX19" fmla="*/ 1266062 w 5217319"/>
              <a:gd name="connsiteY19" fmla="*/ 247597 h 1046042"/>
              <a:gd name="connsiteX20" fmla="*/ 1266062 w 5217319"/>
              <a:gd name="connsiteY20" fmla="*/ 474015 h 1046042"/>
              <a:gd name="connsiteX21" fmla="*/ 1344358 w 5217319"/>
              <a:gd name="connsiteY21" fmla="*/ 474015 h 1046042"/>
              <a:gd name="connsiteX22" fmla="*/ 1344358 w 5217319"/>
              <a:gd name="connsiteY22" fmla="*/ 247027 h 1046042"/>
              <a:gd name="connsiteX23" fmla="*/ 1239519 w 5217319"/>
              <a:gd name="connsiteY23" fmla="*/ 136478 h 1046042"/>
              <a:gd name="connsiteX24" fmla="*/ 1521976 w 5217319"/>
              <a:gd name="connsiteY24" fmla="*/ 136478 h 1046042"/>
              <a:gd name="connsiteX25" fmla="*/ 1395256 w 5217319"/>
              <a:gd name="connsiteY25" fmla="*/ 231831 h 1046042"/>
              <a:gd name="connsiteX26" fmla="*/ 1475550 w 5217319"/>
              <a:gd name="connsiteY26" fmla="*/ 327185 h 1046042"/>
              <a:gd name="connsiteX27" fmla="*/ 1541859 w 5217319"/>
              <a:gd name="connsiteY27" fmla="*/ 343711 h 1046042"/>
              <a:gd name="connsiteX28" fmla="*/ 1592947 w 5217319"/>
              <a:gd name="connsiteY28" fmla="*/ 392717 h 1046042"/>
              <a:gd name="connsiteX29" fmla="*/ 1527303 w 5217319"/>
              <a:gd name="connsiteY29" fmla="*/ 445713 h 1046042"/>
              <a:gd name="connsiteX30" fmla="*/ 1451671 w 5217319"/>
              <a:gd name="connsiteY30" fmla="*/ 368879 h 1046042"/>
              <a:gd name="connsiteX31" fmla="*/ 1381366 w 5217319"/>
              <a:gd name="connsiteY31" fmla="*/ 388728 h 1046042"/>
              <a:gd name="connsiteX32" fmla="*/ 1518646 w 5217319"/>
              <a:gd name="connsiteY32" fmla="*/ 480758 h 1046042"/>
              <a:gd name="connsiteX33" fmla="*/ 1656592 w 5217319"/>
              <a:gd name="connsiteY33" fmla="*/ 372868 h 1046042"/>
              <a:gd name="connsiteX34" fmla="*/ 1568402 w 5217319"/>
              <a:gd name="connsiteY34" fmla="*/ 273525 h 1046042"/>
              <a:gd name="connsiteX35" fmla="*/ 1504756 w 5217319"/>
              <a:gd name="connsiteY35" fmla="*/ 257664 h 1046042"/>
              <a:gd name="connsiteX36" fmla="*/ 1458996 w 5217319"/>
              <a:gd name="connsiteY36" fmla="*/ 213976 h 1046042"/>
              <a:gd name="connsiteX37" fmla="*/ 1515411 w 5217319"/>
              <a:gd name="connsiteY37" fmla="*/ 171618 h 1046042"/>
              <a:gd name="connsiteX38" fmla="*/ 1583053 w 5217319"/>
              <a:gd name="connsiteY38" fmla="*/ 235155 h 1046042"/>
              <a:gd name="connsiteX39" fmla="*/ 1649362 w 5217319"/>
              <a:gd name="connsiteY39" fmla="*/ 215306 h 1046042"/>
              <a:gd name="connsiteX40" fmla="*/ 1521976 w 5217319"/>
              <a:gd name="connsiteY40" fmla="*/ 136478 h 1046042"/>
              <a:gd name="connsiteX41" fmla="*/ 1850954 w 5217319"/>
              <a:gd name="connsiteY41" fmla="*/ 444383 h 1046042"/>
              <a:gd name="connsiteX42" fmla="*/ 1771326 w 5217319"/>
              <a:gd name="connsiteY42" fmla="*/ 308665 h 1046042"/>
              <a:gd name="connsiteX43" fmla="*/ 1850954 w 5217319"/>
              <a:gd name="connsiteY43" fmla="*/ 172948 h 1046042"/>
              <a:gd name="connsiteX44" fmla="*/ 1930582 w 5217319"/>
              <a:gd name="connsiteY44" fmla="*/ 308665 h 1046042"/>
              <a:gd name="connsiteX45" fmla="*/ 1850954 w 5217319"/>
              <a:gd name="connsiteY45" fmla="*/ 444383 h 1046042"/>
              <a:gd name="connsiteX46" fmla="*/ 1850954 w 5217319"/>
              <a:gd name="connsiteY46" fmla="*/ 136478 h 1046042"/>
              <a:gd name="connsiteX47" fmla="*/ 1689129 w 5217319"/>
              <a:gd name="connsiteY47" fmla="*/ 308665 h 1046042"/>
              <a:gd name="connsiteX48" fmla="*/ 1850954 w 5217319"/>
              <a:gd name="connsiteY48" fmla="*/ 480853 h 1046042"/>
              <a:gd name="connsiteX49" fmla="*/ 2012779 w 5217319"/>
              <a:gd name="connsiteY49" fmla="*/ 308665 h 1046042"/>
              <a:gd name="connsiteX50" fmla="*/ 1850954 w 5217319"/>
              <a:gd name="connsiteY50" fmla="*/ 136478 h 1046042"/>
              <a:gd name="connsiteX51" fmla="*/ 2232923 w 5217319"/>
              <a:gd name="connsiteY51" fmla="*/ 136478 h 1046042"/>
              <a:gd name="connsiteX52" fmla="*/ 2141402 w 5217319"/>
              <a:gd name="connsiteY52" fmla="*/ 184819 h 1046042"/>
              <a:gd name="connsiteX53" fmla="*/ 2137407 w 5217319"/>
              <a:gd name="connsiteY53" fmla="*/ 184819 h 1046042"/>
              <a:gd name="connsiteX54" fmla="*/ 2137407 w 5217319"/>
              <a:gd name="connsiteY54" fmla="*/ 143126 h 1046042"/>
              <a:gd name="connsiteX55" fmla="*/ 2059110 w 5217319"/>
              <a:gd name="connsiteY55" fmla="*/ 143126 h 1046042"/>
              <a:gd name="connsiteX56" fmla="*/ 2059110 w 5217319"/>
              <a:gd name="connsiteY56" fmla="*/ 474205 h 1046042"/>
              <a:gd name="connsiteX57" fmla="*/ 2137407 w 5217319"/>
              <a:gd name="connsiteY57" fmla="*/ 474205 h 1046042"/>
              <a:gd name="connsiteX58" fmla="*/ 2137407 w 5217319"/>
              <a:gd name="connsiteY58" fmla="*/ 260229 h 1046042"/>
              <a:gd name="connsiteX59" fmla="*/ 2203050 w 5217319"/>
              <a:gd name="connsiteY59" fmla="*/ 182730 h 1046042"/>
              <a:gd name="connsiteX60" fmla="*/ 2259465 w 5217319"/>
              <a:gd name="connsiteY60" fmla="*/ 247597 h 1046042"/>
              <a:gd name="connsiteX61" fmla="*/ 2259465 w 5217319"/>
              <a:gd name="connsiteY61" fmla="*/ 474015 h 1046042"/>
              <a:gd name="connsiteX62" fmla="*/ 2337762 w 5217319"/>
              <a:gd name="connsiteY62" fmla="*/ 474015 h 1046042"/>
              <a:gd name="connsiteX63" fmla="*/ 2337762 w 5217319"/>
              <a:gd name="connsiteY63" fmla="*/ 247027 h 1046042"/>
              <a:gd name="connsiteX64" fmla="*/ 2232923 w 5217319"/>
              <a:gd name="connsiteY64" fmla="*/ 136478 h 1046042"/>
              <a:gd name="connsiteX65" fmla="*/ 3395477 w 5217319"/>
              <a:gd name="connsiteY65" fmla="*/ 444383 h 1046042"/>
              <a:gd name="connsiteX66" fmla="*/ 3315849 w 5217319"/>
              <a:gd name="connsiteY66" fmla="*/ 308665 h 1046042"/>
              <a:gd name="connsiteX67" fmla="*/ 3395477 w 5217319"/>
              <a:gd name="connsiteY67" fmla="*/ 172948 h 1046042"/>
              <a:gd name="connsiteX68" fmla="*/ 3475105 w 5217319"/>
              <a:gd name="connsiteY68" fmla="*/ 308665 h 1046042"/>
              <a:gd name="connsiteX69" fmla="*/ 3395477 w 5217319"/>
              <a:gd name="connsiteY69" fmla="*/ 444383 h 1046042"/>
              <a:gd name="connsiteX70" fmla="*/ 3395477 w 5217319"/>
              <a:gd name="connsiteY70" fmla="*/ 136478 h 1046042"/>
              <a:gd name="connsiteX71" fmla="*/ 3233652 w 5217319"/>
              <a:gd name="connsiteY71" fmla="*/ 308665 h 1046042"/>
              <a:gd name="connsiteX72" fmla="*/ 3395477 w 5217319"/>
              <a:gd name="connsiteY72" fmla="*/ 480853 h 1046042"/>
              <a:gd name="connsiteX73" fmla="*/ 3557302 w 5217319"/>
              <a:gd name="connsiteY73" fmla="*/ 308665 h 1046042"/>
              <a:gd name="connsiteX74" fmla="*/ 3395477 w 5217319"/>
              <a:gd name="connsiteY74" fmla="*/ 136478 h 1046042"/>
              <a:gd name="connsiteX75" fmla="*/ 4118981 w 5217319"/>
              <a:gd name="connsiteY75" fmla="*/ 136478 h 1046042"/>
              <a:gd name="connsiteX76" fmla="*/ 4027461 w 5217319"/>
              <a:gd name="connsiteY76" fmla="*/ 184819 h 1046042"/>
              <a:gd name="connsiteX77" fmla="*/ 4023466 w 5217319"/>
              <a:gd name="connsiteY77" fmla="*/ 184819 h 1046042"/>
              <a:gd name="connsiteX78" fmla="*/ 4023466 w 5217319"/>
              <a:gd name="connsiteY78" fmla="*/ 143126 h 1046042"/>
              <a:gd name="connsiteX79" fmla="*/ 3945169 w 5217319"/>
              <a:gd name="connsiteY79" fmla="*/ 143126 h 1046042"/>
              <a:gd name="connsiteX80" fmla="*/ 3945169 w 5217319"/>
              <a:gd name="connsiteY80" fmla="*/ 474205 h 1046042"/>
              <a:gd name="connsiteX81" fmla="*/ 4023466 w 5217319"/>
              <a:gd name="connsiteY81" fmla="*/ 474205 h 1046042"/>
              <a:gd name="connsiteX82" fmla="*/ 4023466 w 5217319"/>
              <a:gd name="connsiteY82" fmla="*/ 260229 h 1046042"/>
              <a:gd name="connsiteX83" fmla="*/ 4089109 w 5217319"/>
              <a:gd name="connsiteY83" fmla="*/ 182730 h 1046042"/>
              <a:gd name="connsiteX84" fmla="*/ 4145524 w 5217319"/>
              <a:gd name="connsiteY84" fmla="*/ 247597 h 1046042"/>
              <a:gd name="connsiteX85" fmla="*/ 4145524 w 5217319"/>
              <a:gd name="connsiteY85" fmla="*/ 474015 h 1046042"/>
              <a:gd name="connsiteX86" fmla="*/ 4223821 w 5217319"/>
              <a:gd name="connsiteY86" fmla="*/ 474015 h 1046042"/>
              <a:gd name="connsiteX87" fmla="*/ 4223821 w 5217319"/>
              <a:gd name="connsiteY87" fmla="*/ 247027 h 1046042"/>
              <a:gd name="connsiteX88" fmla="*/ 4118981 w 5217319"/>
              <a:gd name="connsiteY88" fmla="*/ 136478 h 1046042"/>
              <a:gd name="connsiteX89" fmla="*/ 4401534 w 5217319"/>
              <a:gd name="connsiteY89" fmla="*/ 136478 h 1046042"/>
              <a:gd name="connsiteX90" fmla="*/ 4274813 w 5217319"/>
              <a:gd name="connsiteY90" fmla="*/ 231831 h 1046042"/>
              <a:gd name="connsiteX91" fmla="*/ 4355108 w 5217319"/>
              <a:gd name="connsiteY91" fmla="*/ 327185 h 1046042"/>
              <a:gd name="connsiteX92" fmla="*/ 4421417 w 5217319"/>
              <a:gd name="connsiteY92" fmla="*/ 343711 h 1046042"/>
              <a:gd name="connsiteX93" fmla="*/ 4472505 w 5217319"/>
              <a:gd name="connsiteY93" fmla="*/ 392717 h 1046042"/>
              <a:gd name="connsiteX94" fmla="*/ 4406861 w 5217319"/>
              <a:gd name="connsiteY94" fmla="*/ 445713 h 1046042"/>
              <a:gd name="connsiteX95" fmla="*/ 4331229 w 5217319"/>
              <a:gd name="connsiteY95" fmla="*/ 368879 h 1046042"/>
              <a:gd name="connsiteX96" fmla="*/ 4260924 w 5217319"/>
              <a:gd name="connsiteY96" fmla="*/ 388728 h 1046042"/>
              <a:gd name="connsiteX97" fmla="*/ 4398204 w 5217319"/>
              <a:gd name="connsiteY97" fmla="*/ 480758 h 1046042"/>
              <a:gd name="connsiteX98" fmla="*/ 4536150 w 5217319"/>
              <a:gd name="connsiteY98" fmla="*/ 372868 h 1046042"/>
              <a:gd name="connsiteX99" fmla="*/ 4447960 w 5217319"/>
              <a:gd name="connsiteY99" fmla="*/ 273525 h 1046042"/>
              <a:gd name="connsiteX100" fmla="*/ 4384314 w 5217319"/>
              <a:gd name="connsiteY100" fmla="*/ 257664 h 1046042"/>
              <a:gd name="connsiteX101" fmla="*/ 4338554 w 5217319"/>
              <a:gd name="connsiteY101" fmla="*/ 213976 h 1046042"/>
              <a:gd name="connsiteX102" fmla="*/ 4394969 w 5217319"/>
              <a:gd name="connsiteY102" fmla="*/ 171618 h 1046042"/>
              <a:gd name="connsiteX103" fmla="*/ 4462610 w 5217319"/>
              <a:gd name="connsiteY103" fmla="*/ 235155 h 1046042"/>
              <a:gd name="connsiteX104" fmla="*/ 4528920 w 5217319"/>
              <a:gd name="connsiteY104" fmla="*/ 215306 h 1046042"/>
              <a:gd name="connsiteX105" fmla="*/ 4401534 w 5217319"/>
              <a:gd name="connsiteY105" fmla="*/ 136478 h 1046042"/>
              <a:gd name="connsiteX106" fmla="*/ 4730417 w 5217319"/>
              <a:gd name="connsiteY106" fmla="*/ 444383 h 1046042"/>
              <a:gd name="connsiteX107" fmla="*/ 4650788 w 5217319"/>
              <a:gd name="connsiteY107" fmla="*/ 308665 h 1046042"/>
              <a:gd name="connsiteX108" fmla="*/ 4730417 w 5217319"/>
              <a:gd name="connsiteY108" fmla="*/ 172948 h 1046042"/>
              <a:gd name="connsiteX109" fmla="*/ 4810045 w 5217319"/>
              <a:gd name="connsiteY109" fmla="*/ 308665 h 1046042"/>
              <a:gd name="connsiteX110" fmla="*/ 4730417 w 5217319"/>
              <a:gd name="connsiteY110" fmla="*/ 444383 h 1046042"/>
              <a:gd name="connsiteX111" fmla="*/ 4730417 w 5217319"/>
              <a:gd name="connsiteY111" fmla="*/ 136478 h 1046042"/>
              <a:gd name="connsiteX112" fmla="*/ 4568591 w 5217319"/>
              <a:gd name="connsiteY112" fmla="*/ 308665 h 1046042"/>
              <a:gd name="connsiteX113" fmla="*/ 4730417 w 5217319"/>
              <a:gd name="connsiteY113" fmla="*/ 480853 h 1046042"/>
              <a:gd name="connsiteX114" fmla="*/ 4892242 w 5217319"/>
              <a:gd name="connsiteY114" fmla="*/ 308665 h 1046042"/>
              <a:gd name="connsiteX115" fmla="*/ 4730417 w 5217319"/>
              <a:gd name="connsiteY115" fmla="*/ 136478 h 1046042"/>
              <a:gd name="connsiteX116" fmla="*/ 5112481 w 5217319"/>
              <a:gd name="connsiteY116" fmla="*/ 136478 h 1046042"/>
              <a:gd name="connsiteX117" fmla="*/ 5020960 w 5217319"/>
              <a:gd name="connsiteY117" fmla="*/ 184819 h 1046042"/>
              <a:gd name="connsiteX118" fmla="*/ 5016964 w 5217319"/>
              <a:gd name="connsiteY118" fmla="*/ 184819 h 1046042"/>
              <a:gd name="connsiteX119" fmla="*/ 5016964 w 5217319"/>
              <a:gd name="connsiteY119" fmla="*/ 143126 h 1046042"/>
              <a:gd name="connsiteX120" fmla="*/ 4938668 w 5217319"/>
              <a:gd name="connsiteY120" fmla="*/ 143126 h 1046042"/>
              <a:gd name="connsiteX121" fmla="*/ 4938668 w 5217319"/>
              <a:gd name="connsiteY121" fmla="*/ 474205 h 1046042"/>
              <a:gd name="connsiteX122" fmla="*/ 5016964 w 5217319"/>
              <a:gd name="connsiteY122" fmla="*/ 474205 h 1046042"/>
              <a:gd name="connsiteX123" fmla="*/ 5016964 w 5217319"/>
              <a:gd name="connsiteY123" fmla="*/ 260229 h 1046042"/>
              <a:gd name="connsiteX124" fmla="*/ 5082608 w 5217319"/>
              <a:gd name="connsiteY124" fmla="*/ 182730 h 1046042"/>
              <a:gd name="connsiteX125" fmla="*/ 5139023 w 5217319"/>
              <a:gd name="connsiteY125" fmla="*/ 247597 h 1046042"/>
              <a:gd name="connsiteX126" fmla="*/ 5139023 w 5217319"/>
              <a:gd name="connsiteY126" fmla="*/ 474015 h 1046042"/>
              <a:gd name="connsiteX127" fmla="*/ 5217319 w 5217319"/>
              <a:gd name="connsiteY127" fmla="*/ 474015 h 1046042"/>
              <a:gd name="connsiteX128" fmla="*/ 5217319 w 5217319"/>
              <a:gd name="connsiteY128" fmla="*/ 247027 h 1046042"/>
              <a:gd name="connsiteX129" fmla="*/ 5112481 w 5217319"/>
              <a:gd name="connsiteY129" fmla="*/ 136478 h 1046042"/>
              <a:gd name="connsiteX130" fmla="*/ 307763 w 5217319"/>
              <a:gd name="connsiteY130" fmla="*/ 10637 h 1046042"/>
              <a:gd name="connsiteX131" fmla="*/ 225471 w 5217319"/>
              <a:gd name="connsiteY131" fmla="*/ 10637 h 1046042"/>
              <a:gd name="connsiteX132" fmla="*/ 225471 w 5217319"/>
              <a:gd name="connsiteY132" fmla="*/ 353018 h 1046042"/>
              <a:gd name="connsiteX133" fmla="*/ 153834 w 5217319"/>
              <a:gd name="connsiteY133" fmla="*/ 441724 h 1046042"/>
              <a:gd name="connsiteX134" fmla="*/ 82197 w 5217319"/>
              <a:gd name="connsiteY134" fmla="*/ 346370 h 1046042"/>
              <a:gd name="connsiteX135" fmla="*/ 82197 w 5217319"/>
              <a:gd name="connsiteY135" fmla="*/ 282832 h 1046042"/>
              <a:gd name="connsiteX136" fmla="*/ 0 w 5217319"/>
              <a:gd name="connsiteY136" fmla="*/ 303347 h 1046042"/>
              <a:gd name="connsiteX137" fmla="*/ 0 w 5217319"/>
              <a:gd name="connsiteY137" fmla="*/ 331839 h 1046042"/>
              <a:gd name="connsiteX138" fmla="*/ 153929 w 5217319"/>
              <a:gd name="connsiteY138" fmla="*/ 484842 h 1046042"/>
              <a:gd name="connsiteX139" fmla="*/ 307763 w 5217319"/>
              <a:gd name="connsiteY139" fmla="*/ 331839 h 1046042"/>
              <a:gd name="connsiteX140" fmla="*/ 307763 w 5217319"/>
              <a:gd name="connsiteY140" fmla="*/ 10637 h 1046042"/>
              <a:gd name="connsiteX141" fmla="*/ 802467 w 5217319"/>
              <a:gd name="connsiteY141" fmla="*/ 10637 h 1046042"/>
              <a:gd name="connsiteX142" fmla="*/ 724171 w 5217319"/>
              <a:gd name="connsiteY142" fmla="*/ 10637 h 1046042"/>
              <a:gd name="connsiteX143" fmla="*/ 724171 w 5217319"/>
              <a:gd name="connsiteY143" fmla="*/ 474110 h 1046042"/>
              <a:gd name="connsiteX144" fmla="*/ 802467 w 5217319"/>
              <a:gd name="connsiteY144" fmla="*/ 474110 h 1046042"/>
              <a:gd name="connsiteX145" fmla="*/ 802467 w 5217319"/>
              <a:gd name="connsiteY145" fmla="*/ 260229 h 1046042"/>
              <a:gd name="connsiteX146" fmla="*/ 868110 w 5217319"/>
              <a:gd name="connsiteY146" fmla="*/ 182730 h 1046042"/>
              <a:gd name="connsiteX147" fmla="*/ 924526 w 5217319"/>
              <a:gd name="connsiteY147" fmla="*/ 247597 h 1046042"/>
              <a:gd name="connsiteX148" fmla="*/ 924526 w 5217319"/>
              <a:gd name="connsiteY148" fmla="*/ 474015 h 1046042"/>
              <a:gd name="connsiteX149" fmla="*/ 1002822 w 5217319"/>
              <a:gd name="connsiteY149" fmla="*/ 474015 h 1046042"/>
              <a:gd name="connsiteX150" fmla="*/ 1002822 w 5217319"/>
              <a:gd name="connsiteY150" fmla="*/ 247027 h 1046042"/>
              <a:gd name="connsiteX151" fmla="*/ 897983 w 5217319"/>
              <a:gd name="connsiteY151" fmla="*/ 136478 h 1046042"/>
              <a:gd name="connsiteX152" fmla="*/ 806463 w 5217319"/>
              <a:gd name="connsiteY152" fmla="*/ 184819 h 1046042"/>
              <a:gd name="connsiteX153" fmla="*/ 802467 w 5217319"/>
              <a:gd name="connsiteY153" fmla="*/ 184819 h 1046042"/>
              <a:gd name="connsiteX154" fmla="*/ 802467 w 5217319"/>
              <a:gd name="connsiteY154" fmla="*/ 10637 h 1046042"/>
              <a:gd name="connsiteX155" fmla="*/ 3187225 w 5217319"/>
              <a:gd name="connsiteY155" fmla="*/ 10637 h 1046042"/>
              <a:gd name="connsiteX156" fmla="*/ 3105029 w 5217319"/>
              <a:gd name="connsiteY156" fmla="*/ 10637 h 1046042"/>
              <a:gd name="connsiteX157" fmla="*/ 3105029 w 5217319"/>
              <a:gd name="connsiteY157" fmla="*/ 353018 h 1046042"/>
              <a:gd name="connsiteX158" fmla="*/ 3033392 w 5217319"/>
              <a:gd name="connsiteY158" fmla="*/ 441724 h 1046042"/>
              <a:gd name="connsiteX159" fmla="*/ 2961755 w 5217319"/>
              <a:gd name="connsiteY159" fmla="*/ 346370 h 1046042"/>
              <a:gd name="connsiteX160" fmla="*/ 2961755 w 5217319"/>
              <a:gd name="connsiteY160" fmla="*/ 282832 h 1046042"/>
              <a:gd name="connsiteX161" fmla="*/ 2879558 w 5217319"/>
              <a:gd name="connsiteY161" fmla="*/ 303347 h 1046042"/>
              <a:gd name="connsiteX162" fmla="*/ 2879558 w 5217319"/>
              <a:gd name="connsiteY162" fmla="*/ 331839 h 1046042"/>
              <a:gd name="connsiteX163" fmla="*/ 3033487 w 5217319"/>
              <a:gd name="connsiteY163" fmla="*/ 484842 h 1046042"/>
              <a:gd name="connsiteX164" fmla="*/ 3187321 w 5217319"/>
              <a:gd name="connsiteY164" fmla="*/ 331839 h 1046042"/>
              <a:gd name="connsiteX165" fmla="*/ 3187321 w 5217319"/>
              <a:gd name="connsiteY165" fmla="*/ 10637 h 1046042"/>
              <a:gd name="connsiteX166" fmla="*/ 3681929 w 5217319"/>
              <a:gd name="connsiteY166" fmla="*/ 10637 h 1046042"/>
              <a:gd name="connsiteX167" fmla="*/ 3603633 w 5217319"/>
              <a:gd name="connsiteY167" fmla="*/ 10637 h 1046042"/>
              <a:gd name="connsiteX168" fmla="*/ 3603633 w 5217319"/>
              <a:gd name="connsiteY168" fmla="*/ 474110 h 1046042"/>
              <a:gd name="connsiteX169" fmla="*/ 3681929 w 5217319"/>
              <a:gd name="connsiteY169" fmla="*/ 474110 h 1046042"/>
              <a:gd name="connsiteX170" fmla="*/ 3681929 w 5217319"/>
              <a:gd name="connsiteY170" fmla="*/ 260229 h 1046042"/>
              <a:gd name="connsiteX171" fmla="*/ 3747573 w 5217319"/>
              <a:gd name="connsiteY171" fmla="*/ 182730 h 1046042"/>
              <a:gd name="connsiteX172" fmla="*/ 3803988 w 5217319"/>
              <a:gd name="connsiteY172" fmla="*/ 247597 h 1046042"/>
              <a:gd name="connsiteX173" fmla="*/ 3803988 w 5217319"/>
              <a:gd name="connsiteY173" fmla="*/ 474015 h 1046042"/>
              <a:gd name="connsiteX174" fmla="*/ 3882285 w 5217319"/>
              <a:gd name="connsiteY174" fmla="*/ 474015 h 1046042"/>
              <a:gd name="connsiteX175" fmla="*/ 3882285 w 5217319"/>
              <a:gd name="connsiteY175" fmla="*/ 247027 h 1046042"/>
              <a:gd name="connsiteX176" fmla="*/ 3777445 w 5217319"/>
              <a:gd name="connsiteY176" fmla="*/ 136478 h 1046042"/>
              <a:gd name="connsiteX177" fmla="*/ 3685925 w 5217319"/>
              <a:gd name="connsiteY177" fmla="*/ 184819 h 1046042"/>
              <a:gd name="connsiteX178" fmla="*/ 3681929 w 5217319"/>
              <a:gd name="connsiteY178" fmla="*/ 184819 h 1046042"/>
              <a:gd name="connsiteX179" fmla="*/ 3681929 w 5217319"/>
              <a:gd name="connsiteY179" fmla="*/ 10637 h 1046042"/>
              <a:gd name="connsiteX180" fmla="*/ 2595674 w 5217319"/>
              <a:gd name="connsiteY180" fmla="*/ 436405 h 1046042"/>
              <a:gd name="connsiteX181" fmla="*/ 2492832 w 5217319"/>
              <a:gd name="connsiteY181" fmla="*/ 329749 h 1046042"/>
              <a:gd name="connsiteX182" fmla="*/ 2533265 w 5217319"/>
              <a:gd name="connsiteY182" fmla="*/ 245698 h 1046042"/>
              <a:gd name="connsiteX183" fmla="*/ 2683198 w 5217319"/>
              <a:gd name="connsiteY183" fmla="*/ 409243 h 1046042"/>
              <a:gd name="connsiteX184" fmla="*/ 2595674 w 5217319"/>
              <a:gd name="connsiteY184" fmla="*/ 436405 h 1046042"/>
              <a:gd name="connsiteX185" fmla="*/ 2741611 w 5217319"/>
              <a:gd name="connsiteY185" fmla="*/ 354918 h 1046042"/>
              <a:gd name="connsiteX186" fmla="*/ 2611656 w 5217319"/>
              <a:gd name="connsiteY186" fmla="*/ 211887 h 1046042"/>
              <a:gd name="connsiteX187" fmla="*/ 2675968 w 5217319"/>
              <a:gd name="connsiteY187" fmla="*/ 199255 h 1046042"/>
              <a:gd name="connsiteX188" fmla="*/ 2762827 w 5217319"/>
              <a:gd name="connsiteY188" fmla="*/ 283972 h 1046042"/>
              <a:gd name="connsiteX189" fmla="*/ 2741611 w 5217319"/>
              <a:gd name="connsiteY189" fmla="*/ 354918 h 1046042"/>
              <a:gd name="connsiteX190" fmla="*/ 2593676 w 5217319"/>
              <a:gd name="connsiteY190" fmla="*/ 192702 h 1046042"/>
              <a:gd name="connsiteX191" fmla="*/ 2565135 w 5217319"/>
              <a:gd name="connsiteY191" fmla="*/ 160886 h 1046042"/>
              <a:gd name="connsiteX192" fmla="*/ 2532599 w 5217319"/>
              <a:gd name="connsiteY192" fmla="*/ 95354 h 1046042"/>
              <a:gd name="connsiteX193" fmla="*/ 2595579 w 5217319"/>
              <a:gd name="connsiteY193" fmla="*/ 35140 h 1046042"/>
              <a:gd name="connsiteX194" fmla="*/ 2657892 w 5217319"/>
              <a:gd name="connsiteY194" fmla="*/ 98678 h 1046042"/>
              <a:gd name="connsiteX195" fmla="*/ 2593676 w 5217319"/>
              <a:gd name="connsiteY195" fmla="*/ 192702 h 1046042"/>
              <a:gd name="connsiteX196" fmla="*/ 2597672 w 5217319"/>
              <a:gd name="connsiteY196" fmla="*/ 0 h 1046042"/>
              <a:gd name="connsiteX197" fmla="*/ 2461057 w 5217319"/>
              <a:gd name="connsiteY197" fmla="*/ 114539 h 1046042"/>
              <a:gd name="connsiteX198" fmla="*/ 2514143 w 5217319"/>
              <a:gd name="connsiteY198" fmla="*/ 225088 h 1046042"/>
              <a:gd name="connsiteX199" fmla="*/ 2514809 w 5217319"/>
              <a:gd name="connsiteY199" fmla="*/ 226418 h 1046042"/>
              <a:gd name="connsiteX200" fmla="*/ 2419959 w 5217319"/>
              <a:gd name="connsiteY200" fmla="*/ 359476 h 1046042"/>
              <a:gd name="connsiteX201" fmla="*/ 2553243 w 5217319"/>
              <a:gd name="connsiteY201" fmla="*/ 484652 h 1046042"/>
              <a:gd name="connsiteX202" fmla="*/ 2703177 w 5217319"/>
              <a:gd name="connsiteY202" fmla="*/ 430992 h 1046042"/>
              <a:gd name="connsiteX203" fmla="*/ 2742943 w 5217319"/>
              <a:gd name="connsiteY203" fmla="*/ 474015 h 1046042"/>
              <a:gd name="connsiteX204" fmla="*/ 2847117 w 5217319"/>
              <a:gd name="connsiteY204" fmla="*/ 474015 h 1046042"/>
              <a:gd name="connsiteX205" fmla="*/ 2847117 w 5217319"/>
              <a:gd name="connsiteY205" fmla="*/ 470691 h 1046042"/>
              <a:gd name="connsiteX206" fmla="*/ 2762256 w 5217319"/>
              <a:gd name="connsiteY206" fmla="*/ 377331 h 1046042"/>
              <a:gd name="connsiteX207" fmla="*/ 2818671 w 5217319"/>
              <a:gd name="connsiteY207" fmla="*/ 248167 h 1046042"/>
              <a:gd name="connsiteX208" fmla="*/ 2731812 w 5217319"/>
              <a:gd name="connsiteY208" fmla="*/ 164115 h 1046042"/>
              <a:gd name="connsiteX209" fmla="*/ 2652184 w 5217319"/>
              <a:gd name="connsiteY209" fmla="*/ 179976 h 1046042"/>
              <a:gd name="connsiteX210" fmla="*/ 2650852 w 5217319"/>
              <a:gd name="connsiteY210" fmla="*/ 177316 h 1046042"/>
              <a:gd name="connsiteX211" fmla="*/ 2722489 w 5217319"/>
              <a:gd name="connsiteY211" fmla="*/ 89940 h 1046042"/>
              <a:gd name="connsiteX212" fmla="*/ 2597672 w 5217319"/>
              <a:gd name="connsiteY212" fmla="*/ 0 h 1046042"/>
              <a:gd name="connsiteX213" fmla="*/ 612767 w 5217319"/>
              <a:gd name="connsiteY213" fmla="*/ 838050 h 1046042"/>
              <a:gd name="connsiteX214" fmla="*/ 702289 w 5217319"/>
              <a:gd name="connsiteY214" fmla="*/ 746685 h 1046042"/>
              <a:gd name="connsiteX215" fmla="*/ 782584 w 5217319"/>
              <a:gd name="connsiteY215" fmla="*/ 838050 h 1046042"/>
              <a:gd name="connsiteX216" fmla="*/ 612767 w 5217319"/>
              <a:gd name="connsiteY216" fmla="*/ 838050 h 1046042"/>
              <a:gd name="connsiteX217" fmla="*/ 702289 w 5217319"/>
              <a:gd name="connsiteY217" fmla="*/ 701667 h 1046042"/>
              <a:gd name="connsiteX218" fmla="*/ 553688 w 5217319"/>
              <a:gd name="connsiteY218" fmla="*/ 876514 h 1046042"/>
              <a:gd name="connsiteX219" fmla="*/ 702289 w 5217319"/>
              <a:gd name="connsiteY219" fmla="*/ 1046043 h 1046042"/>
              <a:gd name="connsiteX220" fmla="*/ 837572 w 5217319"/>
              <a:gd name="connsiteY220" fmla="*/ 938152 h 1046042"/>
              <a:gd name="connsiteX221" fmla="*/ 787150 w 5217319"/>
              <a:gd name="connsiteY221" fmla="*/ 924951 h 1046042"/>
              <a:gd name="connsiteX222" fmla="*/ 707522 w 5217319"/>
              <a:gd name="connsiteY222" fmla="*/ 999790 h 1046042"/>
              <a:gd name="connsiteX223" fmla="*/ 610674 w 5217319"/>
              <a:gd name="connsiteY223" fmla="*/ 877274 h 1046042"/>
              <a:gd name="connsiteX224" fmla="*/ 838143 w 5217319"/>
              <a:gd name="connsiteY224" fmla="*/ 877274 h 1046042"/>
              <a:gd name="connsiteX225" fmla="*/ 838143 w 5217319"/>
              <a:gd name="connsiteY225" fmla="*/ 858754 h 1046042"/>
              <a:gd name="connsiteX226" fmla="*/ 702289 w 5217319"/>
              <a:gd name="connsiteY226" fmla="*/ 701667 h 1046042"/>
              <a:gd name="connsiteX227" fmla="*/ 1610832 w 5217319"/>
              <a:gd name="connsiteY227" fmla="*/ 838050 h 1046042"/>
              <a:gd name="connsiteX228" fmla="*/ 1700355 w 5217319"/>
              <a:gd name="connsiteY228" fmla="*/ 746685 h 1046042"/>
              <a:gd name="connsiteX229" fmla="*/ 1780649 w 5217319"/>
              <a:gd name="connsiteY229" fmla="*/ 838050 h 1046042"/>
              <a:gd name="connsiteX230" fmla="*/ 1610832 w 5217319"/>
              <a:gd name="connsiteY230" fmla="*/ 838050 h 1046042"/>
              <a:gd name="connsiteX231" fmla="*/ 1700355 w 5217319"/>
              <a:gd name="connsiteY231" fmla="*/ 701667 h 1046042"/>
              <a:gd name="connsiteX232" fmla="*/ 1551753 w 5217319"/>
              <a:gd name="connsiteY232" fmla="*/ 876514 h 1046042"/>
              <a:gd name="connsiteX233" fmla="*/ 1700355 w 5217319"/>
              <a:gd name="connsiteY233" fmla="*/ 1046043 h 1046042"/>
              <a:gd name="connsiteX234" fmla="*/ 1835637 w 5217319"/>
              <a:gd name="connsiteY234" fmla="*/ 938152 h 1046042"/>
              <a:gd name="connsiteX235" fmla="*/ 1785215 w 5217319"/>
              <a:gd name="connsiteY235" fmla="*/ 924951 h 1046042"/>
              <a:gd name="connsiteX236" fmla="*/ 1705587 w 5217319"/>
              <a:gd name="connsiteY236" fmla="*/ 999790 h 1046042"/>
              <a:gd name="connsiteX237" fmla="*/ 1608739 w 5217319"/>
              <a:gd name="connsiteY237" fmla="*/ 877274 h 1046042"/>
              <a:gd name="connsiteX238" fmla="*/ 1836208 w 5217319"/>
              <a:gd name="connsiteY238" fmla="*/ 877274 h 1046042"/>
              <a:gd name="connsiteX239" fmla="*/ 1836208 w 5217319"/>
              <a:gd name="connsiteY239" fmla="*/ 858754 h 1046042"/>
              <a:gd name="connsiteX240" fmla="*/ 1700355 w 5217319"/>
              <a:gd name="connsiteY240" fmla="*/ 701667 h 1046042"/>
              <a:gd name="connsiteX241" fmla="*/ 2044555 w 5217319"/>
              <a:gd name="connsiteY241" fmla="*/ 701667 h 1046042"/>
              <a:gd name="connsiteX242" fmla="*/ 1891957 w 5217319"/>
              <a:gd name="connsiteY242" fmla="*/ 877179 h 1046042"/>
              <a:gd name="connsiteX243" fmla="*/ 2041891 w 5217319"/>
              <a:gd name="connsiteY243" fmla="*/ 1046043 h 1046042"/>
              <a:gd name="connsiteX244" fmla="*/ 2177839 w 5217319"/>
              <a:gd name="connsiteY244" fmla="*/ 928180 h 1046042"/>
              <a:gd name="connsiteX245" fmla="*/ 2125420 w 5217319"/>
              <a:gd name="connsiteY245" fmla="*/ 915549 h 1046042"/>
              <a:gd name="connsiteX246" fmla="*/ 2045791 w 5217319"/>
              <a:gd name="connsiteY246" fmla="*/ 998936 h 1046042"/>
              <a:gd name="connsiteX247" fmla="*/ 1949609 w 5217319"/>
              <a:gd name="connsiteY247" fmla="*/ 873095 h 1046042"/>
              <a:gd name="connsiteX248" fmla="*/ 2043127 w 5217319"/>
              <a:gd name="connsiteY248" fmla="*/ 748584 h 1046042"/>
              <a:gd name="connsiteX249" fmla="*/ 2125420 w 5217319"/>
              <a:gd name="connsiteY249" fmla="*/ 828078 h 1046042"/>
              <a:gd name="connsiteX250" fmla="*/ 2177839 w 5217319"/>
              <a:gd name="connsiteY250" fmla="*/ 815446 h 1046042"/>
              <a:gd name="connsiteX251" fmla="*/ 2044555 w 5217319"/>
              <a:gd name="connsiteY251" fmla="*/ 701667 h 1046042"/>
              <a:gd name="connsiteX252" fmla="*/ 477580 w 5217319"/>
              <a:gd name="connsiteY252" fmla="*/ 575827 h 1046042"/>
              <a:gd name="connsiteX253" fmla="*/ 390055 w 5217319"/>
              <a:gd name="connsiteY253" fmla="*/ 575827 h 1046042"/>
              <a:gd name="connsiteX254" fmla="*/ 252775 w 5217319"/>
              <a:gd name="connsiteY254" fmla="*/ 949264 h 1046042"/>
              <a:gd name="connsiteX255" fmla="*/ 114828 w 5217319"/>
              <a:gd name="connsiteY255" fmla="*/ 575827 h 1046042"/>
              <a:gd name="connsiteX256" fmla="*/ 23213 w 5217319"/>
              <a:gd name="connsiteY256" fmla="*/ 575827 h 1046042"/>
              <a:gd name="connsiteX257" fmla="*/ 23213 w 5217319"/>
              <a:gd name="connsiteY257" fmla="*/ 1039300 h 1046042"/>
              <a:gd name="connsiteX258" fmla="*/ 80865 w 5217319"/>
              <a:gd name="connsiteY258" fmla="*/ 1039300 h 1046042"/>
              <a:gd name="connsiteX259" fmla="*/ 80865 w 5217319"/>
              <a:gd name="connsiteY259" fmla="*/ 640124 h 1046042"/>
              <a:gd name="connsiteX260" fmla="*/ 228801 w 5217319"/>
              <a:gd name="connsiteY260" fmla="*/ 1039395 h 1046042"/>
              <a:gd name="connsiteX261" fmla="*/ 273229 w 5217319"/>
              <a:gd name="connsiteY261" fmla="*/ 1039395 h 1046042"/>
              <a:gd name="connsiteX262" fmla="*/ 419832 w 5217319"/>
              <a:gd name="connsiteY262" fmla="*/ 639459 h 1046042"/>
              <a:gd name="connsiteX263" fmla="*/ 419832 w 5217319"/>
              <a:gd name="connsiteY263" fmla="*/ 1039395 h 1046042"/>
              <a:gd name="connsiteX264" fmla="*/ 477580 w 5217319"/>
              <a:gd name="connsiteY264" fmla="*/ 1039395 h 1046042"/>
              <a:gd name="connsiteX265" fmla="*/ 477580 w 5217319"/>
              <a:gd name="connsiteY265" fmla="*/ 575827 h 1046042"/>
              <a:gd name="connsiteX266" fmla="*/ 1042494 w 5217319"/>
              <a:gd name="connsiteY266" fmla="*/ 999031 h 1046042"/>
              <a:gd name="connsiteX267" fmla="*/ 951639 w 5217319"/>
              <a:gd name="connsiteY267" fmla="*/ 873855 h 1046042"/>
              <a:gd name="connsiteX268" fmla="*/ 1042494 w 5217319"/>
              <a:gd name="connsiteY268" fmla="*/ 748679 h 1046042"/>
              <a:gd name="connsiteX269" fmla="*/ 1133348 w 5217319"/>
              <a:gd name="connsiteY269" fmla="*/ 873855 h 1046042"/>
              <a:gd name="connsiteX270" fmla="*/ 1042494 w 5217319"/>
              <a:gd name="connsiteY270" fmla="*/ 999031 h 1046042"/>
              <a:gd name="connsiteX271" fmla="*/ 1187099 w 5217319"/>
              <a:gd name="connsiteY271" fmla="*/ 575827 h 1046042"/>
              <a:gd name="connsiteX272" fmla="*/ 1132111 w 5217319"/>
              <a:gd name="connsiteY272" fmla="*/ 575827 h 1046042"/>
              <a:gd name="connsiteX273" fmla="*/ 1132111 w 5217319"/>
              <a:gd name="connsiteY273" fmla="*/ 771853 h 1046042"/>
              <a:gd name="connsiteX274" fmla="*/ 1033265 w 5217319"/>
              <a:gd name="connsiteY274" fmla="*/ 701667 h 1046042"/>
              <a:gd name="connsiteX275" fmla="*/ 893987 w 5217319"/>
              <a:gd name="connsiteY275" fmla="*/ 875849 h 1046042"/>
              <a:gd name="connsiteX276" fmla="*/ 1028604 w 5217319"/>
              <a:gd name="connsiteY276" fmla="*/ 1046043 h 1046042"/>
              <a:gd name="connsiteX277" fmla="*/ 1132111 w 5217319"/>
              <a:gd name="connsiteY277" fmla="*/ 972533 h 1046042"/>
              <a:gd name="connsiteX278" fmla="*/ 1132111 w 5217319"/>
              <a:gd name="connsiteY278" fmla="*/ 997701 h 1046042"/>
              <a:gd name="connsiteX279" fmla="*/ 1135441 w 5217319"/>
              <a:gd name="connsiteY279" fmla="*/ 1039395 h 1046042"/>
              <a:gd name="connsiteX280" fmla="*/ 1191190 w 5217319"/>
              <a:gd name="connsiteY280" fmla="*/ 1039395 h 1046042"/>
              <a:gd name="connsiteX281" fmla="*/ 1187194 w 5217319"/>
              <a:gd name="connsiteY281" fmla="*/ 970538 h 1046042"/>
              <a:gd name="connsiteX282" fmla="*/ 1187194 w 5217319"/>
              <a:gd name="connsiteY282" fmla="*/ 575827 h 1046042"/>
              <a:gd name="connsiteX283" fmla="*/ 1604934 w 5217319"/>
              <a:gd name="connsiteY283" fmla="*/ 575827 h 1046042"/>
              <a:gd name="connsiteX284" fmla="*/ 1246749 w 5217319"/>
              <a:gd name="connsiteY284" fmla="*/ 575827 h 1046042"/>
              <a:gd name="connsiteX285" fmla="*/ 1246749 w 5217319"/>
              <a:gd name="connsiteY285" fmla="*/ 624169 h 1046042"/>
              <a:gd name="connsiteX286" fmla="*/ 1397349 w 5217319"/>
              <a:gd name="connsiteY286" fmla="*/ 624169 h 1046042"/>
              <a:gd name="connsiteX287" fmla="*/ 1397349 w 5217319"/>
              <a:gd name="connsiteY287" fmla="*/ 1039395 h 1046042"/>
              <a:gd name="connsiteX288" fmla="*/ 1455096 w 5217319"/>
              <a:gd name="connsiteY288" fmla="*/ 1039395 h 1046042"/>
              <a:gd name="connsiteX289" fmla="*/ 1455096 w 5217319"/>
              <a:gd name="connsiteY289" fmla="*/ 624169 h 1046042"/>
              <a:gd name="connsiteX290" fmla="*/ 1605029 w 5217319"/>
              <a:gd name="connsiteY290" fmla="*/ 624169 h 1046042"/>
              <a:gd name="connsiteX291" fmla="*/ 1605029 w 5217319"/>
              <a:gd name="connsiteY291" fmla="*/ 575827 h 1046042"/>
              <a:gd name="connsiteX292" fmla="*/ 2295902 w 5217319"/>
              <a:gd name="connsiteY292" fmla="*/ 575827 h 1046042"/>
              <a:gd name="connsiteX293" fmla="*/ 2240819 w 5217319"/>
              <a:gd name="connsiteY293" fmla="*/ 575827 h 1046042"/>
              <a:gd name="connsiteX294" fmla="*/ 2240819 w 5217319"/>
              <a:gd name="connsiteY294" fmla="*/ 1039300 h 1046042"/>
              <a:gd name="connsiteX295" fmla="*/ 2295902 w 5217319"/>
              <a:gd name="connsiteY295" fmla="*/ 1039300 h 1046042"/>
              <a:gd name="connsiteX296" fmla="*/ 2295902 w 5217319"/>
              <a:gd name="connsiteY296" fmla="*/ 821524 h 1046042"/>
              <a:gd name="connsiteX297" fmla="*/ 2368205 w 5217319"/>
              <a:gd name="connsiteY297" fmla="*/ 744026 h 1046042"/>
              <a:gd name="connsiteX298" fmla="*/ 2439842 w 5217319"/>
              <a:gd name="connsiteY298" fmla="*/ 821524 h 1046042"/>
              <a:gd name="connsiteX299" fmla="*/ 2439842 w 5217319"/>
              <a:gd name="connsiteY299" fmla="*/ 1039395 h 1046042"/>
              <a:gd name="connsiteX300" fmla="*/ 2494925 w 5217319"/>
              <a:gd name="connsiteY300" fmla="*/ 1039395 h 1046042"/>
              <a:gd name="connsiteX301" fmla="*/ 2494925 w 5217319"/>
              <a:gd name="connsiteY301" fmla="*/ 810317 h 1046042"/>
              <a:gd name="connsiteX302" fmla="*/ 2388088 w 5217319"/>
              <a:gd name="connsiteY302" fmla="*/ 701762 h 1046042"/>
              <a:gd name="connsiteX303" fmla="*/ 2295902 w 5217319"/>
              <a:gd name="connsiteY303" fmla="*/ 759411 h 1046042"/>
              <a:gd name="connsiteX304" fmla="*/ 2295902 w 5217319"/>
              <a:gd name="connsiteY304" fmla="*/ 575827 h 1046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</a:cxnLst>
            <a:rect l="l" t="t" r="r" b="b"/>
            <a:pathLst>
              <a:path w="5217319" h="1046042">
                <a:moveTo>
                  <a:pt x="515919" y="444383"/>
                </a:moveTo>
                <a:cubicBezTo>
                  <a:pt x="464831" y="444383"/>
                  <a:pt x="436291" y="396041"/>
                  <a:pt x="436291" y="308665"/>
                </a:cubicBezTo>
                <a:cubicBezTo>
                  <a:pt x="436291" y="219960"/>
                  <a:pt x="464831" y="172948"/>
                  <a:pt x="515919" y="172948"/>
                </a:cubicBezTo>
                <a:cubicBezTo>
                  <a:pt x="567007" y="172948"/>
                  <a:pt x="595547" y="220624"/>
                  <a:pt x="595547" y="308665"/>
                </a:cubicBezTo>
                <a:cubicBezTo>
                  <a:pt x="595547" y="397371"/>
                  <a:pt x="567007" y="444383"/>
                  <a:pt x="515919" y="444383"/>
                </a:cubicBezTo>
                <a:moveTo>
                  <a:pt x="515919" y="136478"/>
                </a:moveTo>
                <a:cubicBezTo>
                  <a:pt x="411746" y="136478"/>
                  <a:pt x="354094" y="213976"/>
                  <a:pt x="354094" y="308665"/>
                </a:cubicBezTo>
                <a:cubicBezTo>
                  <a:pt x="354094" y="403354"/>
                  <a:pt x="411841" y="480853"/>
                  <a:pt x="515919" y="480853"/>
                </a:cubicBezTo>
                <a:cubicBezTo>
                  <a:pt x="620092" y="480853"/>
                  <a:pt x="677744" y="403354"/>
                  <a:pt x="677744" y="308665"/>
                </a:cubicBezTo>
                <a:cubicBezTo>
                  <a:pt x="677840" y="213881"/>
                  <a:pt x="620092" y="136478"/>
                  <a:pt x="515919" y="136478"/>
                </a:cubicBezTo>
                <a:moveTo>
                  <a:pt x="1239519" y="136478"/>
                </a:moveTo>
                <a:cubicBezTo>
                  <a:pt x="1190429" y="136478"/>
                  <a:pt x="1163220" y="157657"/>
                  <a:pt x="1147999" y="184819"/>
                </a:cubicBezTo>
                <a:lnTo>
                  <a:pt x="1144003" y="184819"/>
                </a:lnTo>
                <a:lnTo>
                  <a:pt x="1144003" y="143126"/>
                </a:lnTo>
                <a:lnTo>
                  <a:pt x="1065707" y="143126"/>
                </a:lnTo>
                <a:lnTo>
                  <a:pt x="1065707" y="474205"/>
                </a:lnTo>
                <a:lnTo>
                  <a:pt x="1144003" y="474205"/>
                </a:lnTo>
                <a:lnTo>
                  <a:pt x="1144003" y="260229"/>
                </a:lnTo>
                <a:cubicBezTo>
                  <a:pt x="1144003" y="211222"/>
                  <a:pt x="1169214" y="182730"/>
                  <a:pt x="1209646" y="182730"/>
                </a:cubicBezTo>
                <a:cubicBezTo>
                  <a:pt x="1248747" y="182730"/>
                  <a:pt x="1266062" y="208563"/>
                  <a:pt x="1266062" y="247597"/>
                </a:cubicBezTo>
                <a:lnTo>
                  <a:pt x="1266062" y="474015"/>
                </a:lnTo>
                <a:lnTo>
                  <a:pt x="1344358" y="474015"/>
                </a:lnTo>
                <a:lnTo>
                  <a:pt x="1344358" y="247027"/>
                </a:lnTo>
                <a:cubicBezTo>
                  <a:pt x="1344263" y="178836"/>
                  <a:pt x="1308492" y="136478"/>
                  <a:pt x="1239519" y="136478"/>
                </a:cubicBezTo>
                <a:moveTo>
                  <a:pt x="1521976" y="136478"/>
                </a:moveTo>
                <a:cubicBezTo>
                  <a:pt x="1449673" y="136478"/>
                  <a:pt x="1395256" y="166964"/>
                  <a:pt x="1395256" y="231831"/>
                </a:cubicBezTo>
                <a:cubicBezTo>
                  <a:pt x="1395256" y="286821"/>
                  <a:pt x="1433024" y="316548"/>
                  <a:pt x="1475550" y="327185"/>
                </a:cubicBezTo>
                <a:lnTo>
                  <a:pt x="1541859" y="343711"/>
                </a:lnTo>
                <a:cubicBezTo>
                  <a:pt x="1576964" y="352353"/>
                  <a:pt x="1592947" y="364890"/>
                  <a:pt x="1592947" y="392717"/>
                </a:cubicBezTo>
                <a:cubicBezTo>
                  <a:pt x="1592947" y="426528"/>
                  <a:pt x="1569068" y="445713"/>
                  <a:pt x="1527303" y="445713"/>
                </a:cubicBezTo>
                <a:cubicBezTo>
                  <a:pt x="1482209" y="445713"/>
                  <a:pt x="1458996" y="423869"/>
                  <a:pt x="1451671" y="368879"/>
                </a:cubicBezTo>
                <a:lnTo>
                  <a:pt x="1381366" y="388728"/>
                </a:lnTo>
                <a:cubicBezTo>
                  <a:pt x="1385361" y="445713"/>
                  <a:pt x="1438447" y="480758"/>
                  <a:pt x="1518646" y="480758"/>
                </a:cubicBezTo>
                <a:cubicBezTo>
                  <a:pt x="1608168" y="480758"/>
                  <a:pt x="1656592" y="439064"/>
                  <a:pt x="1656592" y="372868"/>
                </a:cubicBezTo>
                <a:cubicBezTo>
                  <a:pt x="1656592" y="310660"/>
                  <a:pt x="1613496" y="284827"/>
                  <a:pt x="1568402" y="273525"/>
                </a:cubicBezTo>
                <a:lnTo>
                  <a:pt x="1504756" y="257664"/>
                </a:lnTo>
                <a:cubicBezTo>
                  <a:pt x="1472886" y="249686"/>
                  <a:pt x="1458996" y="235155"/>
                  <a:pt x="1458996" y="213976"/>
                </a:cubicBezTo>
                <a:cubicBezTo>
                  <a:pt x="1458996" y="187479"/>
                  <a:pt x="1481543" y="171618"/>
                  <a:pt x="1515411" y="171618"/>
                </a:cubicBezTo>
                <a:cubicBezTo>
                  <a:pt x="1555178" y="171618"/>
                  <a:pt x="1579723" y="193462"/>
                  <a:pt x="1583053" y="235155"/>
                </a:cubicBezTo>
                <a:lnTo>
                  <a:pt x="1649362" y="215306"/>
                </a:lnTo>
                <a:cubicBezTo>
                  <a:pt x="1641371" y="168864"/>
                  <a:pt x="1595611" y="136478"/>
                  <a:pt x="1521976" y="136478"/>
                </a:cubicBezTo>
                <a:moveTo>
                  <a:pt x="1850954" y="444383"/>
                </a:moveTo>
                <a:cubicBezTo>
                  <a:pt x="1799866" y="444383"/>
                  <a:pt x="1771326" y="396041"/>
                  <a:pt x="1771326" y="308665"/>
                </a:cubicBezTo>
                <a:cubicBezTo>
                  <a:pt x="1771326" y="219960"/>
                  <a:pt x="1799866" y="172948"/>
                  <a:pt x="1850954" y="172948"/>
                </a:cubicBezTo>
                <a:cubicBezTo>
                  <a:pt x="1902042" y="172948"/>
                  <a:pt x="1930582" y="220624"/>
                  <a:pt x="1930582" y="308665"/>
                </a:cubicBezTo>
                <a:cubicBezTo>
                  <a:pt x="1930487" y="397371"/>
                  <a:pt x="1902042" y="444383"/>
                  <a:pt x="1850954" y="444383"/>
                </a:cubicBezTo>
                <a:moveTo>
                  <a:pt x="1850954" y="136478"/>
                </a:moveTo>
                <a:cubicBezTo>
                  <a:pt x="1746781" y="136478"/>
                  <a:pt x="1689129" y="213976"/>
                  <a:pt x="1689129" y="308665"/>
                </a:cubicBezTo>
                <a:cubicBezTo>
                  <a:pt x="1689129" y="403354"/>
                  <a:pt x="1746876" y="480853"/>
                  <a:pt x="1850954" y="480853"/>
                </a:cubicBezTo>
                <a:cubicBezTo>
                  <a:pt x="1955127" y="480853"/>
                  <a:pt x="2012779" y="403354"/>
                  <a:pt x="2012779" y="308665"/>
                </a:cubicBezTo>
                <a:cubicBezTo>
                  <a:pt x="2012779" y="213881"/>
                  <a:pt x="1955032" y="136478"/>
                  <a:pt x="1850954" y="136478"/>
                </a:cubicBezTo>
                <a:moveTo>
                  <a:pt x="2232923" y="136478"/>
                </a:moveTo>
                <a:cubicBezTo>
                  <a:pt x="2183833" y="136478"/>
                  <a:pt x="2156624" y="157657"/>
                  <a:pt x="2141402" y="184819"/>
                </a:cubicBezTo>
                <a:lnTo>
                  <a:pt x="2137407" y="184819"/>
                </a:lnTo>
                <a:lnTo>
                  <a:pt x="2137407" y="143126"/>
                </a:lnTo>
                <a:lnTo>
                  <a:pt x="2059110" y="143126"/>
                </a:lnTo>
                <a:lnTo>
                  <a:pt x="2059110" y="474205"/>
                </a:lnTo>
                <a:lnTo>
                  <a:pt x="2137407" y="474205"/>
                </a:lnTo>
                <a:lnTo>
                  <a:pt x="2137407" y="260229"/>
                </a:lnTo>
                <a:cubicBezTo>
                  <a:pt x="2137407" y="211222"/>
                  <a:pt x="2162618" y="182730"/>
                  <a:pt x="2203050" y="182730"/>
                </a:cubicBezTo>
                <a:cubicBezTo>
                  <a:pt x="2242151" y="182730"/>
                  <a:pt x="2259465" y="208563"/>
                  <a:pt x="2259465" y="247597"/>
                </a:cubicBezTo>
                <a:lnTo>
                  <a:pt x="2259465" y="474015"/>
                </a:lnTo>
                <a:lnTo>
                  <a:pt x="2337762" y="474015"/>
                </a:lnTo>
                <a:lnTo>
                  <a:pt x="2337762" y="247027"/>
                </a:lnTo>
                <a:cubicBezTo>
                  <a:pt x="2337762" y="178836"/>
                  <a:pt x="2301896" y="136478"/>
                  <a:pt x="2232923" y="136478"/>
                </a:cubicBezTo>
                <a:moveTo>
                  <a:pt x="3395477" y="444383"/>
                </a:moveTo>
                <a:cubicBezTo>
                  <a:pt x="3344389" y="444383"/>
                  <a:pt x="3315849" y="396041"/>
                  <a:pt x="3315849" y="308665"/>
                </a:cubicBezTo>
                <a:cubicBezTo>
                  <a:pt x="3315849" y="219960"/>
                  <a:pt x="3344389" y="172948"/>
                  <a:pt x="3395477" y="172948"/>
                </a:cubicBezTo>
                <a:cubicBezTo>
                  <a:pt x="3446565" y="172948"/>
                  <a:pt x="3475105" y="220624"/>
                  <a:pt x="3475105" y="308665"/>
                </a:cubicBezTo>
                <a:cubicBezTo>
                  <a:pt x="3475105" y="397371"/>
                  <a:pt x="3446565" y="444383"/>
                  <a:pt x="3395477" y="444383"/>
                </a:cubicBezTo>
                <a:moveTo>
                  <a:pt x="3395477" y="136478"/>
                </a:moveTo>
                <a:cubicBezTo>
                  <a:pt x="3291304" y="136478"/>
                  <a:pt x="3233652" y="213976"/>
                  <a:pt x="3233652" y="308665"/>
                </a:cubicBezTo>
                <a:cubicBezTo>
                  <a:pt x="3233652" y="403354"/>
                  <a:pt x="3291399" y="480853"/>
                  <a:pt x="3395477" y="480853"/>
                </a:cubicBezTo>
                <a:cubicBezTo>
                  <a:pt x="3499650" y="480853"/>
                  <a:pt x="3557302" y="403354"/>
                  <a:pt x="3557302" y="308665"/>
                </a:cubicBezTo>
                <a:cubicBezTo>
                  <a:pt x="3557302" y="213881"/>
                  <a:pt x="3499650" y="136478"/>
                  <a:pt x="3395477" y="136478"/>
                </a:cubicBezTo>
                <a:moveTo>
                  <a:pt x="4118981" y="136478"/>
                </a:moveTo>
                <a:cubicBezTo>
                  <a:pt x="4069892" y="136478"/>
                  <a:pt x="4042683" y="157657"/>
                  <a:pt x="4027461" y="184819"/>
                </a:cubicBezTo>
                <a:lnTo>
                  <a:pt x="4023466" y="184819"/>
                </a:lnTo>
                <a:lnTo>
                  <a:pt x="4023466" y="143126"/>
                </a:lnTo>
                <a:lnTo>
                  <a:pt x="3945169" y="143126"/>
                </a:lnTo>
                <a:lnTo>
                  <a:pt x="3945169" y="474205"/>
                </a:lnTo>
                <a:lnTo>
                  <a:pt x="4023466" y="474205"/>
                </a:lnTo>
                <a:lnTo>
                  <a:pt x="4023466" y="260229"/>
                </a:lnTo>
                <a:cubicBezTo>
                  <a:pt x="4023466" y="211222"/>
                  <a:pt x="4048677" y="182730"/>
                  <a:pt x="4089109" y="182730"/>
                </a:cubicBezTo>
                <a:cubicBezTo>
                  <a:pt x="4128210" y="182730"/>
                  <a:pt x="4145524" y="208563"/>
                  <a:pt x="4145524" y="247597"/>
                </a:cubicBezTo>
                <a:lnTo>
                  <a:pt x="4145524" y="474015"/>
                </a:lnTo>
                <a:lnTo>
                  <a:pt x="4223821" y="474015"/>
                </a:lnTo>
                <a:lnTo>
                  <a:pt x="4223821" y="247027"/>
                </a:lnTo>
                <a:cubicBezTo>
                  <a:pt x="4223821" y="178836"/>
                  <a:pt x="4187955" y="136478"/>
                  <a:pt x="4118981" y="136478"/>
                </a:cubicBezTo>
                <a:moveTo>
                  <a:pt x="4401534" y="136478"/>
                </a:moveTo>
                <a:cubicBezTo>
                  <a:pt x="4329231" y="136478"/>
                  <a:pt x="4274813" y="166964"/>
                  <a:pt x="4274813" y="231831"/>
                </a:cubicBezTo>
                <a:cubicBezTo>
                  <a:pt x="4274813" y="286821"/>
                  <a:pt x="4312582" y="316548"/>
                  <a:pt x="4355108" y="327185"/>
                </a:cubicBezTo>
                <a:lnTo>
                  <a:pt x="4421417" y="343711"/>
                </a:lnTo>
                <a:cubicBezTo>
                  <a:pt x="4456522" y="352353"/>
                  <a:pt x="4472505" y="364890"/>
                  <a:pt x="4472505" y="392717"/>
                </a:cubicBezTo>
                <a:cubicBezTo>
                  <a:pt x="4472505" y="426528"/>
                  <a:pt x="4448626" y="445713"/>
                  <a:pt x="4406861" y="445713"/>
                </a:cubicBezTo>
                <a:cubicBezTo>
                  <a:pt x="4361767" y="445713"/>
                  <a:pt x="4338554" y="423869"/>
                  <a:pt x="4331229" y="368879"/>
                </a:cubicBezTo>
                <a:lnTo>
                  <a:pt x="4260924" y="388728"/>
                </a:lnTo>
                <a:cubicBezTo>
                  <a:pt x="4264919" y="445713"/>
                  <a:pt x="4318005" y="480758"/>
                  <a:pt x="4398204" y="480758"/>
                </a:cubicBezTo>
                <a:cubicBezTo>
                  <a:pt x="4487726" y="480758"/>
                  <a:pt x="4536150" y="439064"/>
                  <a:pt x="4536150" y="372868"/>
                </a:cubicBezTo>
                <a:cubicBezTo>
                  <a:pt x="4536150" y="310660"/>
                  <a:pt x="4493054" y="284827"/>
                  <a:pt x="4447960" y="273525"/>
                </a:cubicBezTo>
                <a:lnTo>
                  <a:pt x="4384314" y="257664"/>
                </a:lnTo>
                <a:cubicBezTo>
                  <a:pt x="4352444" y="249686"/>
                  <a:pt x="4338554" y="235155"/>
                  <a:pt x="4338554" y="213976"/>
                </a:cubicBezTo>
                <a:cubicBezTo>
                  <a:pt x="4338554" y="187479"/>
                  <a:pt x="4361101" y="171618"/>
                  <a:pt x="4394969" y="171618"/>
                </a:cubicBezTo>
                <a:cubicBezTo>
                  <a:pt x="4434736" y="171618"/>
                  <a:pt x="4459281" y="193462"/>
                  <a:pt x="4462610" y="235155"/>
                </a:cubicBezTo>
                <a:lnTo>
                  <a:pt x="4528920" y="215306"/>
                </a:lnTo>
                <a:cubicBezTo>
                  <a:pt x="4520929" y="168864"/>
                  <a:pt x="4475168" y="136478"/>
                  <a:pt x="4401534" y="136478"/>
                </a:cubicBezTo>
                <a:moveTo>
                  <a:pt x="4730417" y="444383"/>
                </a:moveTo>
                <a:cubicBezTo>
                  <a:pt x="4679329" y="444383"/>
                  <a:pt x="4650788" y="396041"/>
                  <a:pt x="4650788" y="308665"/>
                </a:cubicBezTo>
                <a:cubicBezTo>
                  <a:pt x="4650788" y="219960"/>
                  <a:pt x="4679329" y="172948"/>
                  <a:pt x="4730417" y="172948"/>
                </a:cubicBezTo>
                <a:cubicBezTo>
                  <a:pt x="4781504" y="172948"/>
                  <a:pt x="4810045" y="220624"/>
                  <a:pt x="4810045" y="308665"/>
                </a:cubicBezTo>
                <a:cubicBezTo>
                  <a:pt x="4810045" y="397371"/>
                  <a:pt x="4781504" y="444383"/>
                  <a:pt x="4730417" y="444383"/>
                </a:cubicBezTo>
                <a:moveTo>
                  <a:pt x="4730417" y="136478"/>
                </a:moveTo>
                <a:cubicBezTo>
                  <a:pt x="4626243" y="136478"/>
                  <a:pt x="4568591" y="213976"/>
                  <a:pt x="4568591" y="308665"/>
                </a:cubicBezTo>
                <a:cubicBezTo>
                  <a:pt x="4568591" y="403354"/>
                  <a:pt x="4626243" y="480853"/>
                  <a:pt x="4730417" y="480853"/>
                </a:cubicBezTo>
                <a:cubicBezTo>
                  <a:pt x="4834590" y="480853"/>
                  <a:pt x="4892242" y="403354"/>
                  <a:pt x="4892242" y="308665"/>
                </a:cubicBezTo>
                <a:cubicBezTo>
                  <a:pt x="4892242" y="213881"/>
                  <a:pt x="4834590" y="136478"/>
                  <a:pt x="4730417" y="136478"/>
                </a:cubicBezTo>
                <a:moveTo>
                  <a:pt x="5112481" y="136478"/>
                </a:moveTo>
                <a:cubicBezTo>
                  <a:pt x="5063390" y="136478"/>
                  <a:pt x="5036182" y="157657"/>
                  <a:pt x="5020960" y="184819"/>
                </a:cubicBezTo>
                <a:lnTo>
                  <a:pt x="5016964" y="184819"/>
                </a:lnTo>
                <a:lnTo>
                  <a:pt x="5016964" y="143126"/>
                </a:lnTo>
                <a:lnTo>
                  <a:pt x="4938668" y="143126"/>
                </a:lnTo>
                <a:lnTo>
                  <a:pt x="4938668" y="474205"/>
                </a:lnTo>
                <a:lnTo>
                  <a:pt x="5016964" y="474205"/>
                </a:lnTo>
                <a:lnTo>
                  <a:pt x="5016964" y="260229"/>
                </a:lnTo>
                <a:cubicBezTo>
                  <a:pt x="5016964" y="211222"/>
                  <a:pt x="5042175" y="182730"/>
                  <a:pt x="5082608" y="182730"/>
                </a:cubicBezTo>
                <a:cubicBezTo>
                  <a:pt x="5121708" y="182730"/>
                  <a:pt x="5139023" y="208563"/>
                  <a:pt x="5139023" y="247597"/>
                </a:cubicBezTo>
                <a:lnTo>
                  <a:pt x="5139023" y="474015"/>
                </a:lnTo>
                <a:lnTo>
                  <a:pt x="5217319" y="474015"/>
                </a:lnTo>
                <a:lnTo>
                  <a:pt x="5217319" y="247027"/>
                </a:lnTo>
                <a:cubicBezTo>
                  <a:pt x="5217225" y="178836"/>
                  <a:pt x="5181454" y="136478"/>
                  <a:pt x="5112481" y="136478"/>
                </a:cubicBezTo>
                <a:moveTo>
                  <a:pt x="307763" y="10637"/>
                </a:moveTo>
                <a:lnTo>
                  <a:pt x="225471" y="10637"/>
                </a:lnTo>
                <a:lnTo>
                  <a:pt x="225471" y="353018"/>
                </a:lnTo>
                <a:cubicBezTo>
                  <a:pt x="225471" y="408673"/>
                  <a:pt x="204256" y="441724"/>
                  <a:pt x="153834" y="441724"/>
                </a:cubicBezTo>
                <a:cubicBezTo>
                  <a:pt x="104078" y="441724"/>
                  <a:pt x="82197" y="406678"/>
                  <a:pt x="82197" y="346370"/>
                </a:cubicBezTo>
                <a:lnTo>
                  <a:pt x="82197" y="282832"/>
                </a:lnTo>
                <a:lnTo>
                  <a:pt x="0" y="303347"/>
                </a:lnTo>
                <a:lnTo>
                  <a:pt x="0" y="331839"/>
                </a:lnTo>
                <a:cubicBezTo>
                  <a:pt x="0" y="418550"/>
                  <a:pt x="43096" y="484842"/>
                  <a:pt x="153929" y="484842"/>
                </a:cubicBezTo>
                <a:cubicBezTo>
                  <a:pt x="264667" y="484842"/>
                  <a:pt x="307763" y="418645"/>
                  <a:pt x="307763" y="331839"/>
                </a:cubicBezTo>
                <a:lnTo>
                  <a:pt x="307763" y="10637"/>
                </a:lnTo>
                <a:moveTo>
                  <a:pt x="802467" y="10637"/>
                </a:moveTo>
                <a:lnTo>
                  <a:pt x="724171" y="10637"/>
                </a:lnTo>
                <a:lnTo>
                  <a:pt x="724171" y="474110"/>
                </a:lnTo>
                <a:lnTo>
                  <a:pt x="802467" y="474110"/>
                </a:lnTo>
                <a:lnTo>
                  <a:pt x="802467" y="260229"/>
                </a:lnTo>
                <a:cubicBezTo>
                  <a:pt x="802467" y="211222"/>
                  <a:pt x="827678" y="182730"/>
                  <a:pt x="868110" y="182730"/>
                </a:cubicBezTo>
                <a:cubicBezTo>
                  <a:pt x="907211" y="182730"/>
                  <a:pt x="924526" y="208563"/>
                  <a:pt x="924526" y="247597"/>
                </a:cubicBezTo>
                <a:lnTo>
                  <a:pt x="924526" y="474015"/>
                </a:lnTo>
                <a:lnTo>
                  <a:pt x="1002822" y="474015"/>
                </a:lnTo>
                <a:lnTo>
                  <a:pt x="1002822" y="247027"/>
                </a:lnTo>
                <a:cubicBezTo>
                  <a:pt x="1002822" y="178836"/>
                  <a:pt x="966956" y="136478"/>
                  <a:pt x="897983" y="136478"/>
                </a:cubicBezTo>
                <a:cubicBezTo>
                  <a:pt x="848893" y="136478"/>
                  <a:pt x="821684" y="157657"/>
                  <a:pt x="806463" y="184819"/>
                </a:cubicBezTo>
                <a:lnTo>
                  <a:pt x="802467" y="184819"/>
                </a:lnTo>
                <a:lnTo>
                  <a:pt x="802467" y="10637"/>
                </a:lnTo>
                <a:moveTo>
                  <a:pt x="3187225" y="10637"/>
                </a:moveTo>
                <a:lnTo>
                  <a:pt x="3105029" y="10637"/>
                </a:lnTo>
                <a:lnTo>
                  <a:pt x="3105029" y="353018"/>
                </a:lnTo>
                <a:cubicBezTo>
                  <a:pt x="3105029" y="408673"/>
                  <a:pt x="3083813" y="441724"/>
                  <a:pt x="3033392" y="441724"/>
                </a:cubicBezTo>
                <a:cubicBezTo>
                  <a:pt x="2983636" y="441724"/>
                  <a:pt x="2961755" y="406678"/>
                  <a:pt x="2961755" y="346370"/>
                </a:cubicBezTo>
                <a:lnTo>
                  <a:pt x="2961755" y="282832"/>
                </a:lnTo>
                <a:lnTo>
                  <a:pt x="2879558" y="303347"/>
                </a:lnTo>
                <a:lnTo>
                  <a:pt x="2879558" y="331839"/>
                </a:lnTo>
                <a:cubicBezTo>
                  <a:pt x="2879558" y="418550"/>
                  <a:pt x="2922654" y="484842"/>
                  <a:pt x="3033487" y="484842"/>
                </a:cubicBezTo>
                <a:cubicBezTo>
                  <a:pt x="3144320" y="484842"/>
                  <a:pt x="3187321" y="418645"/>
                  <a:pt x="3187321" y="331839"/>
                </a:cubicBezTo>
                <a:lnTo>
                  <a:pt x="3187321" y="10637"/>
                </a:lnTo>
                <a:moveTo>
                  <a:pt x="3681929" y="10637"/>
                </a:moveTo>
                <a:lnTo>
                  <a:pt x="3603633" y="10637"/>
                </a:lnTo>
                <a:lnTo>
                  <a:pt x="3603633" y="474110"/>
                </a:lnTo>
                <a:lnTo>
                  <a:pt x="3681929" y="474110"/>
                </a:lnTo>
                <a:lnTo>
                  <a:pt x="3681929" y="260229"/>
                </a:lnTo>
                <a:cubicBezTo>
                  <a:pt x="3681929" y="211222"/>
                  <a:pt x="3707141" y="182730"/>
                  <a:pt x="3747573" y="182730"/>
                </a:cubicBezTo>
                <a:cubicBezTo>
                  <a:pt x="3786674" y="182730"/>
                  <a:pt x="3803988" y="208563"/>
                  <a:pt x="3803988" y="247597"/>
                </a:cubicBezTo>
                <a:lnTo>
                  <a:pt x="3803988" y="474015"/>
                </a:lnTo>
                <a:lnTo>
                  <a:pt x="3882285" y="474015"/>
                </a:lnTo>
                <a:lnTo>
                  <a:pt x="3882285" y="247027"/>
                </a:lnTo>
                <a:cubicBezTo>
                  <a:pt x="3882285" y="178836"/>
                  <a:pt x="3846514" y="136478"/>
                  <a:pt x="3777445" y="136478"/>
                </a:cubicBezTo>
                <a:cubicBezTo>
                  <a:pt x="3728356" y="136478"/>
                  <a:pt x="3701147" y="157657"/>
                  <a:pt x="3685925" y="184819"/>
                </a:cubicBezTo>
                <a:lnTo>
                  <a:pt x="3681929" y="184819"/>
                </a:lnTo>
                <a:lnTo>
                  <a:pt x="3681929" y="10637"/>
                </a:lnTo>
                <a:moveTo>
                  <a:pt x="2595674" y="436405"/>
                </a:moveTo>
                <a:cubicBezTo>
                  <a:pt x="2532028" y="436405"/>
                  <a:pt x="2492832" y="384739"/>
                  <a:pt x="2492832" y="329749"/>
                </a:cubicBezTo>
                <a:cubicBezTo>
                  <a:pt x="2492832" y="295274"/>
                  <a:pt x="2508054" y="263553"/>
                  <a:pt x="2533265" y="245698"/>
                </a:cubicBezTo>
                <a:lnTo>
                  <a:pt x="2683198" y="409243"/>
                </a:lnTo>
                <a:cubicBezTo>
                  <a:pt x="2655419" y="425768"/>
                  <a:pt x="2624214" y="436405"/>
                  <a:pt x="2595674" y="436405"/>
                </a:cubicBezTo>
                <a:moveTo>
                  <a:pt x="2741611" y="354918"/>
                </a:moveTo>
                <a:lnTo>
                  <a:pt x="2611656" y="211887"/>
                </a:lnTo>
                <a:cubicBezTo>
                  <a:pt x="2634870" y="202579"/>
                  <a:pt x="2657417" y="199255"/>
                  <a:pt x="2675968" y="199255"/>
                </a:cubicBezTo>
                <a:cubicBezTo>
                  <a:pt x="2729719" y="199255"/>
                  <a:pt x="2762827" y="230407"/>
                  <a:pt x="2762827" y="283972"/>
                </a:cubicBezTo>
                <a:cubicBezTo>
                  <a:pt x="2762827" y="307905"/>
                  <a:pt x="2756167" y="332409"/>
                  <a:pt x="2741611" y="354918"/>
                </a:cubicBezTo>
                <a:moveTo>
                  <a:pt x="2593676" y="192702"/>
                </a:moveTo>
                <a:lnTo>
                  <a:pt x="2565135" y="160886"/>
                </a:lnTo>
                <a:cubicBezTo>
                  <a:pt x="2539925" y="133058"/>
                  <a:pt x="2532599" y="115868"/>
                  <a:pt x="2532599" y="95354"/>
                </a:cubicBezTo>
                <a:cubicBezTo>
                  <a:pt x="2532599" y="56984"/>
                  <a:pt x="2557144" y="35140"/>
                  <a:pt x="2595579" y="35140"/>
                </a:cubicBezTo>
                <a:cubicBezTo>
                  <a:pt x="2634679" y="35140"/>
                  <a:pt x="2657892" y="57649"/>
                  <a:pt x="2657892" y="98678"/>
                </a:cubicBezTo>
                <a:cubicBezTo>
                  <a:pt x="2657988" y="136478"/>
                  <a:pt x="2639436" y="172188"/>
                  <a:pt x="2593676" y="192702"/>
                </a:cubicBezTo>
                <a:moveTo>
                  <a:pt x="2597672" y="0"/>
                </a:moveTo>
                <a:cubicBezTo>
                  <a:pt x="2506151" y="0"/>
                  <a:pt x="2461057" y="51001"/>
                  <a:pt x="2461057" y="114539"/>
                </a:cubicBezTo>
                <a:cubicBezTo>
                  <a:pt x="2461057" y="148919"/>
                  <a:pt x="2475613" y="183395"/>
                  <a:pt x="2514143" y="225088"/>
                </a:cubicBezTo>
                <a:lnTo>
                  <a:pt x="2514809" y="226418"/>
                </a:lnTo>
                <a:cubicBezTo>
                  <a:pt x="2449831" y="257569"/>
                  <a:pt x="2419959" y="307905"/>
                  <a:pt x="2419959" y="359476"/>
                </a:cubicBezTo>
                <a:cubicBezTo>
                  <a:pt x="2419959" y="427668"/>
                  <a:pt x="2472378" y="484652"/>
                  <a:pt x="2553243" y="484652"/>
                </a:cubicBezTo>
                <a:cubicBezTo>
                  <a:pt x="2599670" y="484652"/>
                  <a:pt x="2654087" y="465467"/>
                  <a:pt x="2703177" y="430992"/>
                </a:cubicBezTo>
                <a:lnTo>
                  <a:pt x="2742943" y="474015"/>
                </a:lnTo>
                <a:lnTo>
                  <a:pt x="2847117" y="474015"/>
                </a:lnTo>
                <a:lnTo>
                  <a:pt x="2847117" y="470691"/>
                </a:lnTo>
                <a:lnTo>
                  <a:pt x="2762256" y="377331"/>
                </a:lnTo>
                <a:cubicBezTo>
                  <a:pt x="2798122" y="334973"/>
                  <a:pt x="2818671" y="288626"/>
                  <a:pt x="2818671" y="248167"/>
                </a:cubicBezTo>
                <a:cubicBezTo>
                  <a:pt x="2818671" y="197831"/>
                  <a:pt x="2784803" y="164115"/>
                  <a:pt x="2731812" y="164115"/>
                </a:cubicBezTo>
                <a:cubicBezTo>
                  <a:pt x="2703938" y="164115"/>
                  <a:pt x="2672733" y="172093"/>
                  <a:pt x="2652184" y="179976"/>
                </a:cubicBezTo>
                <a:lnTo>
                  <a:pt x="2650852" y="177316"/>
                </a:lnTo>
                <a:cubicBezTo>
                  <a:pt x="2701274" y="150154"/>
                  <a:pt x="2722489" y="124986"/>
                  <a:pt x="2722489" y="89940"/>
                </a:cubicBezTo>
                <a:cubicBezTo>
                  <a:pt x="2722394" y="39794"/>
                  <a:pt x="2677300" y="0"/>
                  <a:pt x="2597672" y="0"/>
                </a:cubicBezTo>
                <a:moveTo>
                  <a:pt x="612767" y="838050"/>
                </a:moveTo>
                <a:cubicBezTo>
                  <a:pt x="620092" y="779831"/>
                  <a:pt x="649870" y="746685"/>
                  <a:pt x="702289" y="746685"/>
                </a:cubicBezTo>
                <a:cubicBezTo>
                  <a:pt x="752045" y="746685"/>
                  <a:pt x="781252" y="776507"/>
                  <a:pt x="782584" y="838050"/>
                </a:cubicBezTo>
                <a:lnTo>
                  <a:pt x="612767" y="838050"/>
                </a:lnTo>
                <a:moveTo>
                  <a:pt x="702289" y="701667"/>
                </a:moveTo>
                <a:cubicBezTo>
                  <a:pt x="614765" y="701667"/>
                  <a:pt x="553688" y="763210"/>
                  <a:pt x="553688" y="876514"/>
                </a:cubicBezTo>
                <a:cubicBezTo>
                  <a:pt x="553688" y="985069"/>
                  <a:pt x="610103" y="1046043"/>
                  <a:pt x="702289" y="1046043"/>
                </a:cubicBezTo>
                <a:cubicBezTo>
                  <a:pt x="777922" y="1046043"/>
                  <a:pt x="825680" y="1003020"/>
                  <a:pt x="837572" y="938152"/>
                </a:cubicBezTo>
                <a:lnTo>
                  <a:pt x="787150" y="924951"/>
                </a:lnTo>
                <a:cubicBezTo>
                  <a:pt x="778493" y="980606"/>
                  <a:pt x="748715" y="999790"/>
                  <a:pt x="707522" y="999790"/>
                </a:cubicBezTo>
                <a:cubicBezTo>
                  <a:pt x="641878" y="999790"/>
                  <a:pt x="612672" y="951449"/>
                  <a:pt x="610674" y="877274"/>
                </a:cubicBezTo>
                <a:lnTo>
                  <a:pt x="838143" y="877274"/>
                </a:lnTo>
                <a:lnTo>
                  <a:pt x="838143" y="858754"/>
                </a:lnTo>
                <a:cubicBezTo>
                  <a:pt x="838333" y="742696"/>
                  <a:pt x="775258" y="701667"/>
                  <a:pt x="702289" y="701667"/>
                </a:cubicBezTo>
                <a:moveTo>
                  <a:pt x="1610832" y="838050"/>
                </a:moveTo>
                <a:cubicBezTo>
                  <a:pt x="1618158" y="779831"/>
                  <a:pt x="1647935" y="746685"/>
                  <a:pt x="1700355" y="746685"/>
                </a:cubicBezTo>
                <a:cubicBezTo>
                  <a:pt x="1750111" y="746685"/>
                  <a:pt x="1779317" y="776507"/>
                  <a:pt x="1780649" y="838050"/>
                </a:cubicBezTo>
                <a:lnTo>
                  <a:pt x="1610832" y="838050"/>
                </a:lnTo>
                <a:moveTo>
                  <a:pt x="1700355" y="701667"/>
                </a:moveTo>
                <a:cubicBezTo>
                  <a:pt x="1612830" y="701667"/>
                  <a:pt x="1551753" y="763210"/>
                  <a:pt x="1551753" y="876514"/>
                </a:cubicBezTo>
                <a:cubicBezTo>
                  <a:pt x="1551753" y="985069"/>
                  <a:pt x="1608168" y="1046043"/>
                  <a:pt x="1700355" y="1046043"/>
                </a:cubicBezTo>
                <a:cubicBezTo>
                  <a:pt x="1775987" y="1046043"/>
                  <a:pt x="1823745" y="1003020"/>
                  <a:pt x="1835637" y="938152"/>
                </a:cubicBezTo>
                <a:lnTo>
                  <a:pt x="1785215" y="924951"/>
                </a:lnTo>
                <a:cubicBezTo>
                  <a:pt x="1776558" y="980606"/>
                  <a:pt x="1746781" y="999790"/>
                  <a:pt x="1705587" y="999790"/>
                </a:cubicBezTo>
                <a:cubicBezTo>
                  <a:pt x="1639944" y="999790"/>
                  <a:pt x="1610737" y="951449"/>
                  <a:pt x="1608739" y="877274"/>
                </a:cubicBezTo>
                <a:lnTo>
                  <a:pt x="1836208" y="877274"/>
                </a:lnTo>
                <a:lnTo>
                  <a:pt x="1836208" y="858754"/>
                </a:lnTo>
                <a:cubicBezTo>
                  <a:pt x="1836398" y="742696"/>
                  <a:pt x="1773323" y="701667"/>
                  <a:pt x="1700355" y="701667"/>
                </a:cubicBezTo>
                <a:moveTo>
                  <a:pt x="2044555" y="701667"/>
                </a:moveTo>
                <a:cubicBezTo>
                  <a:pt x="1953700" y="701667"/>
                  <a:pt x="1891957" y="765205"/>
                  <a:pt x="1891957" y="877179"/>
                </a:cubicBezTo>
                <a:cubicBezTo>
                  <a:pt x="1891957" y="987064"/>
                  <a:pt x="1952273" y="1046043"/>
                  <a:pt x="2041891" y="1046043"/>
                </a:cubicBezTo>
                <a:cubicBezTo>
                  <a:pt x="2122851" y="1046043"/>
                  <a:pt x="2168611" y="996371"/>
                  <a:pt x="2177839" y="928180"/>
                </a:cubicBezTo>
                <a:lnTo>
                  <a:pt x="2125420" y="915549"/>
                </a:lnTo>
                <a:cubicBezTo>
                  <a:pt x="2116096" y="977756"/>
                  <a:pt x="2089554" y="998936"/>
                  <a:pt x="2045791" y="998936"/>
                </a:cubicBezTo>
                <a:cubicBezTo>
                  <a:pt x="1982146" y="998936"/>
                  <a:pt x="1949609" y="952588"/>
                  <a:pt x="1949609" y="873095"/>
                </a:cubicBezTo>
                <a:cubicBezTo>
                  <a:pt x="1949609" y="790278"/>
                  <a:pt x="1984144" y="748584"/>
                  <a:pt x="2043127" y="748584"/>
                </a:cubicBezTo>
                <a:cubicBezTo>
                  <a:pt x="2084892" y="748584"/>
                  <a:pt x="2115430" y="769099"/>
                  <a:pt x="2125420" y="828078"/>
                </a:cubicBezTo>
                <a:lnTo>
                  <a:pt x="2177839" y="815446"/>
                </a:lnTo>
                <a:cubicBezTo>
                  <a:pt x="2168611" y="748015"/>
                  <a:pt x="2122851" y="701667"/>
                  <a:pt x="2044555" y="701667"/>
                </a:cubicBezTo>
                <a:moveTo>
                  <a:pt x="477580" y="575827"/>
                </a:moveTo>
                <a:lnTo>
                  <a:pt x="390055" y="575827"/>
                </a:lnTo>
                <a:lnTo>
                  <a:pt x="252775" y="949264"/>
                </a:lnTo>
                <a:lnTo>
                  <a:pt x="114828" y="575827"/>
                </a:lnTo>
                <a:lnTo>
                  <a:pt x="23213" y="575827"/>
                </a:lnTo>
                <a:lnTo>
                  <a:pt x="23213" y="1039300"/>
                </a:lnTo>
                <a:lnTo>
                  <a:pt x="80865" y="1039300"/>
                </a:lnTo>
                <a:lnTo>
                  <a:pt x="80865" y="640124"/>
                </a:lnTo>
                <a:lnTo>
                  <a:pt x="228801" y="1039395"/>
                </a:lnTo>
                <a:lnTo>
                  <a:pt x="273229" y="1039395"/>
                </a:lnTo>
                <a:lnTo>
                  <a:pt x="419832" y="639459"/>
                </a:lnTo>
                <a:lnTo>
                  <a:pt x="419832" y="1039395"/>
                </a:lnTo>
                <a:lnTo>
                  <a:pt x="477580" y="1039395"/>
                </a:lnTo>
                <a:lnTo>
                  <a:pt x="477580" y="575827"/>
                </a:lnTo>
                <a:moveTo>
                  <a:pt x="1042494" y="999031"/>
                </a:moveTo>
                <a:cubicBezTo>
                  <a:pt x="988076" y="999031"/>
                  <a:pt x="951639" y="959996"/>
                  <a:pt x="951639" y="873855"/>
                </a:cubicBezTo>
                <a:cubicBezTo>
                  <a:pt x="951639" y="787144"/>
                  <a:pt x="988076" y="748679"/>
                  <a:pt x="1042494" y="748679"/>
                </a:cubicBezTo>
                <a:cubicBezTo>
                  <a:pt x="1096911" y="748679"/>
                  <a:pt x="1133348" y="787049"/>
                  <a:pt x="1133348" y="873855"/>
                </a:cubicBezTo>
                <a:cubicBezTo>
                  <a:pt x="1133348" y="959901"/>
                  <a:pt x="1096911" y="999031"/>
                  <a:pt x="1042494" y="999031"/>
                </a:cubicBezTo>
                <a:moveTo>
                  <a:pt x="1187099" y="575827"/>
                </a:moveTo>
                <a:lnTo>
                  <a:pt x="1132111" y="575827"/>
                </a:lnTo>
                <a:lnTo>
                  <a:pt x="1132111" y="771853"/>
                </a:lnTo>
                <a:cubicBezTo>
                  <a:pt x="1120124" y="735383"/>
                  <a:pt x="1091013" y="701667"/>
                  <a:pt x="1033265" y="701667"/>
                </a:cubicBezTo>
                <a:cubicBezTo>
                  <a:pt x="958965" y="701667"/>
                  <a:pt x="893987" y="759981"/>
                  <a:pt x="893987" y="875849"/>
                </a:cubicBezTo>
                <a:cubicBezTo>
                  <a:pt x="893987" y="993047"/>
                  <a:pt x="958965" y="1046043"/>
                  <a:pt x="1028604" y="1046043"/>
                </a:cubicBezTo>
                <a:cubicBezTo>
                  <a:pt x="1081023" y="1046043"/>
                  <a:pt x="1119458" y="1015556"/>
                  <a:pt x="1132111" y="972533"/>
                </a:cubicBezTo>
                <a:lnTo>
                  <a:pt x="1132111" y="997701"/>
                </a:lnTo>
                <a:cubicBezTo>
                  <a:pt x="1132111" y="1012897"/>
                  <a:pt x="1133443" y="1029517"/>
                  <a:pt x="1135441" y="1039395"/>
                </a:cubicBezTo>
                <a:lnTo>
                  <a:pt x="1191190" y="1039395"/>
                </a:lnTo>
                <a:cubicBezTo>
                  <a:pt x="1188526" y="1023534"/>
                  <a:pt x="1187194" y="1000360"/>
                  <a:pt x="1187194" y="970538"/>
                </a:cubicBezTo>
                <a:lnTo>
                  <a:pt x="1187194" y="575827"/>
                </a:lnTo>
                <a:moveTo>
                  <a:pt x="1604934" y="575827"/>
                </a:moveTo>
                <a:lnTo>
                  <a:pt x="1246749" y="575827"/>
                </a:lnTo>
                <a:lnTo>
                  <a:pt x="1246749" y="624169"/>
                </a:lnTo>
                <a:lnTo>
                  <a:pt x="1397349" y="624169"/>
                </a:lnTo>
                <a:lnTo>
                  <a:pt x="1397349" y="1039395"/>
                </a:lnTo>
                <a:lnTo>
                  <a:pt x="1455096" y="1039395"/>
                </a:lnTo>
                <a:lnTo>
                  <a:pt x="1455096" y="624169"/>
                </a:lnTo>
                <a:lnTo>
                  <a:pt x="1605029" y="624169"/>
                </a:lnTo>
                <a:lnTo>
                  <a:pt x="1605029" y="575827"/>
                </a:lnTo>
                <a:moveTo>
                  <a:pt x="2295902" y="575827"/>
                </a:moveTo>
                <a:lnTo>
                  <a:pt x="2240819" y="575827"/>
                </a:lnTo>
                <a:lnTo>
                  <a:pt x="2240819" y="1039300"/>
                </a:lnTo>
                <a:lnTo>
                  <a:pt x="2295902" y="1039300"/>
                </a:lnTo>
                <a:lnTo>
                  <a:pt x="2295902" y="821524"/>
                </a:lnTo>
                <a:cubicBezTo>
                  <a:pt x="2295902" y="775177"/>
                  <a:pt x="2319115" y="744026"/>
                  <a:pt x="2368205" y="744026"/>
                </a:cubicBezTo>
                <a:cubicBezTo>
                  <a:pt x="2416629" y="744026"/>
                  <a:pt x="2439842" y="775177"/>
                  <a:pt x="2439842" y="821524"/>
                </a:cubicBezTo>
                <a:lnTo>
                  <a:pt x="2439842" y="1039395"/>
                </a:lnTo>
                <a:lnTo>
                  <a:pt x="2494925" y="1039395"/>
                </a:lnTo>
                <a:lnTo>
                  <a:pt x="2494925" y="810317"/>
                </a:lnTo>
                <a:cubicBezTo>
                  <a:pt x="2494925" y="748110"/>
                  <a:pt x="2456491" y="701762"/>
                  <a:pt x="2388088" y="701762"/>
                </a:cubicBezTo>
                <a:cubicBezTo>
                  <a:pt x="2342328" y="701762"/>
                  <a:pt x="2308460" y="722277"/>
                  <a:pt x="2295902" y="759411"/>
                </a:cubicBezTo>
                <a:lnTo>
                  <a:pt x="2295902" y="575827"/>
                </a:lnTo>
              </a:path>
            </a:pathLst>
          </a:custGeom>
          <a:solidFill>
            <a:srgbClr val="EB1700"/>
          </a:solidFill>
          <a:ln w="95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750"/>
          </a:p>
        </p:txBody>
      </p:sp>
      <p:sp>
        <p:nvSpPr>
          <p:cNvPr id="268" name="Footer Placeholder 3"/>
          <p:cNvSpPr txBox="1"/>
          <p:nvPr/>
        </p:nvSpPr>
        <p:spPr>
          <a:xfrm>
            <a:off x="347415" y="10716905"/>
            <a:ext cx="6864853" cy="12003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110000"/>
              </a:lnSpc>
              <a:spcBef>
                <a:spcPts val="880"/>
              </a:spcBef>
              <a:spcAft>
                <a:spcPts val="880"/>
              </a:spcAft>
              <a:defRPr sz="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780" dirty="0"/>
              <a:t>009797-241115  </a:t>
            </a:r>
            <a:r>
              <a:rPr lang="zh-CN" altLang="en-US" sz="780" dirty="0"/>
              <a:t>专业内容，仅供医疗专业人士参考，严禁翻印及传播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dt="0"/>
  <p:txStyles>
    <p:titleStyle>
      <a:lvl1pPr algn="l" defTabSz="1304290" rtl="0" eaLnBrk="1" latinLnBrk="0" hangingPunct="1">
        <a:lnSpc>
          <a:spcPct val="85000"/>
        </a:lnSpc>
        <a:spcBef>
          <a:spcPts val="855"/>
        </a:spcBef>
        <a:spcAft>
          <a:spcPts val="855"/>
        </a:spcAft>
        <a:buNone/>
        <a:defRPr sz="3500" b="0" i="0" kern="1200" spc="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1304290" rtl="0" eaLnBrk="1" latinLnBrk="0" hangingPunct="1">
        <a:lnSpc>
          <a:spcPct val="110000"/>
        </a:lnSpc>
        <a:spcBef>
          <a:spcPts val="855"/>
        </a:spcBef>
        <a:spcAft>
          <a:spcPts val="855"/>
        </a:spcAft>
        <a:buFont typeface="Arial" panose="020B0604020202090204" pitchFamily="34" charset="0"/>
        <a:buNone/>
        <a:defRPr sz="1555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07670" indent="-407670" algn="l" defTabSz="1304290" rtl="0" eaLnBrk="1" latinLnBrk="0" hangingPunct="1">
        <a:lnSpc>
          <a:spcPct val="110000"/>
        </a:lnSpc>
        <a:spcBef>
          <a:spcPts val="0"/>
        </a:spcBef>
        <a:spcAft>
          <a:spcPts val="855"/>
        </a:spcAft>
        <a:buFont typeface="Arial" panose="020B0604020202090204" pitchFamily="34" charset="0"/>
        <a:buChar char="•"/>
        <a:defRPr sz="1555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815340" indent="-407670" algn="l" defTabSz="1304290" rtl="0" eaLnBrk="1" latinLnBrk="0" hangingPunct="1">
        <a:lnSpc>
          <a:spcPct val="110000"/>
        </a:lnSpc>
        <a:spcBef>
          <a:spcPts val="0"/>
        </a:spcBef>
        <a:spcAft>
          <a:spcPts val="855"/>
        </a:spcAft>
        <a:buFont typeface="Arial" panose="020B0604020202090204" pitchFamily="34" charset="0"/>
        <a:buChar char="•"/>
        <a:defRPr sz="136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222375" indent="-407670" algn="l" defTabSz="1304290" rtl="0" eaLnBrk="1" latinLnBrk="0" hangingPunct="1">
        <a:lnSpc>
          <a:spcPct val="110000"/>
        </a:lnSpc>
        <a:spcBef>
          <a:spcPts val="0"/>
        </a:spcBef>
        <a:spcAft>
          <a:spcPts val="855"/>
        </a:spcAft>
        <a:buFont typeface="Arial" panose="020B0604020202090204" pitchFamily="34" charset="0"/>
        <a:buChar char="•"/>
        <a:defRPr sz="136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1304290" rtl="0" eaLnBrk="1" latinLnBrk="0" hangingPunct="1">
        <a:lnSpc>
          <a:spcPct val="110000"/>
        </a:lnSpc>
        <a:spcBef>
          <a:spcPts val="855"/>
        </a:spcBef>
        <a:spcAft>
          <a:spcPts val="855"/>
        </a:spcAft>
        <a:buFont typeface="Arial" panose="020B0604020202090204" pitchFamily="34" charset="0"/>
        <a:buNone/>
        <a:defRPr sz="875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1304290" rtl="0" eaLnBrk="1" latinLnBrk="0" hangingPunct="1">
        <a:lnSpc>
          <a:spcPct val="90000"/>
        </a:lnSpc>
        <a:spcBef>
          <a:spcPts val="855"/>
        </a:spcBef>
        <a:spcAft>
          <a:spcPts val="855"/>
        </a:spcAft>
        <a:buFont typeface="Arial" panose="020B0604020202090204" pitchFamily="34" charset="0"/>
        <a:buNone/>
        <a:defRPr lang="en-GB" sz="257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1304290" rtl="0" eaLnBrk="1" latinLnBrk="0" hangingPunct="1">
        <a:lnSpc>
          <a:spcPct val="90000"/>
        </a:lnSpc>
        <a:spcBef>
          <a:spcPts val="855"/>
        </a:spcBef>
        <a:spcAft>
          <a:spcPts val="855"/>
        </a:spcAft>
        <a:buFont typeface="Arial" panose="020B0604020202090204" pitchFamily="34" charset="0"/>
        <a:buNone/>
        <a:defRPr lang="en-GB" sz="257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1304290" rtl="0" eaLnBrk="1" latinLnBrk="0" hangingPunct="1">
        <a:lnSpc>
          <a:spcPct val="90000"/>
        </a:lnSpc>
        <a:spcBef>
          <a:spcPts val="855"/>
        </a:spcBef>
        <a:spcAft>
          <a:spcPts val="855"/>
        </a:spcAft>
        <a:buFont typeface="Arial" panose="020B0604020202090204" pitchFamily="34" charset="0"/>
        <a:buNone/>
        <a:defRPr lang="en-GB" sz="2570" b="0" i="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1304290" rtl="0" eaLnBrk="1" latinLnBrk="0" hangingPunct="1">
        <a:lnSpc>
          <a:spcPct val="90000"/>
        </a:lnSpc>
        <a:spcBef>
          <a:spcPts val="855"/>
        </a:spcBef>
        <a:spcAft>
          <a:spcPts val="855"/>
        </a:spcAft>
        <a:buFont typeface="Arial" panose="020B0604020202090204" pitchFamily="34" charset="0"/>
        <a:buNone/>
        <a:defRPr sz="2570" b="0" i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4290" rtl="0" eaLnBrk="1" latinLnBrk="0" hangingPunct="1">
        <a:defRPr sz="2570" kern="1200">
          <a:solidFill>
            <a:schemeClr val="tx1"/>
          </a:solidFill>
          <a:latin typeface="+mn-lt"/>
          <a:ea typeface="+mn-ea"/>
          <a:cs typeface="+mn-cs"/>
        </a:defRPr>
      </a:lvl1pPr>
      <a:lvl2pPr marL="652145" algn="l" defTabSz="1304290" rtl="0" eaLnBrk="1" latinLnBrk="0" hangingPunct="1">
        <a:defRPr sz="2570" kern="1200">
          <a:solidFill>
            <a:schemeClr val="tx1"/>
          </a:solidFill>
          <a:latin typeface="+mn-lt"/>
          <a:ea typeface="+mn-ea"/>
          <a:cs typeface="+mn-cs"/>
        </a:defRPr>
      </a:lvl2pPr>
      <a:lvl3pPr marL="1304290" algn="l" defTabSz="1304290" rtl="0" eaLnBrk="1" latinLnBrk="0" hangingPunct="1">
        <a:defRPr sz="2570" kern="1200">
          <a:solidFill>
            <a:schemeClr val="tx1"/>
          </a:solidFill>
          <a:latin typeface="+mn-lt"/>
          <a:ea typeface="+mn-ea"/>
          <a:cs typeface="+mn-cs"/>
        </a:defRPr>
      </a:lvl3pPr>
      <a:lvl4pPr marL="1956435" algn="l" defTabSz="1304290" rtl="0" eaLnBrk="1" latinLnBrk="0" hangingPunct="1">
        <a:defRPr sz="2570" kern="1200">
          <a:solidFill>
            <a:schemeClr val="tx1"/>
          </a:solidFill>
          <a:latin typeface="+mn-lt"/>
          <a:ea typeface="+mn-ea"/>
          <a:cs typeface="+mn-cs"/>
        </a:defRPr>
      </a:lvl4pPr>
      <a:lvl5pPr marL="2608580" algn="l" defTabSz="1304290" rtl="0" eaLnBrk="1" latinLnBrk="0" hangingPunct="1">
        <a:defRPr sz="2570" kern="1200">
          <a:solidFill>
            <a:schemeClr val="tx1"/>
          </a:solidFill>
          <a:latin typeface="+mn-lt"/>
          <a:ea typeface="+mn-ea"/>
          <a:cs typeface="+mn-cs"/>
        </a:defRPr>
      </a:lvl5pPr>
      <a:lvl6pPr marL="3260725" algn="l" defTabSz="1304290" rtl="0" eaLnBrk="1" latinLnBrk="0" hangingPunct="1">
        <a:defRPr sz="2570" kern="1200">
          <a:solidFill>
            <a:schemeClr val="tx1"/>
          </a:solidFill>
          <a:latin typeface="+mn-lt"/>
          <a:ea typeface="+mn-ea"/>
          <a:cs typeface="+mn-cs"/>
        </a:defRPr>
      </a:lvl6pPr>
      <a:lvl7pPr marL="3913505" algn="l" defTabSz="1304290" rtl="0" eaLnBrk="1" latinLnBrk="0" hangingPunct="1">
        <a:defRPr sz="2570" kern="1200">
          <a:solidFill>
            <a:schemeClr val="tx1"/>
          </a:solidFill>
          <a:latin typeface="+mn-lt"/>
          <a:ea typeface="+mn-ea"/>
          <a:cs typeface="+mn-cs"/>
        </a:defRPr>
      </a:lvl7pPr>
      <a:lvl8pPr marL="4565650" algn="l" defTabSz="1304290" rtl="0" eaLnBrk="1" latinLnBrk="0" hangingPunct="1">
        <a:defRPr sz="2570" kern="1200">
          <a:solidFill>
            <a:schemeClr val="tx1"/>
          </a:solidFill>
          <a:latin typeface="+mn-lt"/>
          <a:ea typeface="+mn-ea"/>
          <a:cs typeface="+mn-cs"/>
        </a:defRPr>
      </a:lvl8pPr>
      <a:lvl9pPr marL="5217795" algn="l" defTabSz="1304290" rtl="0" eaLnBrk="1" latinLnBrk="0" hangingPunct="1">
        <a:defRPr sz="25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0578" y="419872"/>
            <a:ext cx="5983159" cy="526113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0553" y="2333070"/>
            <a:ext cx="3207407" cy="5261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0551" y="9403398"/>
            <a:ext cx="6785828" cy="31027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855"/>
              </a:spcBef>
              <a:spcAft>
                <a:spcPts val="855"/>
              </a:spcAft>
              <a:defRPr sz="78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430"/>
              </a:spcAft>
            </a:pPr>
            <a:r>
              <a:rPr lang="en-US"/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430"/>
              </a:spcAft>
            </a:pPr>
            <a:r>
              <a:rPr lang="en-US"/>
              <a:t>Slide footer goes here if required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76492" y="10300163"/>
            <a:ext cx="369886" cy="27974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ct val="110000"/>
              </a:lnSpc>
              <a:spcBef>
                <a:spcPts val="855"/>
              </a:spcBef>
              <a:spcAft>
                <a:spcPts val="855"/>
              </a:spcAft>
              <a:defRPr sz="975" b="0" i="0">
                <a:solidFill>
                  <a:schemeClr val="tx1"/>
                </a:solidFill>
                <a:latin typeface="+mn-lt"/>
              </a:defRPr>
            </a:lvl1pPr>
          </a:lstStyle>
          <a:p>
            <a:fld id="{AEC8D767-5246-2244-A4A3-B8AFB218393C}" type="slidenum">
              <a:rPr lang="en-GB" smtClean="0"/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hdr="0" dt="0"/>
  <p:txStyles>
    <p:titleStyle>
      <a:lvl1pPr algn="l" defTabSz="1304290" rtl="0" eaLnBrk="1" latinLnBrk="0" hangingPunct="1">
        <a:lnSpc>
          <a:spcPct val="85000"/>
        </a:lnSpc>
        <a:spcBef>
          <a:spcPts val="855"/>
        </a:spcBef>
        <a:spcAft>
          <a:spcPts val="855"/>
        </a:spcAft>
        <a:buNone/>
        <a:defRPr sz="3500" b="0" i="0" kern="1200" spc="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1304290" rtl="0" eaLnBrk="1" latinLnBrk="0" hangingPunct="1">
        <a:lnSpc>
          <a:spcPct val="110000"/>
        </a:lnSpc>
        <a:spcBef>
          <a:spcPts val="855"/>
        </a:spcBef>
        <a:spcAft>
          <a:spcPts val="855"/>
        </a:spcAft>
        <a:buFont typeface="Arial" panose="020B0604020202090204" pitchFamily="34" charset="0"/>
        <a:buNone/>
        <a:defRPr sz="1555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07670" indent="-407670" algn="l" defTabSz="1304290" rtl="0" eaLnBrk="1" latinLnBrk="0" hangingPunct="1">
        <a:lnSpc>
          <a:spcPct val="110000"/>
        </a:lnSpc>
        <a:spcBef>
          <a:spcPts val="0"/>
        </a:spcBef>
        <a:spcAft>
          <a:spcPts val="855"/>
        </a:spcAft>
        <a:buFont typeface="Arial" panose="020B0604020202090204" pitchFamily="34" charset="0"/>
        <a:buChar char="•"/>
        <a:defRPr sz="1555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815340" indent="-407670" algn="l" defTabSz="1304290" rtl="0" eaLnBrk="1" latinLnBrk="0" hangingPunct="1">
        <a:lnSpc>
          <a:spcPct val="110000"/>
        </a:lnSpc>
        <a:spcBef>
          <a:spcPts val="0"/>
        </a:spcBef>
        <a:spcAft>
          <a:spcPts val="855"/>
        </a:spcAft>
        <a:buFont typeface="Arial" panose="020B0604020202090204" pitchFamily="34" charset="0"/>
        <a:buChar char="•"/>
        <a:defRPr sz="136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222375" indent="-407670" algn="l" defTabSz="1304290" rtl="0" eaLnBrk="1" latinLnBrk="0" hangingPunct="1">
        <a:lnSpc>
          <a:spcPct val="110000"/>
        </a:lnSpc>
        <a:spcBef>
          <a:spcPts val="0"/>
        </a:spcBef>
        <a:spcAft>
          <a:spcPts val="855"/>
        </a:spcAft>
        <a:buFont typeface="Arial" panose="020B0604020202090204" pitchFamily="34" charset="0"/>
        <a:buChar char="•"/>
        <a:defRPr sz="136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1304290" rtl="0" eaLnBrk="1" latinLnBrk="0" hangingPunct="1">
        <a:lnSpc>
          <a:spcPct val="110000"/>
        </a:lnSpc>
        <a:spcBef>
          <a:spcPts val="855"/>
        </a:spcBef>
        <a:spcAft>
          <a:spcPts val="855"/>
        </a:spcAft>
        <a:buFont typeface="Arial" panose="020B0604020202090204" pitchFamily="34" charset="0"/>
        <a:buNone/>
        <a:defRPr sz="875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1304290" rtl="0" eaLnBrk="1" latinLnBrk="0" hangingPunct="1">
        <a:lnSpc>
          <a:spcPct val="90000"/>
        </a:lnSpc>
        <a:spcBef>
          <a:spcPts val="855"/>
        </a:spcBef>
        <a:spcAft>
          <a:spcPts val="855"/>
        </a:spcAft>
        <a:buFont typeface="Arial" panose="020B0604020202090204" pitchFamily="34" charset="0"/>
        <a:buNone/>
        <a:defRPr lang="en-GB" sz="257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1304290" rtl="0" eaLnBrk="1" latinLnBrk="0" hangingPunct="1">
        <a:lnSpc>
          <a:spcPct val="90000"/>
        </a:lnSpc>
        <a:spcBef>
          <a:spcPts val="855"/>
        </a:spcBef>
        <a:spcAft>
          <a:spcPts val="855"/>
        </a:spcAft>
        <a:buFont typeface="Arial" panose="020B0604020202090204" pitchFamily="34" charset="0"/>
        <a:buNone/>
        <a:defRPr lang="en-GB" sz="257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1304290" rtl="0" eaLnBrk="1" latinLnBrk="0" hangingPunct="1">
        <a:lnSpc>
          <a:spcPct val="90000"/>
        </a:lnSpc>
        <a:spcBef>
          <a:spcPts val="855"/>
        </a:spcBef>
        <a:spcAft>
          <a:spcPts val="855"/>
        </a:spcAft>
        <a:buFont typeface="Arial" panose="020B0604020202090204" pitchFamily="34" charset="0"/>
        <a:buNone/>
        <a:defRPr lang="en-GB" sz="2570" b="0" i="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1304290" rtl="0" eaLnBrk="1" latinLnBrk="0" hangingPunct="1">
        <a:lnSpc>
          <a:spcPct val="90000"/>
        </a:lnSpc>
        <a:spcBef>
          <a:spcPts val="855"/>
        </a:spcBef>
        <a:spcAft>
          <a:spcPts val="855"/>
        </a:spcAft>
        <a:buFont typeface="Arial" panose="020B0604020202090204" pitchFamily="34" charset="0"/>
        <a:buNone/>
        <a:defRPr sz="2570" b="0" i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4290" rtl="0" eaLnBrk="1" latinLnBrk="0" hangingPunct="1">
        <a:defRPr sz="2570" kern="1200">
          <a:solidFill>
            <a:schemeClr val="tx1"/>
          </a:solidFill>
          <a:latin typeface="+mn-lt"/>
          <a:ea typeface="+mn-ea"/>
          <a:cs typeface="+mn-cs"/>
        </a:defRPr>
      </a:lvl1pPr>
      <a:lvl2pPr marL="652145" algn="l" defTabSz="1304290" rtl="0" eaLnBrk="1" latinLnBrk="0" hangingPunct="1">
        <a:defRPr sz="2570" kern="1200">
          <a:solidFill>
            <a:schemeClr val="tx1"/>
          </a:solidFill>
          <a:latin typeface="+mn-lt"/>
          <a:ea typeface="+mn-ea"/>
          <a:cs typeface="+mn-cs"/>
        </a:defRPr>
      </a:lvl2pPr>
      <a:lvl3pPr marL="1304290" algn="l" defTabSz="1304290" rtl="0" eaLnBrk="1" latinLnBrk="0" hangingPunct="1">
        <a:defRPr sz="2570" kern="1200">
          <a:solidFill>
            <a:schemeClr val="tx1"/>
          </a:solidFill>
          <a:latin typeface="+mn-lt"/>
          <a:ea typeface="+mn-ea"/>
          <a:cs typeface="+mn-cs"/>
        </a:defRPr>
      </a:lvl3pPr>
      <a:lvl4pPr marL="1956435" algn="l" defTabSz="1304290" rtl="0" eaLnBrk="1" latinLnBrk="0" hangingPunct="1">
        <a:defRPr sz="2570" kern="1200">
          <a:solidFill>
            <a:schemeClr val="tx1"/>
          </a:solidFill>
          <a:latin typeface="+mn-lt"/>
          <a:ea typeface="+mn-ea"/>
          <a:cs typeface="+mn-cs"/>
        </a:defRPr>
      </a:lvl4pPr>
      <a:lvl5pPr marL="2608580" algn="l" defTabSz="1304290" rtl="0" eaLnBrk="1" latinLnBrk="0" hangingPunct="1">
        <a:defRPr sz="2570" kern="1200">
          <a:solidFill>
            <a:schemeClr val="tx1"/>
          </a:solidFill>
          <a:latin typeface="+mn-lt"/>
          <a:ea typeface="+mn-ea"/>
          <a:cs typeface="+mn-cs"/>
        </a:defRPr>
      </a:lvl5pPr>
      <a:lvl6pPr marL="3260725" algn="l" defTabSz="1304290" rtl="0" eaLnBrk="1" latinLnBrk="0" hangingPunct="1">
        <a:defRPr sz="2570" kern="1200">
          <a:solidFill>
            <a:schemeClr val="tx1"/>
          </a:solidFill>
          <a:latin typeface="+mn-lt"/>
          <a:ea typeface="+mn-ea"/>
          <a:cs typeface="+mn-cs"/>
        </a:defRPr>
      </a:lvl6pPr>
      <a:lvl7pPr marL="3913505" algn="l" defTabSz="1304290" rtl="0" eaLnBrk="1" latinLnBrk="0" hangingPunct="1">
        <a:defRPr sz="2570" kern="1200">
          <a:solidFill>
            <a:schemeClr val="tx1"/>
          </a:solidFill>
          <a:latin typeface="+mn-lt"/>
          <a:ea typeface="+mn-ea"/>
          <a:cs typeface="+mn-cs"/>
        </a:defRPr>
      </a:lvl7pPr>
      <a:lvl8pPr marL="4565650" algn="l" defTabSz="1304290" rtl="0" eaLnBrk="1" latinLnBrk="0" hangingPunct="1">
        <a:defRPr sz="2570" kern="1200">
          <a:solidFill>
            <a:schemeClr val="tx1"/>
          </a:solidFill>
          <a:latin typeface="+mn-lt"/>
          <a:ea typeface="+mn-ea"/>
          <a:cs typeface="+mn-cs"/>
        </a:defRPr>
      </a:lvl8pPr>
      <a:lvl9pPr marL="5217795" algn="l" defTabSz="1304290" rtl="0" eaLnBrk="1" latinLnBrk="0" hangingPunct="1">
        <a:defRPr sz="25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0578" y="419872"/>
            <a:ext cx="5983159" cy="526113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0553" y="2333070"/>
            <a:ext cx="3207407" cy="5261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0551" y="9403398"/>
            <a:ext cx="6785828" cy="31027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855"/>
              </a:spcBef>
              <a:spcAft>
                <a:spcPts val="855"/>
              </a:spcAft>
              <a:defRPr sz="78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430"/>
              </a:spcAft>
            </a:pPr>
            <a:r>
              <a:rPr lang="en-US"/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430"/>
              </a:spcAft>
            </a:pPr>
            <a:r>
              <a:rPr lang="en-US"/>
              <a:t>Slide footer goes here if required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76492" y="10300163"/>
            <a:ext cx="369886" cy="27974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ct val="110000"/>
              </a:lnSpc>
              <a:spcBef>
                <a:spcPts val="855"/>
              </a:spcBef>
              <a:spcAft>
                <a:spcPts val="855"/>
              </a:spcAft>
              <a:defRPr sz="975" b="0" i="0">
                <a:solidFill>
                  <a:schemeClr val="tx1"/>
                </a:solidFill>
                <a:latin typeface="+mn-lt"/>
              </a:defRPr>
            </a:lvl1pPr>
          </a:lstStyle>
          <a:p>
            <a:fld id="{AEC8D767-5246-2244-A4A3-B8AFB218393C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4" name="Graphic 5"/>
          <p:cNvSpPr>
            <a:spLocks noChangeAspect="1"/>
          </p:cNvSpPr>
          <p:nvPr userDrawn="1"/>
        </p:nvSpPr>
        <p:spPr>
          <a:xfrm>
            <a:off x="360551" y="10222806"/>
            <a:ext cx="1996158" cy="449147"/>
          </a:xfrm>
          <a:custGeom>
            <a:avLst/>
            <a:gdLst>
              <a:gd name="connsiteX0" fmla="*/ 515919 w 5217319"/>
              <a:gd name="connsiteY0" fmla="*/ 444383 h 1046042"/>
              <a:gd name="connsiteX1" fmla="*/ 436291 w 5217319"/>
              <a:gd name="connsiteY1" fmla="*/ 308665 h 1046042"/>
              <a:gd name="connsiteX2" fmla="*/ 515919 w 5217319"/>
              <a:gd name="connsiteY2" fmla="*/ 172948 h 1046042"/>
              <a:gd name="connsiteX3" fmla="*/ 595547 w 5217319"/>
              <a:gd name="connsiteY3" fmla="*/ 308665 h 1046042"/>
              <a:gd name="connsiteX4" fmla="*/ 515919 w 5217319"/>
              <a:gd name="connsiteY4" fmla="*/ 444383 h 1046042"/>
              <a:gd name="connsiteX5" fmla="*/ 515919 w 5217319"/>
              <a:gd name="connsiteY5" fmla="*/ 136478 h 1046042"/>
              <a:gd name="connsiteX6" fmla="*/ 354094 w 5217319"/>
              <a:gd name="connsiteY6" fmla="*/ 308665 h 1046042"/>
              <a:gd name="connsiteX7" fmla="*/ 515919 w 5217319"/>
              <a:gd name="connsiteY7" fmla="*/ 480853 h 1046042"/>
              <a:gd name="connsiteX8" fmla="*/ 677744 w 5217319"/>
              <a:gd name="connsiteY8" fmla="*/ 308665 h 1046042"/>
              <a:gd name="connsiteX9" fmla="*/ 515919 w 5217319"/>
              <a:gd name="connsiteY9" fmla="*/ 136478 h 1046042"/>
              <a:gd name="connsiteX10" fmla="*/ 1239519 w 5217319"/>
              <a:gd name="connsiteY10" fmla="*/ 136478 h 1046042"/>
              <a:gd name="connsiteX11" fmla="*/ 1147999 w 5217319"/>
              <a:gd name="connsiteY11" fmla="*/ 184819 h 1046042"/>
              <a:gd name="connsiteX12" fmla="*/ 1144003 w 5217319"/>
              <a:gd name="connsiteY12" fmla="*/ 184819 h 1046042"/>
              <a:gd name="connsiteX13" fmla="*/ 1144003 w 5217319"/>
              <a:gd name="connsiteY13" fmla="*/ 143126 h 1046042"/>
              <a:gd name="connsiteX14" fmla="*/ 1065707 w 5217319"/>
              <a:gd name="connsiteY14" fmla="*/ 143126 h 1046042"/>
              <a:gd name="connsiteX15" fmla="*/ 1065707 w 5217319"/>
              <a:gd name="connsiteY15" fmla="*/ 474205 h 1046042"/>
              <a:gd name="connsiteX16" fmla="*/ 1144003 w 5217319"/>
              <a:gd name="connsiteY16" fmla="*/ 474205 h 1046042"/>
              <a:gd name="connsiteX17" fmla="*/ 1144003 w 5217319"/>
              <a:gd name="connsiteY17" fmla="*/ 260229 h 1046042"/>
              <a:gd name="connsiteX18" fmla="*/ 1209646 w 5217319"/>
              <a:gd name="connsiteY18" fmla="*/ 182730 h 1046042"/>
              <a:gd name="connsiteX19" fmla="*/ 1266062 w 5217319"/>
              <a:gd name="connsiteY19" fmla="*/ 247597 h 1046042"/>
              <a:gd name="connsiteX20" fmla="*/ 1266062 w 5217319"/>
              <a:gd name="connsiteY20" fmla="*/ 474015 h 1046042"/>
              <a:gd name="connsiteX21" fmla="*/ 1344358 w 5217319"/>
              <a:gd name="connsiteY21" fmla="*/ 474015 h 1046042"/>
              <a:gd name="connsiteX22" fmla="*/ 1344358 w 5217319"/>
              <a:gd name="connsiteY22" fmla="*/ 247027 h 1046042"/>
              <a:gd name="connsiteX23" fmla="*/ 1239519 w 5217319"/>
              <a:gd name="connsiteY23" fmla="*/ 136478 h 1046042"/>
              <a:gd name="connsiteX24" fmla="*/ 1521976 w 5217319"/>
              <a:gd name="connsiteY24" fmla="*/ 136478 h 1046042"/>
              <a:gd name="connsiteX25" fmla="*/ 1395256 w 5217319"/>
              <a:gd name="connsiteY25" fmla="*/ 231831 h 1046042"/>
              <a:gd name="connsiteX26" fmla="*/ 1475550 w 5217319"/>
              <a:gd name="connsiteY26" fmla="*/ 327185 h 1046042"/>
              <a:gd name="connsiteX27" fmla="*/ 1541859 w 5217319"/>
              <a:gd name="connsiteY27" fmla="*/ 343711 h 1046042"/>
              <a:gd name="connsiteX28" fmla="*/ 1592947 w 5217319"/>
              <a:gd name="connsiteY28" fmla="*/ 392717 h 1046042"/>
              <a:gd name="connsiteX29" fmla="*/ 1527303 w 5217319"/>
              <a:gd name="connsiteY29" fmla="*/ 445713 h 1046042"/>
              <a:gd name="connsiteX30" fmla="*/ 1451671 w 5217319"/>
              <a:gd name="connsiteY30" fmla="*/ 368879 h 1046042"/>
              <a:gd name="connsiteX31" fmla="*/ 1381366 w 5217319"/>
              <a:gd name="connsiteY31" fmla="*/ 388728 h 1046042"/>
              <a:gd name="connsiteX32" fmla="*/ 1518646 w 5217319"/>
              <a:gd name="connsiteY32" fmla="*/ 480758 h 1046042"/>
              <a:gd name="connsiteX33" fmla="*/ 1656592 w 5217319"/>
              <a:gd name="connsiteY33" fmla="*/ 372868 h 1046042"/>
              <a:gd name="connsiteX34" fmla="*/ 1568402 w 5217319"/>
              <a:gd name="connsiteY34" fmla="*/ 273525 h 1046042"/>
              <a:gd name="connsiteX35" fmla="*/ 1504756 w 5217319"/>
              <a:gd name="connsiteY35" fmla="*/ 257664 h 1046042"/>
              <a:gd name="connsiteX36" fmla="*/ 1458996 w 5217319"/>
              <a:gd name="connsiteY36" fmla="*/ 213976 h 1046042"/>
              <a:gd name="connsiteX37" fmla="*/ 1515411 w 5217319"/>
              <a:gd name="connsiteY37" fmla="*/ 171618 h 1046042"/>
              <a:gd name="connsiteX38" fmla="*/ 1583053 w 5217319"/>
              <a:gd name="connsiteY38" fmla="*/ 235155 h 1046042"/>
              <a:gd name="connsiteX39" fmla="*/ 1649362 w 5217319"/>
              <a:gd name="connsiteY39" fmla="*/ 215306 h 1046042"/>
              <a:gd name="connsiteX40" fmla="*/ 1521976 w 5217319"/>
              <a:gd name="connsiteY40" fmla="*/ 136478 h 1046042"/>
              <a:gd name="connsiteX41" fmla="*/ 1850954 w 5217319"/>
              <a:gd name="connsiteY41" fmla="*/ 444383 h 1046042"/>
              <a:gd name="connsiteX42" fmla="*/ 1771326 w 5217319"/>
              <a:gd name="connsiteY42" fmla="*/ 308665 h 1046042"/>
              <a:gd name="connsiteX43" fmla="*/ 1850954 w 5217319"/>
              <a:gd name="connsiteY43" fmla="*/ 172948 h 1046042"/>
              <a:gd name="connsiteX44" fmla="*/ 1930582 w 5217319"/>
              <a:gd name="connsiteY44" fmla="*/ 308665 h 1046042"/>
              <a:gd name="connsiteX45" fmla="*/ 1850954 w 5217319"/>
              <a:gd name="connsiteY45" fmla="*/ 444383 h 1046042"/>
              <a:gd name="connsiteX46" fmla="*/ 1850954 w 5217319"/>
              <a:gd name="connsiteY46" fmla="*/ 136478 h 1046042"/>
              <a:gd name="connsiteX47" fmla="*/ 1689129 w 5217319"/>
              <a:gd name="connsiteY47" fmla="*/ 308665 h 1046042"/>
              <a:gd name="connsiteX48" fmla="*/ 1850954 w 5217319"/>
              <a:gd name="connsiteY48" fmla="*/ 480853 h 1046042"/>
              <a:gd name="connsiteX49" fmla="*/ 2012779 w 5217319"/>
              <a:gd name="connsiteY49" fmla="*/ 308665 h 1046042"/>
              <a:gd name="connsiteX50" fmla="*/ 1850954 w 5217319"/>
              <a:gd name="connsiteY50" fmla="*/ 136478 h 1046042"/>
              <a:gd name="connsiteX51" fmla="*/ 2232923 w 5217319"/>
              <a:gd name="connsiteY51" fmla="*/ 136478 h 1046042"/>
              <a:gd name="connsiteX52" fmla="*/ 2141402 w 5217319"/>
              <a:gd name="connsiteY52" fmla="*/ 184819 h 1046042"/>
              <a:gd name="connsiteX53" fmla="*/ 2137407 w 5217319"/>
              <a:gd name="connsiteY53" fmla="*/ 184819 h 1046042"/>
              <a:gd name="connsiteX54" fmla="*/ 2137407 w 5217319"/>
              <a:gd name="connsiteY54" fmla="*/ 143126 h 1046042"/>
              <a:gd name="connsiteX55" fmla="*/ 2059110 w 5217319"/>
              <a:gd name="connsiteY55" fmla="*/ 143126 h 1046042"/>
              <a:gd name="connsiteX56" fmla="*/ 2059110 w 5217319"/>
              <a:gd name="connsiteY56" fmla="*/ 474205 h 1046042"/>
              <a:gd name="connsiteX57" fmla="*/ 2137407 w 5217319"/>
              <a:gd name="connsiteY57" fmla="*/ 474205 h 1046042"/>
              <a:gd name="connsiteX58" fmla="*/ 2137407 w 5217319"/>
              <a:gd name="connsiteY58" fmla="*/ 260229 h 1046042"/>
              <a:gd name="connsiteX59" fmla="*/ 2203050 w 5217319"/>
              <a:gd name="connsiteY59" fmla="*/ 182730 h 1046042"/>
              <a:gd name="connsiteX60" fmla="*/ 2259465 w 5217319"/>
              <a:gd name="connsiteY60" fmla="*/ 247597 h 1046042"/>
              <a:gd name="connsiteX61" fmla="*/ 2259465 w 5217319"/>
              <a:gd name="connsiteY61" fmla="*/ 474015 h 1046042"/>
              <a:gd name="connsiteX62" fmla="*/ 2337762 w 5217319"/>
              <a:gd name="connsiteY62" fmla="*/ 474015 h 1046042"/>
              <a:gd name="connsiteX63" fmla="*/ 2337762 w 5217319"/>
              <a:gd name="connsiteY63" fmla="*/ 247027 h 1046042"/>
              <a:gd name="connsiteX64" fmla="*/ 2232923 w 5217319"/>
              <a:gd name="connsiteY64" fmla="*/ 136478 h 1046042"/>
              <a:gd name="connsiteX65" fmla="*/ 3395477 w 5217319"/>
              <a:gd name="connsiteY65" fmla="*/ 444383 h 1046042"/>
              <a:gd name="connsiteX66" fmla="*/ 3315849 w 5217319"/>
              <a:gd name="connsiteY66" fmla="*/ 308665 h 1046042"/>
              <a:gd name="connsiteX67" fmla="*/ 3395477 w 5217319"/>
              <a:gd name="connsiteY67" fmla="*/ 172948 h 1046042"/>
              <a:gd name="connsiteX68" fmla="*/ 3475105 w 5217319"/>
              <a:gd name="connsiteY68" fmla="*/ 308665 h 1046042"/>
              <a:gd name="connsiteX69" fmla="*/ 3395477 w 5217319"/>
              <a:gd name="connsiteY69" fmla="*/ 444383 h 1046042"/>
              <a:gd name="connsiteX70" fmla="*/ 3395477 w 5217319"/>
              <a:gd name="connsiteY70" fmla="*/ 136478 h 1046042"/>
              <a:gd name="connsiteX71" fmla="*/ 3233652 w 5217319"/>
              <a:gd name="connsiteY71" fmla="*/ 308665 h 1046042"/>
              <a:gd name="connsiteX72" fmla="*/ 3395477 w 5217319"/>
              <a:gd name="connsiteY72" fmla="*/ 480853 h 1046042"/>
              <a:gd name="connsiteX73" fmla="*/ 3557302 w 5217319"/>
              <a:gd name="connsiteY73" fmla="*/ 308665 h 1046042"/>
              <a:gd name="connsiteX74" fmla="*/ 3395477 w 5217319"/>
              <a:gd name="connsiteY74" fmla="*/ 136478 h 1046042"/>
              <a:gd name="connsiteX75" fmla="*/ 4118981 w 5217319"/>
              <a:gd name="connsiteY75" fmla="*/ 136478 h 1046042"/>
              <a:gd name="connsiteX76" fmla="*/ 4027461 w 5217319"/>
              <a:gd name="connsiteY76" fmla="*/ 184819 h 1046042"/>
              <a:gd name="connsiteX77" fmla="*/ 4023466 w 5217319"/>
              <a:gd name="connsiteY77" fmla="*/ 184819 h 1046042"/>
              <a:gd name="connsiteX78" fmla="*/ 4023466 w 5217319"/>
              <a:gd name="connsiteY78" fmla="*/ 143126 h 1046042"/>
              <a:gd name="connsiteX79" fmla="*/ 3945169 w 5217319"/>
              <a:gd name="connsiteY79" fmla="*/ 143126 h 1046042"/>
              <a:gd name="connsiteX80" fmla="*/ 3945169 w 5217319"/>
              <a:gd name="connsiteY80" fmla="*/ 474205 h 1046042"/>
              <a:gd name="connsiteX81" fmla="*/ 4023466 w 5217319"/>
              <a:gd name="connsiteY81" fmla="*/ 474205 h 1046042"/>
              <a:gd name="connsiteX82" fmla="*/ 4023466 w 5217319"/>
              <a:gd name="connsiteY82" fmla="*/ 260229 h 1046042"/>
              <a:gd name="connsiteX83" fmla="*/ 4089109 w 5217319"/>
              <a:gd name="connsiteY83" fmla="*/ 182730 h 1046042"/>
              <a:gd name="connsiteX84" fmla="*/ 4145524 w 5217319"/>
              <a:gd name="connsiteY84" fmla="*/ 247597 h 1046042"/>
              <a:gd name="connsiteX85" fmla="*/ 4145524 w 5217319"/>
              <a:gd name="connsiteY85" fmla="*/ 474015 h 1046042"/>
              <a:gd name="connsiteX86" fmla="*/ 4223821 w 5217319"/>
              <a:gd name="connsiteY86" fmla="*/ 474015 h 1046042"/>
              <a:gd name="connsiteX87" fmla="*/ 4223821 w 5217319"/>
              <a:gd name="connsiteY87" fmla="*/ 247027 h 1046042"/>
              <a:gd name="connsiteX88" fmla="*/ 4118981 w 5217319"/>
              <a:gd name="connsiteY88" fmla="*/ 136478 h 1046042"/>
              <a:gd name="connsiteX89" fmla="*/ 4401534 w 5217319"/>
              <a:gd name="connsiteY89" fmla="*/ 136478 h 1046042"/>
              <a:gd name="connsiteX90" fmla="*/ 4274813 w 5217319"/>
              <a:gd name="connsiteY90" fmla="*/ 231831 h 1046042"/>
              <a:gd name="connsiteX91" fmla="*/ 4355108 w 5217319"/>
              <a:gd name="connsiteY91" fmla="*/ 327185 h 1046042"/>
              <a:gd name="connsiteX92" fmla="*/ 4421417 w 5217319"/>
              <a:gd name="connsiteY92" fmla="*/ 343711 h 1046042"/>
              <a:gd name="connsiteX93" fmla="*/ 4472505 w 5217319"/>
              <a:gd name="connsiteY93" fmla="*/ 392717 h 1046042"/>
              <a:gd name="connsiteX94" fmla="*/ 4406861 w 5217319"/>
              <a:gd name="connsiteY94" fmla="*/ 445713 h 1046042"/>
              <a:gd name="connsiteX95" fmla="*/ 4331229 w 5217319"/>
              <a:gd name="connsiteY95" fmla="*/ 368879 h 1046042"/>
              <a:gd name="connsiteX96" fmla="*/ 4260924 w 5217319"/>
              <a:gd name="connsiteY96" fmla="*/ 388728 h 1046042"/>
              <a:gd name="connsiteX97" fmla="*/ 4398204 w 5217319"/>
              <a:gd name="connsiteY97" fmla="*/ 480758 h 1046042"/>
              <a:gd name="connsiteX98" fmla="*/ 4536150 w 5217319"/>
              <a:gd name="connsiteY98" fmla="*/ 372868 h 1046042"/>
              <a:gd name="connsiteX99" fmla="*/ 4447960 w 5217319"/>
              <a:gd name="connsiteY99" fmla="*/ 273525 h 1046042"/>
              <a:gd name="connsiteX100" fmla="*/ 4384314 w 5217319"/>
              <a:gd name="connsiteY100" fmla="*/ 257664 h 1046042"/>
              <a:gd name="connsiteX101" fmla="*/ 4338554 w 5217319"/>
              <a:gd name="connsiteY101" fmla="*/ 213976 h 1046042"/>
              <a:gd name="connsiteX102" fmla="*/ 4394969 w 5217319"/>
              <a:gd name="connsiteY102" fmla="*/ 171618 h 1046042"/>
              <a:gd name="connsiteX103" fmla="*/ 4462610 w 5217319"/>
              <a:gd name="connsiteY103" fmla="*/ 235155 h 1046042"/>
              <a:gd name="connsiteX104" fmla="*/ 4528920 w 5217319"/>
              <a:gd name="connsiteY104" fmla="*/ 215306 h 1046042"/>
              <a:gd name="connsiteX105" fmla="*/ 4401534 w 5217319"/>
              <a:gd name="connsiteY105" fmla="*/ 136478 h 1046042"/>
              <a:gd name="connsiteX106" fmla="*/ 4730417 w 5217319"/>
              <a:gd name="connsiteY106" fmla="*/ 444383 h 1046042"/>
              <a:gd name="connsiteX107" fmla="*/ 4650788 w 5217319"/>
              <a:gd name="connsiteY107" fmla="*/ 308665 h 1046042"/>
              <a:gd name="connsiteX108" fmla="*/ 4730417 w 5217319"/>
              <a:gd name="connsiteY108" fmla="*/ 172948 h 1046042"/>
              <a:gd name="connsiteX109" fmla="*/ 4810045 w 5217319"/>
              <a:gd name="connsiteY109" fmla="*/ 308665 h 1046042"/>
              <a:gd name="connsiteX110" fmla="*/ 4730417 w 5217319"/>
              <a:gd name="connsiteY110" fmla="*/ 444383 h 1046042"/>
              <a:gd name="connsiteX111" fmla="*/ 4730417 w 5217319"/>
              <a:gd name="connsiteY111" fmla="*/ 136478 h 1046042"/>
              <a:gd name="connsiteX112" fmla="*/ 4568591 w 5217319"/>
              <a:gd name="connsiteY112" fmla="*/ 308665 h 1046042"/>
              <a:gd name="connsiteX113" fmla="*/ 4730417 w 5217319"/>
              <a:gd name="connsiteY113" fmla="*/ 480853 h 1046042"/>
              <a:gd name="connsiteX114" fmla="*/ 4892242 w 5217319"/>
              <a:gd name="connsiteY114" fmla="*/ 308665 h 1046042"/>
              <a:gd name="connsiteX115" fmla="*/ 4730417 w 5217319"/>
              <a:gd name="connsiteY115" fmla="*/ 136478 h 1046042"/>
              <a:gd name="connsiteX116" fmla="*/ 5112481 w 5217319"/>
              <a:gd name="connsiteY116" fmla="*/ 136478 h 1046042"/>
              <a:gd name="connsiteX117" fmla="*/ 5020960 w 5217319"/>
              <a:gd name="connsiteY117" fmla="*/ 184819 h 1046042"/>
              <a:gd name="connsiteX118" fmla="*/ 5016964 w 5217319"/>
              <a:gd name="connsiteY118" fmla="*/ 184819 h 1046042"/>
              <a:gd name="connsiteX119" fmla="*/ 5016964 w 5217319"/>
              <a:gd name="connsiteY119" fmla="*/ 143126 h 1046042"/>
              <a:gd name="connsiteX120" fmla="*/ 4938668 w 5217319"/>
              <a:gd name="connsiteY120" fmla="*/ 143126 h 1046042"/>
              <a:gd name="connsiteX121" fmla="*/ 4938668 w 5217319"/>
              <a:gd name="connsiteY121" fmla="*/ 474205 h 1046042"/>
              <a:gd name="connsiteX122" fmla="*/ 5016964 w 5217319"/>
              <a:gd name="connsiteY122" fmla="*/ 474205 h 1046042"/>
              <a:gd name="connsiteX123" fmla="*/ 5016964 w 5217319"/>
              <a:gd name="connsiteY123" fmla="*/ 260229 h 1046042"/>
              <a:gd name="connsiteX124" fmla="*/ 5082608 w 5217319"/>
              <a:gd name="connsiteY124" fmla="*/ 182730 h 1046042"/>
              <a:gd name="connsiteX125" fmla="*/ 5139023 w 5217319"/>
              <a:gd name="connsiteY125" fmla="*/ 247597 h 1046042"/>
              <a:gd name="connsiteX126" fmla="*/ 5139023 w 5217319"/>
              <a:gd name="connsiteY126" fmla="*/ 474015 h 1046042"/>
              <a:gd name="connsiteX127" fmla="*/ 5217319 w 5217319"/>
              <a:gd name="connsiteY127" fmla="*/ 474015 h 1046042"/>
              <a:gd name="connsiteX128" fmla="*/ 5217319 w 5217319"/>
              <a:gd name="connsiteY128" fmla="*/ 247027 h 1046042"/>
              <a:gd name="connsiteX129" fmla="*/ 5112481 w 5217319"/>
              <a:gd name="connsiteY129" fmla="*/ 136478 h 1046042"/>
              <a:gd name="connsiteX130" fmla="*/ 307763 w 5217319"/>
              <a:gd name="connsiteY130" fmla="*/ 10637 h 1046042"/>
              <a:gd name="connsiteX131" fmla="*/ 225471 w 5217319"/>
              <a:gd name="connsiteY131" fmla="*/ 10637 h 1046042"/>
              <a:gd name="connsiteX132" fmla="*/ 225471 w 5217319"/>
              <a:gd name="connsiteY132" fmla="*/ 353018 h 1046042"/>
              <a:gd name="connsiteX133" fmla="*/ 153834 w 5217319"/>
              <a:gd name="connsiteY133" fmla="*/ 441724 h 1046042"/>
              <a:gd name="connsiteX134" fmla="*/ 82197 w 5217319"/>
              <a:gd name="connsiteY134" fmla="*/ 346370 h 1046042"/>
              <a:gd name="connsiteX135" fmla="*/ 82197 w 5217319"/>
              <a:gd name="connsiteY135" fmla="*/ 282832 h 1046042"/>
              <a:gd name="connsiteX136" fmla="*/ 0 w 5217319"/>
              <a:gd name="connsiteY136" fmla="*/ 303347 h 1046042"/>
              <a:gd name="connsiteX137" fmla="*/ 0 w 5217319"/>
              <a:gd name="connsiteY137" fmla="*/ 331839 h 1046042"/>
              <a:gd name="connsiteX138" fmla="*/ 153929 w 5217319"/>
              <a:gd name="connsiteY138" fmla="*/ 484842 h 1046042"/>
              <a:gd name="connsiteX139" fmla="*/ 307763 w 5217319"/>
              <a:gd name="connsiteY139" fmla="*/ 331839 h 1046042"/>
              <a:gd name="connsiteX140" fmla="*/ 307763 w 5217319"/>
              <a:gd name="connsiteY140" fmla="*/ 10637 h 1046042"/>
              <a:gd name="connsiteX141" fmla="*/ 802467 w 5217319"/>
              <a:gd name="connsiteY141" fmla="*/ 10637 h 1046042"/>
              <a:gd name="connsiteX142" fmla="*/ 724171 w 5217319"/>
              <a:gd name="connsiteY142" fmla="*/ 10637 h 1046042"/>
              <a:gd name="connsiteX143" fmla="*/ 724171 w 5217319"/>
              <a:gd name="connsiteY143" fmla="*/ 474110 h 1046042"/>
              <a:gd name="connsiteX144" fmla="*/ 802467 w 5217319"/>
              <a:gd name="connsiteY144" fmla="*/ 474110 h 1046042"/>
              <a:gd name="connsiteX145" fmla="*/ 802467 w 5217319"/>
              <a:gd name="connsiteY145" fmla="*/ 260229 h 1046042"/>
              <a:gd name="connsiteX146" fmla="*/ 868110 w 5217319"/>
              <a:gd name="connsiteY146" fmla="*/ 182730 h 1046042"/>
              <a:gd name="connsiteX147" fmla="*/ 924526 w 5217319"/>
              <a:gd name="connsiteY147" fmla="*/ 247597 h 1046042"/>
              <a:gd name="connsiteX148" fmla="*/ 924526 w 5217319"/>
              <a:gd name="connsiteY148" fmla="*/ 474015 h 1046042"/>
              <a:gd name="connsiteX149" fmla="*/ 1002822 w 5217319"/>
              <a:gd name="connsiteY149" fmla="*/ 474015 h 1046042"/>
              <a:gd name="connsiteX150" fmla="*/ 1002822 w 5217319"/>
              <a:gd name="connsiteY150" fmla="*/ 247027 h 1046042"/>
              <a:gd name="connsiteX151" fmla="*/ 897983 w 5217319"/>
              <a:gd name="connsiteY151" fmla="*/ 136478 h 1046042"/>
              <a:gd name="connsiteX152" fmla="*/ 806463 w 5217319"/>
              <a:gd name="connsiteY152" fmla="*/ 184819 h 1046042"/>
              <a:gd name="connsiteX153" fmla="*/ 802467 w 5217319"/>
              <a:gd name="connsiteY153" fmla="*/ 184819 h 1046042"/>
              <a:gd name="connsiteX154" fmla="*/ 802467 w 5217319"/>
              <a:gd name="connsiteY154" fmla="*/ 10637 h 1046042"/>
              <a:gd name="connsiteX155" fmla="*/ 3187225 w 5217319"/>
              <a:gd name="connsiteY155" fmla="*/ 10637 h 1046042"/>
              <a:gd name="connsiteX156" fmla="*/ 3105029 w 5217319"/>
              <a:gd name="connsiteY156" fmla="*/ 10637 h 1046042"/>
              <a:gd name="connsiteX157" fmla="*/ 3105029 w 5217319"/>
              <a:gd name="connsiteY157" fmla="*/ 353018 h 1046042"/>
              <a:gd name="connsiteX158" fmla="*/ 3033392 w 5217319"/>
              <a:gd name="connsiteY158" fmla="*/ 441724 h 1046042"/>
              <a:gd name="connsiteX159" fmla="*/ 2961755 w 5217319"/>
              <a:gd name="connsiteY159" fmla="*/ 346370 h 1046042"/>
              <a:gd name="connsiteX160" fmla="*/ 2961755 w 5217319"/>
              <a:gd name="connsiteY160" fmla="*/ 282832 h 1046042"/>
              <a:gd name="connsiteX161" fmla="*/ 2879558 w 5217319"/>
              <a:gd name="connsiteY161" fmla="*/ 303347 h 1046042"/>
              <a:gd name="connsiteX162" fmla="*/ 2879558 w 5217319"/>
              <a:gd name="connsiteY162" fmla="*/ 331839 h 1046042"/>
              <a:gd name="connsiteX163" fmla="*/ 3033487 w 5217319"/>
              <a:gd name="connsiteY163" fmla="*/ 484842 h 1046042"/>
              <a:gd name="connsiteX164" fmla="*/ 3187321 w 5217319"/>
              <a:gd name="connsiteY164" fmla="*/ 331839 h 1046042"/>
              <a:gd name="connsiteX165" fmla="*/ 3187321 w 5217319"/>
              <a:gd name="connsiteY165" fmla="*/ 10637 h 1046042"/>
              <a:gd name="connsiteX166" fmla="*/ 3681929 w 5217319"/>
              <a:gd name="connsiteY166" fmla="*/ 10637 h 1046042"/>
              <a:gd name="connsiteX167" fmla="*/ 3603633 w 5217319"/>
              <a:gd name="connsiteY167" fmla="*/ 10637 h 1046042"/>
              <a:gd name="connsiteX168" fmla="*/ 3603633 w 5217319"/>
              <a:gd name="connsiteY168" fmla="*/ 474110 h 1046042"/>
              <a:gd name="connsiteX169" fmla="*/ 3681929 w 5217319"/>
              <a:gd name="connsiteY169" fmla="*/ 474110 h 1046042"/>
              <a:gd name="connsiteX170" fmla="*/ 3681929 w 5217319"/>
              <a:gd name="connsiteY170" fmla="*/ 260229 h 1046042"/>
              <a:gd name="connsiteX171" fmla="*/ 3747573 w 5217319"/>
              <a:gd name="connsiteY171" fmla="*/ 182730 h 1046042"/>
              <a:gd name="connsiteX172" fmla="*/ 3803988 w 5217319"/>
              <a:gd name="connsiteY172" fmla="*/ 247597 h 1046042"/>
              <a:gd name="connsiteX173" fmla="*/ 3803988 w 5217319"/>
              <a:gd name="connsiteY173" fmla="*/ 474015 h 1046042"/>
              <a:gd name="connsiteX174" fmla="*/ 3882285 w 5217319"/>
              <a:gd name="connsiteY174" fmla="*/ 474015 h 1046042"/>
              <a:gd name="connsiteX175" fmla="*/ 3882285 w 5217319"/>
              <a:gd name="connsiteY175" fmla="*/ 247027 h 1046042"/>
              <a:gd name="connsiteX176" fmla="*/ 3777445 w 5217319"/>
              <a:gd name="connsiteY176" fmla="*/ 136478 h 1046042"/>
              <a:gd name="connsiteX177" fmla="*/ 3685925 w 5217319"/>
              <a:gd name="connsiteY177" fmla="*/ 184819 h 1046042"/>
              <a:gd name="connsiteX178" fmla="*/ 3681929 w 5217319"/>
              <a:gd name="connsiteY178" fmla="*/ 184819 h 1046042"/>
              <a:gd name="connsiteX179" fmla="*/ 3681929 w 5217319"/>
              <a:gd name="connsiteY179" fmla="*/ 10637 h 1046042"/>
              <a:gd name="connsiteX180" fmla="*/ 2595674 w 5217319"/>
              <a:gd name="connsiteY180" fmla="*/ 436405 h 1046042"/>
              <a:gd name="connsiteX181" fmla="*/ 2492832 w 5217319"/>
              <a:gd name="connsiteY181" fmla="*/ 329749 h 1046042"/>
              <a:gd name="connsiteX182" fmla="*/ 2533265 w 5217319"/>
              <a:gd name="connsiteY182" fmla="*/ 245698 h 1046042"/>
              <a:gd name="connsiteX183" fmla="*/ 2683198 w 5217319"/>
              <a:gd name="connsiteY183" fmla="*/ 409243 h 1046042"/>
              <a:gd name="connsiteX184" fmla="*/ 2595674 w 5217319"/>
              <a:gd name="connsiteY184" fmla="*/ 436405 h 1046042"/>
              <a:gd name="connsiteX185" fmla="*/ 2741611 w 5217319"/>
              <a:gd name="connsiteY185" fmla="*/ 354918 h 1046042"/>
              <a:gd name="connsiteX186" fmla="*/ 2611656 w 5217319"/>
              <a:gd name="connsiteY186" fmla="*/ 211887 h 1046042"/>
              <a:gd name="connsiteX187" fmla="*/ 2675968 w 5217319"/>
              <a:gd name="connsiteY187" fmla="*/ 199255 h 1046042"/>
              <a:gd name="connsiteX188" fmla="*/ 2762827 w 5217319"/>
              <a:gd name="connsiteY188" fmla="*/ 283972 h 1046042"/>
              <a:gd name="connsiteX189" fmla="*/ 2741611 w 5217319"/>
              <a:gd name="connsiteY189" fmla="*/ 354918 h 1046042"/>
              <a:gd name="connsiteX190" fmla="*/ 2593676 w 5217319"/>
              <a:gd name="connsiteY190" fmla="*/ 192702 h 1046042"/>
              <a:gd name="connsiteX191" fmla="*/ 2565135 w 5217319"/>
              <a:gd name="connsiteY191" fmla="*/ 160886 h 1046042"/>
              <a:gd name="connsiteX192" fmla="*/ 2532599 w 5217319"/>
              <a:gd name="connsiteY192" fmla="*/ 95354 h 1046042"/>
              <a:gd name="connsiteX193" fmla="*/ 2595579 w 5217319"/>
              <a:gd name="connsiteY193" fmla="*/ 35140 h 1046042"/>
              <a:gd name="connsiteX194" fmla="*/ 2657892 w 5217319"/>
              <a:gd name="connsiteY194" fmla="*/ 98678 h 1046042"/>
              <a:gd name="connsiteX195" fmla="*/ 2593676 w 5217319"/>
              <a:gd name="connsiteY195" fmla="*/ 192702 h 1046042"/>
              <a:gd name="connsiteX196" fmla="*/ 2597672 w 5217319"/>
              <a:gd name="connsiteY196" fmla="*/ 0 h 1046042"/>
              <a:gd name="connsiteX197" fmla="*/ 2461057 w 5217319"/>
              <a:gd name="connsiteY197" fmla="*/ 114539 h 1046042"/>
              <a:gd name="connsiteX198" fmla="*/ 2514143 w 5217319"/>
              <a:gd name="connsiteY198" fmla="*/ 225088 h 1046042"/>
              <a:gd name="connsiteX199" fmla="*/ 2514809 w 5217319"/>
              <a:gd name="connsiteY199" fmla="*/ 226418 h 1046042"/>
              <a:gd name="connsiteX200" fmla="*/ 2419959 w 5217319"/>
              <a:gd name="connsiteY200" fmla="*/ 359476 h 1046042"/>
              <a:gd name="connsiteX201" fmla="*/ 2553243 w 5217319"/>
              <a:gd name="connsiteY201" fmla="*/ 484652 h 1046042"/>
              <a:gd name="connsiteX202" fmla="*/ 2703177 w 5217319"/>
              <a:gd name="connsiteY202" fmla="*/ 430992 h 1046042"/>
              <a:gd name="connsiteX203" fmla="*/ 2742943 w 5217319"/>
              <a:gd name="connsiteY203" fmla="*/ 474015 h 1046042"/>
              <a:gd name="connsiteX204" fmla="*/ 2847117 w 5217319"/>
              <a:gd name="connsiteY204" fmla="*/ 474015 h 1046042"/>
              <a:gd name="connsiteX205" fmla="*/ 2847117 w 5217319"/>
              <a:gd name="connsiteY205" fmla="*/ 470691 h 1046042"/>
              <a:gd name="connsiteX206" fmla="*/ 2762256 w 5217319"/>
              <a:gd name="connsiteY206" fmla="*/ 377331 h 1046042"/>
              <a:gd name="connsiteX207" fmla="*/ 2818671 w 5217319"/>
              <a:gd name="connsiteY207" fmla="*/ 248167 h 1046042"/>
              <a:gd name="connsiteX208" fmla="*/ 2731812 w 5217319"/>
              <a:gd name="connsiteY208" fmla="*/ 164115 h 1046042"/>
              <a:gd name="connsiteX209" fmla="*/ 2652184 w 5217319"/>
              <a:gd name="connsiteY209" fmla="*/ 179976 h 1046042"/>
              <a:gd name="connsiteX210" fmla="*/ 2650852 w 5217319"/>
              <a:gd name="connsiteY210" fmla="*/ 177316 h 1046042"/>
              <a:gd name="connsiteX211" fmla="*/ 2722489 w 5217319"/>
              <a:gd name="connsiteY211" fmla="*/ 89940 h 1046042"/>
              <a:gd name="connsiteX212" fmla="*/ 2597672 w 5217319"/>
              <a:gd name="connsiteY212" fmla="*/ 0 h 1046042"/>
              <a:gd name="connsiteX213" fmla="*/ 612767 w 5217319"/>
              <a:gd name="connsiteY213" fmla="*/ 838050 h 1046042"/>
              <a:gd name="connsiteX214" fmla="*/ 702289 w 5217319"/>
              <a:gd name="connsiteY214" fmla="*/ 746685 h 1046042"/>
              <a:gd name="connsiteX215" fmla="*/ 782584 w 5217319"/>
              <a:gd name="connsiteY215" fmla="*/ 838050 h 1046042"/>
              <a:gd name="connsiteX216" fmla="*/ 612767 w 5217319"/>
              <a:gd name="connsiteY216" fmla="*/ 838050 h 1046042"/>
              <a:gd name="connsiteX217" fmla="*/ 702289 w 5217319"/>
              <a:gd name="connsiteY217" fmla="*/ 701667 h 1046042"/>
              <a:gd name="connsiteX218" fmla="*/ 553688 w 5217319"/>
              <a:gd name="connsiteY218" fmla="*/ 876514 h 1046042"/>
              <a:gd name="connsiteX219" fmla="*/ 702289 w 5217319"/>
              <a:gd name="connsiteY219" fmla="*/ 1046043 h 1046042"/>
              <a:gd name="connsiteX220" fmla="*/ 837572 w 5217319"/>
              <a:gd name="connsiteY220" fmla="*/ 938152 h 1046042"/>
              <a:gd name="connsiteX221" fmla="*/ 787150 w 5217319"/>
              <a:gd name="connsiteY221" fmla="*/ 924951 h 1046042"/>
              <a:gd name="connsiteX222" fmla="*/ 707522 w 5217319"/>
              <a:gd name="connsiteY222" fmla="*/ 999790 h 1046042"/>
              <a:gd name="connsiteX223" fmla="*/ 610674 w 5217319"/>
              <a:gd name="connsiteY223" fmla="*/ 877274 h 1046042"/>
              <a:gd name="connsiteX224" fmla="*/ 838143 w 5217319"/>
              <a:gd name="connsiteY224" fmla="*/ 877274 h 1046042"/>
              <a:gd name="connsiteX225" fmla="*/ 838143 w 5217319"/>
              <a:gd name="connsiteY225" fmla="*/ 858754 h 1046042"/>
              <a:gd name="connsiteX226" fmla="*/ 702289 w 5217319"/>
              <a:gd name="connsiteY226" fmla="*/ 701667 h 1046042"/>
              <a:gd name="connsiteX227" fmla="*/ 1610832 w 5217319"/>
              <a:gd name="connsiteY227" fmla="*/ 838050 h 1046042"/>
              <a:gd name="connsiteX228" fmla="*/ 1700355 w 5217319"/>
              <a:gd name="connsiteY228" fmla="*/ 746685 h 1046042"/>
              <a:gd name="connsiteX229" fmla="*/ 1780649 w 5217319"/>
              <a:gd name="connsiteY229" fmla="*/ 838050 h 1046042"/>
              <a:gd name="connsiteX230" fmla="*/ 1610832 w 5217319"/>
              <a:gd name="connsiteY230" fmla="*/ 838050 h 1046042"/>
              <a:gd name="connsiteX231" fmla="*/ 1700355 w 5217319"/>
              <a:gd name="connsiteY231" fmla="*/ 701667 h 1046042"/>
              <a:gd name="connsiteX232" fmla="*/ 1551753 w 5217319"/>
              <a:gd name="connsiteY232" fmla="*/ 876514 h 1046042"/>
              <a:gd name="connsiteX233" fmla="*/ 1700355 w 5217319"/>
              <a:gd name="connsiteY233" fmla="*/ 1046043 h 1046042"/>
              <a:gd name="connsiteX234" fmla="*/ 1835637 w 5217319"/>
              <a:gd name="connsiteY234" fmla="*/ 938152 h 1046042"/>
              <a:gd name="connsiteX235" fmla="*/ 1785215 w 5217319"/>
              <a:gd name="connsiteY235" fmla="*/ 924951 h 1046042"/>
              <a:gd name="connsiteX236" fmla="*/ 1705587 w 5217319"/>
              <a:gd name="connsiteY236" fmla="*/ 999790 h 1046042"/>
              <a:gd name="connsiteX237" fmla="*/ 1608739 w 5217319"/>
              <a:gd name="connsiteY237" fmla="*/ 877274 h 1046042"/>
              <a:gd name="connsiteX238" fmla="*/ 1836208 w 5217319"/>
              <a:gd name="connsiteY238" fmla="*/ 877274 h 1046042"/>
              <a:gd name="connsiteX239" fmla="*/ 1836208 w 5217319"/>
              <a:gd name="connsiteY239" fmla="*/ 858754 h 1046042"/>
              <a:gd name="connsiteX240" fmla="*/ 1700355 w 5217319"/>
              <a:gd name="connsiteY240" fmla="*/ 701667 h 1046042"/>
              <a:gd name="connsiteX241" fmla="*/ 2044555 w 5217319"/>
              <a:gd name="connsiteY241" fmla="*/ 701667 h 1046042"/>
              <a:gd name="connsiteX242" fmla="*/ 1891957 w 5217319"/>
              <a:gd name="connsiteY242" fmla="*/ 877179 h 1046042"/>
              <a:gd name="connsiteX243" fmla="*/ 2041891 w 5217319"/>
              <a:gd name="connsiteY243" fmla="*/ 1046043 h 1046042"/>
              <a:gd name="connsiteX244" fmla="*/ 2177839 w 5217319"/>
              <a:gd name="connsiteY244" fmla="*/ 928180 h 1046042"/>
              <a:gd name="connsiteX245" fmla="*/ 2125420 w 5217319"/>
              <a:gd name="connsiteY245" fmla="*/ 915549 h 1046042"/>
              <a:gd name="connsiteX246" fmla="*/ 2045791 w 5217319"/>
              <a:gd name="connsiteY246" fmla="*/ 998936 h 1046042"/>
              <a:gd name="connsiteX247" fmla="*/ 1949609 w 5217319"/>
              <a:gd name="connsiteY247" fmla="*/ 873095 h 1046042"/>
              <a:gd name="connsiteX248" fmla="*/ 2043127 w 5217319"/>
              <a:gd name="connsiteY248" fmla="*/ 748584 h 1046042"/>
              <a:gd name="connsiteX249" fmla="*/ 2125420 w 5217319"/>
              <a:gd name="connsiteY249" fmla="*/ 828078 h 1046042"/>
              <a:gd name="connsiteX250" fmla="*/ 2177839 w 5217319"/>
              <a:gd name="connsiteY250" fmla="*/ 815446 h 1046042"/>
              <a:gd name="connsiteX251" fmla="*/ 2044555 w 5217319"/>
              <a:gd name="connsiteY251" fmla="*/ 701667 h 1046042"/>
              <a:gd name="connsiteX252" fmla="*/ 477580 w 5217319"/>
              <a:gd name="connsiteY252" fmla="*/ 575827 h 1046042"/>
              <a:gd name="connsiteX253" fmla="*/ 390055 w 5217319"/>
              <a:gd name="connsiteY253" fmla="*/ 575827 h 1046042"/>
              <a:gd name="connsiteX254" fmla="*/ 252775 w 5217319"/>
              <a:gd name="connsiteY254" fmla="*/ 949264 h 1046042"/>
              <a:gd name="connsiteX255" fmla="*/ 114828 w 5217319"/>
              <a:gd name="connsiteY255" fmla="*/ 575827 h 1046042"/>
              <a:gd name="connsiteX256" fmla="*/ 23213 w 5217319"/>
              <a:gd name="connsiteY256" fmla="*/ 575827 h 1046042"/>
              <a:gd name="connsiteX257" fmla="*/ 23213 w 5217319"/>
              <a:gd name="connsiteY257" fmla="*/ 1039300 h 1046042"/>
              <a:gd name="connsiteX258" fmla="*/ 80865 w 5217319"/>
              <a:gd name="connsiteY258" fmla="*/ 1039300 h 1046042"/>
              <a:gd name="connsiteX259" fmla="*/ 80865 w 5217319"/>
              <a:gd name="connsiteY259" fmla="*/ 640124 h 1046042"/>
              <a:gd name="connsiteX260" fmla="*/ 228801 w 5217319"/>
              <a:gd name="connsiteY260" fmla="*/ 1039395 h 1046042"/>
              <a:gd name="connsiteX261" fmla="*/ 273229 w 5217319"/>
              <a:gd name="connsiteY261" fmla="*/ 1039395 h 1046042"/>
              <a:gd name="connsiteX262" fmla="*/ 419832 w 5217319"/>
              <a:gd name="connsiteY262" fmla="*/ 639459 h 1046042"/>
              <a:gd name="connsiteX263" fmla="*/ 419832 w 5217319"/>
              <a:gd name="connsiteY263" fmla="*/ 1039395 h 1046042"/>
              <a:gd name="connsiteX264" fmla="*/ 477580 w 5217319"/>
              <a:gd name="connsiteY264" fmla="*/ 1039395 h 1046042"/>
              <a:gd name="connsiteX265" fmla="*/ 477580 w 5217319"/>
              <a:gd name="connsiteY265" fmla="*/ 575827 h 1046042"/>
              <a:gd name="connsiteX266" fmla="*/ 1042494 w 5217319"/>
              <a:gd name="connsiteY266" fmla="*/ 999031 h 1046042"/>
              <a:gd name="connsiteX267" fmla="*/ 951639 w 5217319"/>
              <a:gd name="connsiteY267" fmla="*/ 873855 h 1046042"/>
              <a:gd name="connsiteX268" fmla="*/ 1042494 w 5217319"/>
              <a:gd name="connsiteY268" fmla="*/ 748679 h 1046042"/>
              <a:gd name="connsiteX269" fmla="*/ 1133348 w 5217319"/>
              <a:gd name="connsiteY269" fmla="*/ 873855 h 1046042"/>
              <a:gd name="connsiteX270" fmla="*/ 1042494 w 5217319"/>
              <a:gd name="connsiteY270" fmla="*/ 999031 h 1046042"/>
              <a:gd name="connsiteX271" fmla="*/ 1187099 w 5217319"/>
              <a:gd name="connsiteY271" fmla="*/ 575827 h 1046042"/>
              <a:gd name="connsiteX272" fmla="*/ 1132111 w 5217319"/>
              <a:gd name="connsiteY272" fmla="*/ 575827 h 1046042"/>
              <a:gd name="connsiteX273" fmla="*/ 1132111 w 5217319"/>
              <a:gd name="connsiteY273" fmla="*/ 771853 h 1046042"/>
              <a:gd name="connsiteX274" fmla="*/ 1033265 w 5217319"/>
              <a:gd name="connsiteY274" fmla="*/ 701667 h 1046042"/>
              <a:gd name="connsiteX275" fmla="*/ 893987 w 5217319"/>
              <a:gd name="connsiteY275" fmla="*/ 875849 h 1046042"/>
              <a:gd name="connsiteX276" fmla="*/ 1028604 w 5217319"/>
              <a:gd name="connsiteY276" fmla="*/ 1046043 h 1046042"/>
              <a:gd name="connsiteX277" fmla="*/ 1132111 w 5217319"/>
              <a:gd name="connsiteY277" fmla="*/ 972533 h 1046042"/>
              <a:gd name="connsiteX278" fmla="*/ 1132111 w 5217319"/>
              <a:gd name="connsiteY278" fmla="*/ 997701 h 1046042"/>
              <a:gd name="connsiteX279" fmla="*/ 1135441 w 5217319"/>
              <a:gd name="connsiteY279" fmla="*/ 1039395 h 1046042"/>
              <a:gd name="connsiteX280" fmla="*/ 1191190 w 5217319"/>
              <a:gd name="connsiteY280" fmla="*/ 1039395 h 1046042"/>
              <a:gd name="connsiteX281" fmla="*/ 1187194 w 5217319"/>
              <a:gd name="connsiteY281" fmla="*/ 970538 h 1046042"/>
              <a:gd name="connsiteX282" fmla="*/ 1187194 w 5217319"/>
              <a:gd name="connsiteY282" fmla="*/ 575827 h 1046042"/>
              <a:gd name="connsiteX283" fmla="*/ 1604934 w 5217319"/>
              <a:gd name="connsiteY283" fmla="*/ 575827 h 1046042"/>
              <a:gd name="connsiteX284" fmla="*/ 1246749 w 5217319"/>
              <a:gd name="connsiteY284" fmla="*/ 575827 h 1046042"/>
              <a:gd name="connsiteX285" fmla="*/ 1246749 w 5217319"/>
              <a:gd name="connsiteY285" fmla="*/ 624169 h 1046042"/>
              <a:gd name="connsiteX286" fmla="*/ 1397349 w 5217319"/>
              <a:gd name="connsiteY286" fmla="*/ 624169 h 1046042"/>
              <a:gd name="connsiteX287" fmla="*/ 1397349 w 5217319"/>
              <a:gd name="connsiteY287" fmla="*/ 1039395 h 1046042"/>
              <a:gd name="connsiteX288" fmla="*/ 1455096 w 5217319"/>
              <a:gd name="connsiteY288" fmla="*/ 1039395 h 1046042"/>
              <a:gd name="connsiteX289" fmla="*/ 1455096 w 5217319"/>
              <a:gd name="connsiteY289" fmla="*/ 624169 h 1046042"/>
              <a:gd name="connsiteX290" fmla="*/ 1605029 w 5217319"/>
              <a:gd name="connsiteY290" fmla="*/ 624169 h 1046042"/>
              <a:gd name="connsiteX291" fmla="*/ 1605029 w 5217319"/>
              <a:gd name="connsiteY291" fmla="*/ 575827 h 1046042"/>
              <a:gd name="connsiteX292" fmla="*/ 2295902 w 5217319"/>
              <a:gd name="connsiteY292" fmla="*/ 575827 h 1046042"/>
              <a:gd name="connsiteX293" fmla="*/ 2240819 w 5217319"/>
              <a:gd name="connsiteY293" fmla="*/ 575827 h 1046042"/>
              <a:gd name="connsiteX294" fmla="*/ 2240819 w 5217319"/>
              <a:gd name="connsiteY294" fmla="*/ 1039300 h 1046042"/>
              <a:gd name="connsiteX295" fmla="*/ 2295902 w 5217319"/>
              <a:gd name="connsiteY295" fmla="*/ 1039300 h 1046042"/>
              <a:gd name="connsiteX296" fmla="*/ 2295902 w 5217319"/>
              <a:gd name="connsiteY296" fmla="*/ 821524 h 1046042"/>
              <a:gd name="connsiteX297" fmla="*/ 2368205 w 5217319"/>
              <a:gd name="connsiteY297" fmla="*/ 744026 h 1046042"/>
              <a:gd name="connsiteX298" fmla="*/ 2439842 w 5217319"/>
              <a:gd name="connsiteY298" fmla="*/ 821524 h 1046042"/>
              <a:gd name="connsiteX299" fmla="*/ 2439842 w 5217319"/>
              <a:gd name="connsiteY299" fmla="*/ 1039395 h 1046042"/>
              <a:gd name="connsiteX300" fmla="*/ 2494925 w 5217319"/>
              <a:gd name="connsiteY300" fmla="*/ 1039395 h 1046042"/>
              <a:gd name="connsiteX301" fmla="*/ 2494925 w 5217319"/>
              <a:gd name="connsiteY301" fmla="*/ 810317 h 1046042"/>
              <a:gd name="connsiteX302" fmla="*/ 2388088 w 5217319"/>
              <a:gd name="connsiteY302" fmla="*/ 701762 h 1046042"/>
              <a:gd name="connsiteX303" fmla="*/ 2295902 w 5217319"/>
              <a:gd name="connsiteY303" fmla="*/ 759411 h 1046042"/>
              <a:gd name="connsiteX304" fmla="*/ 2295902 w 5217319"/>
              <a:gd name="connsiteY304" fmla="*/ 575827 h 1046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</a:cxnLst>
            <a:rect l="l" t="t" r="r" b="b"/>
            <a:pathLst>
              <a:path w="5217319" h="1046042">
                <a:moveTo>
                  <a:pt x="515919" y="444383"/>
                </a:moveTo>
                <a:cubicBezTo>
                  <a:pt x="464831" y="444383"/>
                  <a:pt x="436291" y="396041"/>
                  <a:pt x="436291" y="308665"/>
                </a:cubicBezTo>
                <a:cubicBezTo>
                  <a:pt x="436291" y="219960"/>
                  <a:pt x="464831" y="172948"/>
                  <a:pt x="515919" y="172948"/>
                </a:cubicBezTo>
                <a:cubicBezTo>
                  <a:pt x="567007" y="172948"/>
                  <a:pt x="595547" y="220624"/>
                  <a:pt x="595547" y="308665"/>
                </a:cubicBezTo>
                <a:cubicBezTo>
                  <a:pt x="595547" y="397371"/>
                  <a:pt x="567007" y="444383"/>
                  <a:pt x="515919" y="444383"/>
                </a:cubicBezTo>
                <a:moveTo>
                  <a:pt x="515919" y="136478"/>
                </a:moveTo>
                <a:cubicBezTo>
                  <a:pt x="411746" y="136478"/>
                  <a:pt x="354094" y="213976"/>
                  <a:pt x="354094" y="308665"/>
                </a:cubicBezTo>
                <a:cubicBezTo>
                  <a:pt x="354094" y="403354"/>
                  <a:pt x="411841" y="480853"/>
                  <a:pt x="515919" y="480853"/>
                </a:cubicBezTo>
                <a:cubicBezTo>
                  <a:pt x="620092" y="480853"/>
                  <a:pt x="677744" y="403354"/>
                  <a:pt x="677744" y="308665"/>
                </a:cubicBezTo>
                <a:cubicBezTo>
                  <a:pt x="677840" y="213881"/>
                  <a:pt x="620092" y="136478"/>
                  <a:pt x="515919" y="136478"/>
                </a:cubicBezTo>
                <a:moveTo>
                  <a:pt x="1239519" y="136478"/>
                </a:moveTo>
                <a:cubicBezTo>
                  <a:pt x="1190429" y="136478"/>
                  <a:pt x="1163220" y="157657"/>
                  <a:pt x="1147999" y="184819"/>
                </a:cubicBezTo>
                <a:lnTo>
                  <a:pt x="1144003" y="184819"/>
                </a:lnTo>
                <a:lnTo>
                  <a:pt x="1144003" y="143126"/>
                </a:lnTo>
                <a:lnTo>
                  <a:pt x="1065707" y="143126"/>
                </a:lnTo>
                <a:lnTo>
                  <a:pt x="1065707" y="474205"/>
                </a:lnTo>
                <a:lnTo>
                  <a:pt x="1144003" y="474205"/>
                </a:lnTo>
                <a:lnTo>
                  <a:pt x="1144003" y="260229"/>
                </a:lnTo>
                <a:cubicBezTo>
                  <a:pt x="1144003" y="211222"/>
                  <a:pt x="1169214" y="182730"/>
                  <a:pt x="1209646" y="182730"/>
                </a:cubicBezTo>
                <a:cubicBezTo>
                  <a:pt x="1248747" y="182730"/>
                  <a:pt x="1266062" y="208563"/>
                  <a:pt x="1266062" y="247597"/>
                </a:cubicBezTo>
                <a:lnTo>
                  <a:pt x="1266062" y="474015"/>
                </a:lnTo>
                <a:lnTo>
                  <a:pt x="1344358" y="474015"/>
                </a:lnTo>
                <a:lnTo>
                  <a:pt x="1344358" y="247027"/>
                </a:lnTo>
                <a:cubicBezTo>
                  <a:pt x="1344263" y="178836"/>
                  <a:pt x="1308492" y="136478"/>
                  <a:pt x="1239519" y="136478"/>
                </a:cubicBezTo>
                <a:moveTo>
                  <a:pt x="1521976" y="136478"/>
                </a:moveTo>
                <a:cubicBezTo>
                  <a:pt x="1449673" y="136478"/>
                  <a:pt x="1395256" y="166964"/>
                  <a:pt x="1395256" y="231831"/>
                </a:cubicBezTo>
                <a:cubicBezTo>
                  <a:pt x="1395256" y="286821"/>
                  <a:pt x="1433024" y="316548"/>
                  <a:pt x="1475550" y="327185"/>
                </a:cubicBezTo>
                <a:lnTo>
                  <a:pt x="1541859" y="343711"/>
                </a:lnTo>
                <a:cubicBezTo>
                  <a:pt x="1576964" y="352353"/>
                  <a:pt x="1592947" y="364890"/>
                  <a:pt x="1592947" y="392717"/>
                </a:cubicBezTo>
                <a:cubicBezTo>
                  <a:pt x="1592947" y="426528"/>
                  <a:pt x="1569068" y="445713"/>
                  <a:pt x="1527303" y="445713"/>
                </a:cubicBezTo>
                <a:cubicBezTo>
                  <a:pt x="1482209" y="445713"/>
                  <a:pt x="1458996" y="423869"/>
                  <a:pt x="1451671" y="368879"/>
                </a:cubicBezTo>
                <a:lnTo>
                  <a:pt x="1381366" y="388728"/>
                </a:lnTo>
                <a:cubicBezTo>
                  <a:pt x="1385361" y="445713"/>
                  <a:pt x="1438447" y="480758"/>
                  <a:pt x="1518646" y="480758"/>
                </a:cubicBezTo>
                <a:cubicBezTo>
                  <a:pt x="1608168" y="480758"/>
                  <a:pt x="1656592" y="439064"/>
                  <a:pt x="1656592" y="372868"/>
                </a:cubicBezTo>
                <a:cubicBezTo>
                  <a:pt x="1656592" y="310660"/>
                  <a:pt x="1613496" y="284827"/>
                  <a:pt x="1568402" y="273525"/>
                </a:cubicBezTo>
                <a:lnTo>
                  <a:pt x="1504756" y="257664"/>
                </a:lnTo>
                <a:cubicBezTo>
                  <a:pt x="1472886" y="249686"/>
                  <a:pt x="1458996" y="235155"/>
                  <a:pt x="1458996" y="213976"/>
                </a:cubicBezTo>
                <a:cubicBezTo>
                  <a:pt x="1458996" y="187479"/>
                  <a:pt x="1481543" y="171618"/>
                  <a:pt x="1515411" y="171618"/>
                </a:cubicBezTo>
                <a:cubicBezTo>
                  <a:pt x="1555178" y="171618"/>
                  <a:pt x="1579723" y="193462"/>
                  <a:pt x="1583053" y="235155"/>
                </a:cubicBezTo>
                <a:lnTo>
                  <a:pt x="1649362" y="215306"/>
                </a:lnTo>
                <a:cubicBezTo>
                  <a:pt x="1641371" y="168864"/>
                  <a:pt x="1595611" y="136478"/>
                  <a:pt x="1521976" y="136478"/>
                </a:cubicBezTo>
                <a:moveTo>
                  <a:pt x="1850954" y="444383"/>
                </a:moveTo>
                <a:cubicBezTo>
                  <a:pt x="1799866" y="444383"/>
                  <a:pt x="1771326" y="396041"/>
                  <a:pt x="1771326" y="308665"/>
                </a:cubicBezTo>
                <a:cubicBezTo>
                  <a:pt x="1771326" y="219960"/>
                  <a:pt x="1799866" y="172948"/>
                  <a:pt x="1850954" y="172948"/>
                </a:cubicBezTo>
                <a:cubicBezTo>
                  <a:pt x="1902042" y="172948"/>
                  <a:pt x="1930582" y="220624"/>
                  <a:pt x="1930582" y="308665"/>
                </a:cubicBezTo>
                <a:cubicBezTo>
                  <a:pt x="1930487" y="397371"/>
                  <a:pt x="1902042" y="444383"/>
                  <a:pt x="1850954" y="444383"/>
                </a:cubicBezTo>
                <a:moveTo>
                  <a:pt x="1850954" y="136478"/>
                </a:moveTo>
                <a:cubicBezTo>
                  <a:pt x="1746781" y="136478"/>
                  <a:pt x="1689129" y="213976"/>
                  <a:pt x="1689129" y="308665"/>
                </a:cubicBezTo>
                <a:cubicBezTo>
                  <a:pt x="1689129" y="403354"/>
                  <a:pt x="1746876" y="480853"/>
                  <a:pt x="1850954" y="480853"/>
                </a:cubicBezTo>
                <a:cubicBezTo>
                  <a:pt x="1955127" y="480853"/>
                  <a:pt x="2012779" y="403354"/>
                  <a:pt x="2012779" y="308665"/>
                </a:cubicBezTo>
                <a:cubicBezTo>
                  <a:pt x="2012779" y="213881"/>
                  <a:pt x="1955032" y="136478"/>
                  <a:pt x="1850954" y="136478"/>
                </a:cubicBezTo>
                <a:moveTo>
                  <a:pt x="2232923" y="136478"/>
                </a:moveTo>
                <a:cubicBezTo>
                  <a:pt x="2183833" y="136478"/>
                  <a:pt x="2156624" y="157657"/>
                  <a:pt x="2141402" y="184819"/>
                </a:cubicBezTo>
                <a:lnTo>
                  <a:pt x="2137407" y="184819"/>
                </a:lnTo>
                <a:lnTo>
                  <a:pt x="2137407" y="143126"/>
                </a:lnTo>
                <a:lnTo>
                  <a:pt x="2059110" y="143126"/>
                </a:lnTo>
                <a:lnTo>
                  <a:pt x="2059110" y="474205"/>
                </a:lnTo>
                <a:lnTo>
                  <a:pt x="2137407" y="474205"/>
                </a:lnTo>
                <a:lnTo>
                  <a:pt x="2137407" y="260229"/>
                </a:lnTo>
                <a:cubicBezTo>
                  <a:pt x="2137407" y="211222"/>
                  <a:pt x="2162618" y="182730"/>
                  <a:pt x="2203050" y="182730"/>
                </a:cubicBezTo>
                <a:cubicBezTo>
                  <a:pt x="2242151" y="182730"/>
                  <a:pt x="2259465" y="208563"/>
                  <a:pt x="2259465" y="247597"/>
                </a:cubicBezTo>
                <a:lnTo>
                  <a:pt x="2259465" y="474015"/>
                </a:lnTo>
                <a:lnTo>
                  <a:pt x="2337762" y="474015"/>
                </a:lnTo>
                <a:lnTo>
                  <a:pt x="2337762" y="247027"/>
                </a:lnTo>
                <a:cubicBezTo>
                  <a:pt x="2337762" y="178836"/>
                  <a:pt x="2301896" y="136478"/>
                  <a:pt x="2232923" y="136478"/>
                </a:cubicBezTo>
                <a:moveTo>
                  <a:pt x="3395477" y="444383"/>
                </a:moveTo>
                <a:cubicBezTo>
                  <a:pt x="3344389" y="444383"/>
                  <a:pt x="3315849" y="396041"/>
                  <a:pt x="3315849" y="308665"/>
                </a:cubicBezTo>
                <a:cubicBezTo>
                  <a:pt x="3315849" y="219960"/>
                  <a:pt x="3344389" y="172948"/>
                  <a:pt x="3395477" y="172948"/>
                </a:cubicBezTo>
                <a:cubicBezTo>
                  <a:pt x="3446565" y="172948"/>
                  <a:pt x="3475105" y="220624"/>
                  <a:pt x="3475105" y="308665"/>
                </a:cubicBezTo>
                <a:cubicBezTo>
                  <a:pt x="3475105" y="397371"/>
                  <a:pt x="3446565" y="444383"/>
                  <a:pt x="3395477" y="444383"/>
                </a:cubicBezTo>
                <a:moveTo>
                  <a:pt x="3395477" y="136478"/>
                </a:moveTo>
                <a:cubicBezTo>
                  <a:pt x="3291304" y="136478"/>
                  <a:pt x="3233652" y="213976"/>
                  <a:pt x="3233652" y="308665"/>
                </a:cubicBezTo>
                <a:cubicBezTo>
                  <a:pt x="3233652" y="403354"/>
                  <a:pt x="3291399" y="480853"/>
                  <a:pt x="3395477" y="480853"/>
                </a:cubicBezTo>
                <a:cubicBezTo>
                  <a:pt x="3499650" y="480853"/>
                  <a:pt x="3557302" y="403354"/>
                  <a:pt x="3557302" y="308665"/>
                </a:cubicBezTo>
                <a:cubicBezTo>
                  <a:pt x="3557302" y="213881"/>
                  <a:pt x="3499650" y="136478"/>
                  <a:pt x="3395477" y="136478"/>
                </a:cubicBezTo>
                <a:moveTo>
                  <a:pt x="4118981" y="136478"/>
                </a:moveTo>
                <a:cubicBezTo>
                  <a:pt x="4069892" y="136478"/>
                  <a:pt x="4042683" y="157657"/>
                  <a:pt x="4027461" y="184819"/>
                </a:cubicBezTo>
                <a:lnTo>
                  <a:pt x="4023466" y="184819"/>
                </a:lnTo>
                <a:lnTo>
                  <a:pt x="4023466" y="143126"/>
                </a:lnTo>
                <a:lnTo>
                  <a:pt x="3945169" y="143126"/>
                </a:lnTo>
                <a:lnTo>
                  <a:pt x="3945169" y="474205"/>
                </a:lnTo>
                <a:lnTo>
                  <a:pt x="4023466" y="474205"/>
                </a:lnTo>
                <a:lnTo>
                  <a:pt x="4023466" y="260229"/>
                </a:lnTo>
                <a:cubicBezTo>
                  <a:pt x="4023466" y="211222"/>
                  <a:pt x="4048677" y="182730"/>
                  <a:pt x="4089109" y="182730"/>
                </a:cubicBezTo>
                <a:cubicBezTo>
                  <a:pt x="4128210" y="182730"/>
                  <a:pt x="4145524" y="208563"/>
                  <a:pt x="4145524" y="247597"/>
                </a:cubicBezTo>
                <a:lnTo>
                  <a:pt x="4145524" y="474015"/>
                </a:lnTo>
                <a:lnTo>
                  <a:pt x="4223821" y="474015"/>
                </a:lnTo>
                <a:lnTo>
                  <a:pt x="4223821" y="247027"/>
                </a:lnTo>
                <a:cubicBezTo>
                  <a:pt x="4223821" y="178836"/>
                  <a:pt x="4187955" y="136478"/>
                  <a:pt x="4118981" y="136478"/>
                </a:cubicBezTo>
                <a:moveTo>
                  <a:pt x="4401534" y="136478"/>
                </a:moveTo>
                <a:cubicBezTo>
                  <a:pt x="4329231" y="136478"/>
                  <a:pt x="4274813" y="166964"/>
                  <a:pt x="4274813" y="231831"/>
                </a:cubicBezTo>
                <a:cubicBezTo>
                  <a:pt x="4274813" y="286821"/>
                  <a:pt x="4312582" y="316548"/>
                  <a:pt x="4355108" y="327185"/>
                </a:cubicBezTo>
                <a:lnTo>
                  <a:pt x="4421417" y="343711"/>
                </a:lnTo>
                <a:cubicBezTo>
                  <a:pt x="4456522" y="352353"/>
                  <a:pt x="4472505" y="364890"/>
                  <a:pt x="4472505" y="392717"/>
                </a:cubicBezTo>
                <a:cubicBezTo>
                  <a:pt x="4472505" y="426528"/>
                  <a:pt x="4448626" y="445713"/>
                  <a:pt x="4406861" y="445713"/>
                </a:cubicBezTo>
                <a:cubicBezTo>
                  <a:pt x="4361767" y="445713"/>
                  <a:pt x="4338554" y="423869"/>
                  <a:pt x="4331229" y="368879"/>
                </a:cubicBezTo>
                <a:lnTo>
                  <a:pt x="4260924" y="388728"/>
                </a:lnTo>
                <a:cubicBezTo>
                  <a:pt x="4264919" y="445713"/>
                  <a:pt x="4318005" y="480758"/>
                  <a:pt x="4398204" y="480758"/>
                </a:cubicBezTo>
                <a:cubicBezTo>
                  <a:pt x="4487726" y="480758"/>
                  <a:pt x="4536150" y="439064"/>
                  <a:pt x="4536150" y="372868"/>
                </a:cubicBezTo>
                <a:cubicBezTo>
                  <a:pt x="4536150" y="310660"/>
                  <a:pt x="4493054" y="284827"/>
                  <a:pt x="4447960" y="273525"/>
                </a:cubicBezTo>
                <a:lnTo>
                  <a:pt x="4384314" y="257664"/>
                </a:lnTo>
                <a:cubicBezTo>
                  <a:pt x="4352444" y="249686"/>
                  <a:pt x="4338554" y="235155"/>
                  <a:pt x="4338554" y="213976"/>
                </a:cubicBezTo>
                <a:cubicBezTo>
                  <a:pt x="4338554" y="187479"/>
                  <a:pt x="4361101" y="171618"/>
                  <a:pt x="4394969" y="171618"/>
                </a:cubicBezTo>
                <a:cubicBezTo>
                  <a:pt x="4434736" y="171618"/>
                  <a:pt x="4459281" y="193462"/>
                  <a:pt x="4462610" y="235155"/>
                </a:cubicBezTo>
                <a:lnTo>
                  <a:pt x="4528920" y="215306"/>
                </a:lnTo>
                <a:cubicBezTo>
                  <a:pt x="4520929" y="168864"/>
                  <a:pt x="4475168" y="136478"/>
                  <a:pt x="4401534" y="136478"/>
                </a:cubicBezTo>
                <a:moveTo>
                  <a:pt x="4730417" y="444383"/>
                </a:moveTo>
                <a:cubicBezTo>
                  <a:pt x="4679329" y="444383"/>
                  <a:pt x="4650788" y="396041"/>
                  <a:pt x="4650788" y="308665"/>
                </a:cubicBezTo>
                <a:cubicBezTo>
                  <a:pt x="4650788" y="219960"/>
                  <a:pt x="4679329" y="172948"/>
                  <a:pt x="4730417" y="172948"/>
                </a:cubicBezTo>
                <a:cubicBezTo>
                  <a:pt x="4781504" y="172948"/>
                  <a:pt x="4810045" y="220624"/>
                  <a:pt x="4810045" y="308665"/>
                </a:cubicBezTo>
                <a:cubicBezTo>
                  <a:pt x="4810045" y="397371"/>
                  <a:pt x="4781504" y="444383"/>
                  <a:pt x="4730417" y="444383"/>
                </a:cubicBezTo>
                <a:moveTo>
                  <a:pt x="4730417" y="136478"/>
                </a:moveTo>
                <a:cubicBezTo>
                  <a:pt x="4626243" y="136478"/>
                  <a:pt x="4568591" y="213976"/>
                  <a:pt x="4568591" y="308665"/>
                </a:cubicBezTo>
                <a:cubicBezTo>
                  <a:pt x="4568591" y="403354"/>
                  <a:pt x="4626243" y="480853"/>
                  <a:pt x="4730417" y="480853"/>
                </a:cubicBezTo>
                <a:cubicBezTo>
                  <a:pt x="4834590" y="480853"/>
                  <a:pt x="4892242" y="403354"/>
                  <a:pt x="4892242" y="308665"/>
                </a:cubicBezTo>
                <a:cubicBezTo>
                  <a:pt x="4892242" y="213881"/>
                  <a:pt x="4834590" y="136478"/>
                  <a:pt x="4730417" y="136478"/>
                </a:cubicBezTo>
                <a:moveTo>
                  <a:pt x="5112481" y="136478"/>
                </a:moveTo>
                <a:cubicBezTo>
                  <a:pt x="5063390" y="136478"/>
                  <a:pt x="5036182" y="157657"/>
                  <a:pt x="5020960" y="184819"/>
                </a:cubicBezTo>
                <a:lnTo>
                  <a:pt x="5016964" y="184819"/>
                </a:lnTo>
                <a:lnTo>
                  <a:pt x="5016964" y="143126"/>
                </a:lnTo>
                <a:lnTo>
                  <a:pt x="4938668" y="143126"/>
                </a:lnTo>
                <a:lnTo>
                  <a:pt x="4938668" y="474205"/>
                </a:lnTo>
                <a:lnTo>
                  <a:pt x="5016964" y="474205"/>
                </a:lnTo>
                <a:lnTo>
                  <a:pt x="5016964" y="260229"/>
                </a:lnTo>
                <a:cubicBezTo>
                  <a:pt x="5016964" y="211222"/>
                  <a:pt x="5042175" y="182730"/>
                  <a:pt x="5082608" y="182730"/>
                </a:cubicBezTo>
                <a:cubicBezTo>
                  <a:pt x="5121708" y="182730"/>
                  <a:pt x="5139023" y="208563"/>
                  <a:pt x="5139023" y="247597"/>
                </a:cubicBezTo>
                <a:lnTo>
                  <a:pt x="5139023" y="474015"/>
                </a:lnTo>
                <a:lnTo>
                  <a:pt x="5217319" y="474015"/>
                </a:lnTo>
                <a:lnTo>
                  <a:pt x="5217319" y="247027"/>
                </a:lnTo>
                <a:cubicBezTo>
                  <a:pt x="5217225" y="178836"/>
                  <a:pt x="5181454" y="136478"/>
                  <a:pt x="5112481" y="136478"/>
                </a:cubicBezTo>
                <a:moveTo>
                  <a:pt x="307763" y="10637"/>
                </a:moveTo>
                <a:lnTo>
                  <a:pt x="225471" y="10637"/>
                </a:lnTo>
                <a:lnTo>
                  <a:pt x="225471" y="353018"/>
                </a:lnTo>
                <a:cubicBezTo>
                  <a:pt x="225471" y="408673"/>
                  <a:pt x="204256" y="441724"/>
                  <a:pt x="153834" y="441724"/>
                </a:cubicBezTo>
                <a:cubicBezTo>
                  <a:pt x="104078" y="441724"/>
                  <a:pt x="82197" y="406678"/>
                  <a:pt x="82197" y="346370"/>
                </a:cubicBezTo>
                <a:lnTo>
                  <a:pt x="82197" y="282832"/>
                </a:lnTo>
                <a:lnTo>
                  <a:pt x="0" y="303347"/>
                </a:lnTo>
                <a:lnTo>
                  <a:pt x="0" y="331839"/>
                </a:lnTo>
                <a:cubicBezTo>
                  <a:pt x="0" y="418550"/>
                  <a:pt x="43096" y="484842"/>
                  <a:pt x="153929" y="484842"/>
                </a:cubicBezTo>
                <a:cubicBezTo>
                  <a:pt x="264667" y="484842"/>
                  <a:pt x="307763" y="418645"/>
                  <a:pt x="307763" y="331839"/>
                </a:cubicBezTo>
                <a:lnTo>
                  <a:pt x="307763" y="10637"/>
                </a:lnTo>
                <a:moveTo>
                  <a:pt x="802467" y="10637"/>
                </a:moveTo>
                <a:lnTo>
                  <a:pt x="724171" y="10637"/>
                </a:lnTo>
                <a:lnTo>
                  <a:pt x="724171" y="474110"/>
                </a:lnTo>
                <a:lnTo>
                  <a:pt x="802467" y="474110"/>
                </a:lnTo>
                <a:lnTo>
                  <a:pt x="802467" y="260229"/>
                </a:lnTo>
                <a:cubicBezTo>
                  <a:pt x="802467" y="211222"/>
                  <a:pt x="827678" y="182730"/>
                  <a:pt x="868110" y="182730"/>
                </a:cubicBezTo>
                <a:cubicBezTo>
                  <a:pt x="907211" y="182730"/>
                  <a:pt x="924526" y="208563"/>
                  <a:pt x="924526" y="247597"/>
                </a:cubicBezTo>
                <a:lnTo>
                  <a:pt x="924526" y="474015"/>
                </a:lnTo>
                <a:lnTo>
                  <a:pt x="1002822" y="474015"/>
                </a:lnTo>
                <a:lnTo>
                  <a:pt x="1002822" y="247027"/>
                </a:lnTo>
                <a:cubicBezTo>
                  <a:pt x="1002822" y="178836"/>
                  <a:pt x="966956" y="136478"/>
                  <a:pt x="897983" y="136478"/>
                </a:cubicBezTo>
                <a:cubicBezTo>
                  <a:pt x="848893" y="136478"/>
                  <a:pt x="821684" y="157657"/>
                  <a:pt x="806463" y="184819"/>
                </a:cubicBezTo>
                <a:lnTo>
                  <a:pt x="802467" y="184819"/>
                </a:lnTo>
                <a:lnTo>
                  <a:pt x="802467" y="10637"/>
                </a:lnTo>
                <a:moveTo>
                  <a:pt x="3187225" y="10637"/>
                </a:moveTo>
                <a:lnTo>
                  <a:pt x="3105029" y="10637"/>
                </a:lnTo>
                <a:lnTo>
                  <a:pt x="3105029" y="353018"/>
                </a:lnTo>
                <a:cubicBezTo>
                  <a:pt x="3105029" y="408673"/>
                  <a:pt x="3083813" y="441724"/>
                  <a:pt x="3033392" y="441724"/>
                </a:cubicBezTo>
                <a:cubicBezTo>
                  <a:pt x="2983636" y="441724"/>
                  <a:pt x="2961755" y="406678"/>
                  <a:pt x="2961755" y="346370"/>
                </a:cubicBezTo>
                <a:lnTo>
                  <a:pt x="2961755" y="282832"/>
                </a:lnTo>
                <a:lnTo>
                  <a:pt x="2879558" y="303347"/>
                </a:lnTo>
                <a:lnTo>
                  <a:pt x="2879558" y="331839"/>
                </a:lnTo>
                <a:cubicBezTo>
                  <a:pt x="2879558" y="418550"/>
                  <a:pt x="2922654" y="484842"/>
                  <a:pt x="3033487" y="484842"/>
                </a:cubicBezTo>
                <a:cubicBezTo>
                  <a:pt x="3144320" y="484842"/>
                  <a:pt x="3187321" y="418645"/>
                  <a:pt x="3187321" y="331839"/>
                </a:cubicBezTo>
                <a:lnTo>
                  <a:pt x="3187321" y="10637"/>
                </a:lnTo>
                <a:moveTo>
                  <a:pt x="3681929" y="10637"/>
                </a:moveTo>
                <a:lnTo>
                  <a:pt x="3603633" y="10637"/>
                </a:lnTo>
                <a:lnTo>
                  <a:pt x="3603633" y="474110"/>
                </a:lnTo>
                <a:lnTo>
                  <a:pt x="3681929" y="474110"/>
                </a:lnTo>
                <a:lnTo>
                  <a:pt x="3681929" y="260229"/>
                </a:lnTo>
                <a:cubicBezTo>
                  <a:pt x="3681929" y="211222"/>
                  <a:pt x="3707141" y="182730"/>
                  <a:pt x="3747573" y="182730"/>
                </a:cubicBezTo>
                <a:cubicBezTo>
                  <a:pt x="3786674" y="182730"/>
                  <a:pt x="3803988" y="208563"/>
                  <a:pt x="3803988" y="247597"/>
                </a:cubicBezTo>
                <a:lnTo>
                  <a:pt x="3803988" y="474015"/>
                </a:lnTo>
                <a:lnTo>
                  <a:pt x="3882285" y="474015"/>
                </a:lnTo>
                <a:lnTo>
                  <a:pt x="3882285" y="247027"/>
                </a:lnTo>
                <a:cubicBezTo>
                  <a:pt x="3882285" y="178836"/>
                  <a:pt x="3846514" y="136478"/>
                  <a:pt x="3777445" y="136478"/>
                </a:cubicBezTo>
                <a:cubicBezTo>
                  <a:pt x="3728356" y="136478"/>
                  <a:pt x="3701147" y="157657"/>
                  <a:pt x="3685925" y="184819"/>
                </a:cubicBezTo>
                <a:lnTo>
                  <a:pt x="3681929" y="184819"/>
                </a:lnTo>
                <a:lnTo>
                  <a:pt x="3681929" y="10637"/>
                </a:lnTo>
                <a:moveTo>
                  <a:pt x="2595674" y="436405"/>
                </a:moveTo>
                <a:cubicBezTo>
                  <a:pt x="2532028" y="436405"/>
                  <a:pt x="2492832" y="384739"/>
                  <a:pt x="2492832" y="329749"/>
                </a:cubicBezTo>
                <a:cubicBezTo>
                  <a:pt x="2492832" y="295274"/>
                  <a:pt x="2508054" y="263553"/>
                  <a:pt x="2533265" y="245698"/>
                </a:cubicBezTo>
                <a:lnTo>
                  <a:pt x="2683198" y="409243"/>
                </a:lnTo>
                <a:cubicBezTo>
                  <a:pt x="2655419" y="425768"/>
                  <a:pt x="2624214" y="436405"/>
                  <a:pt x="2595674" y="436405"/>
                </a:cubicBezTo>
                <a:moveTo>
                  <a:pt x="2741611" y="354918"/>
                </a:moveTo>
                <a:lnTo>
                  <a:pt x="2611656" y="211887"/>
                </a:lnTo>
                <a:cubicBezTo>
                  <a:pt x="2634870" y="202579"/>
                  <a:pt x="2657417" y="199255"/>
                  <a:pt x="2675968" y="199255"/>
                </a:cubicBezTo>
                <a:cubicBezTo>
                  <a:pt x="2729719" y="199255"/>
                  <a:pt x="2762827" y="230407"/>
                  <a:pt x="2762827" y="283972"/>
                </a:cubicBezTo>
                <a:cubicBezTo>
                  <a:pt x="2762827" y="307905"/>
                  <a:pt x="2756167" y="332409"/>
                  <a:pt x="2741611" y="354918"/>
                </a:cubicBezTo>
                <a:moveTo>
                  <a:pt x="2593676" y="192702"/>
                </a:moveTo>
                <a:lnTo>
                  <a:pt x="2565135" y="160886"/>
                </a:lnTo>
                <a:cubicBezTo>
                  <a:pt x="2539925" y="133058"/>
                  <a:pt x="2532599" y="115868"/>
                  <a:pt x="2532599" y="95354"/>
                </a:cubicBezTo>
                <a:cubicBezTo>
                  <a:pt x="2532599" y="56984"/>
                  <a:pt x="2557144" y="35140"/>
                  <a:pt x="2595579" y="35140"/>
                </a:cubicBezTo>
                <a:cubicBezTo>
                  <a:pt x="2634679" y="35140"/>
                  <a:pt x="2657892" y="57649"/>
                  <a:pt x="2657892" y="98678"/>
                </a:cubicBezTo>
                <a:cubicBezTo>
                  <a:pt x="2657988" y="136478"/>
                  <a:pt x="2639436" y="172188"/>
                  <a:pt x="2593676" y="192702"/>
                </a:cubicBezTo>
                <a:moveTo>
                  <a:pt x="2597672" y="0"/>
                </a:moveTo>
                <a:cubicBezTo>
                  <a:pt x="2506151" y="0"/>
                  <a:pt x="2461057" y="51001"/>
                  <a:pt x="2461057" y="114539"/>
                </a:cubicBezTo>
                <a:cubicBezTo>
                  <a:pt x="2461057" y="148919"/>
                  <a:pt x="2475613" y="183395"/>
                  <a:pt x="2514143" y="225088"/>
                </a:cubicBezTo>
                <a:lnTo>
                  <a:pt x="2514809" y="226418"/>
                </a:lnTo>
                <a:cubicBezTo>
                  <a:pt x="2449831" y="257569"/>
                  <a:pt x="2419959" y="307905"/>
                  <a:pt x="2419959" y="359476"/>
                </a:cubicBezTo>
                <a:cubicBezTo>
                  <a:pt x="2419959" y="427668"/>
                  <a:pt x="2472378" y="484652"/>
                  <a:pt x="2553243" y="484652"/>
                </a:cubicBezTo>
                <a:cubicBezTo>
                  <a:pt x="2599670" y="484652"/>
                  <a:pt x="2654087" y="465467"/>
                  <a:pt x="2703177" y="430992"/>
                </a:cubicBezTo>
                <a:lnTo>
                  <a:pt x="2742943" y="474015"/>
                </a:lnTo>
                <a:lnTo>
                  <a:pt x="2847117" y="474015"/>
                </a:lnTo>
                <a:lnTo>
                  <a:pt x="2847117" y="470691"/>
                </a:lnTo>
                <a:lnTo>
                  <a:pt x="2762256" y="377331"/>
                </a:lnTo>
                <a:cubicBezTo>
                  <a:pt x="2798122" y="334973"/>
                  <a:pt x="2818671" y="288626"/>
                  <a:pt x="2818671" y="248167"/>
                </a:cubicBezTo>
                <a:cubicBezTo>
                  <a:pt x="2818671" y="197831"/>
                  <a:pt x="2784803" y="164115"/>
                  <a:pt x="2731812" y="164115"/>
                </a:cubicBezTo>
                <a:cubicBezTo>
                  <a:pt x="2703938" y="164115"/>
                  <a:pt x="2672733" y="172093"/>
                  <a:pt x="2652184" y="179976"/>
                </a:cubicBezTo>
                <a:lnTo>
                  <a:pt x="2650852" y="177316"/>
                </a:lnTo>
                <a:cubicBezTo>
                  <a:pt x="2701274" y="150154"/>
                  <a:pt x="2722489" y="124986"/>
                  <a:pt x="2722489" y="89940"/>
                </a:cubicBezTo>
                <a:cubicBezTo>
                  <a:pt x="2722394" y="39794"/>
                  <a:pt x="2677300" y="0"/>
                  <a:pt x="2597672" y="0"/>
                </a:cubicBezTo>
                <a:moveTo>
                  <a:pt x="612767" y="838050"/>
                </a:moveTo>
                <a:cubicBezTo>
                  <a:pt x="620092" y="779831"/>
                  <a:pt x="649870" y="746685"/>
                  <a:pt x="702289" y="746685"/>
                </a:cubicBezTo>
                <a:cubicBezTo>
                  <a:pt x="752045" y="746685"/>
                  <a:pt x="781252" y="776507"/>
                  <a:pt x="782584" y="838050"/>
                </a:cubicBezTo>
                <a:lnTo>
                  <a:pt x="612767" y="838050"/>
                </a:lnTo>
                <a:moveTo>
                  <a:pt x="702289" y="701667"/>
                </a:moveTo>
                <a:cubicBezTo>
                  <a:pt x="614765" y="701667"/>
                  <a:pt x="553688" y="763210"/>
                  <a:pt x="553688" y="876514"/>
                </a:cubicBezTo>
                <a:cubicBezTo>
                  <a:pt x="553688" y="985069"/>
                  <a:pt x="610103" y="1046043"/>
                  <a:pt x="702289" y="1046043"/>
                </a:cubicBezTo>
                <a:cubicBezTo>
                  <a:pt x="777922" y="1046043"/>
                  <a:pt x="825680" y="1003020"/>
                  <a:pt x="837572" y="938152"/>
                </a:cubicBezTo>
                <a:lnTo>
                  <a:pt x="787150" y="924951"/>
                </a:lnTo>
                <a:cubicBezTo>
                  <a:pt x="778493" y="980606"/>
                  <a:pt x="748715" y="999790"/>
                  <a:pt x="707522" y="999790"/>
                </a:cubicBezTo>
                <a:cubicBezTo>
                  <a:pt x="641878" y="999790"/>
                  <a:pt x="612672" y="951449"/>
                  <a:pt x="610674" y="877274"/>
                </a:cubicBezTo>
                <a:lnTo>
                  <a:pt x="838143" y="877274"/>
                </a:lnTo>
                <a:lnTo>
                  <a:pt x="838143" y="858754"/>
                </a:lnTo>
                <a:cubicBezTo>
                  <a:pt x="838333" y="742696"/>
                  <a:pt x="775258" y="701667"/>
                  <a:pt x="702289" y="701667"/>
                </a:cubicBezTo>
                <a:moveTo>
                  <a:pt x="1610832" y="838050"/>
                </a:moveTo>
                <a:cubicBezTo>
                  <a:pt x="1618158" y="779831"/>
                  <a:pt x="1647935" y="746685"/>
                  <a:pt x="1700355" y="746685"/>
                </a:cubicBezTo>
                <a:cubicBezTo>
                  <a:pt x="1750111" y="746685"/>
                  <a:pt x="1779317" y="776507"/>
                  <a:pt x="1780649" y="838050"/>
                </a:cubicBezTo>
                <a:lnTo>
                  <a:pt x="1610832" y="838050"/>
                </a:lnTo>
                <a:moveTo>
                  <a:pt x="1700355" y="701667"/>
                </a:moveTo>
                <a:cubicBezTo>
                  <a:pt x="1612830" y="701667"/>
                  <a:pt x="1551753" y="763210"/>
                  <a:pt x="1551753" y="876514"/>
                </a:cubicBezTo>
                <a:cubicBezTo>
                  <a:pt x="1551753" y="985069"/>
                  <a:pt x="1608168" y="1046043"/>
                  <a:pt x="1700355" y="1046043"/>
                </a:cubicBezTo>
                <a:cubicBezTo>
                  <a:pt x="1775987" y="1046043"/>
                  <a:pt x="1823745" y="1003020"/>
                  <a:pt x="1835637" y="938152"/>
                </a:cubicBezTo>
                <a:lnTo>
                  <a:pt x="1785215" y="924951"/>
                </a:lnTo>
                <a:cubicBezTo>
                  <a:pt x="1776558" y="980606"/>
                  <a:pt x="1746781" y="999790"/>
                  <a:pt x="1705587" y="999790"/>
                </a:cubicBezTo>
                <a:cubicBezTo>
                  <a:pt x="1639944" y="999790"/>
                  <a:pt x="1610737" y="951449"/>
                  <a:pt x="1608739" y="877274"/>
                </a:cubicBezTo>
                <a:lnTo>
                  <a:pt x="1836208" y="877274"/>
                </a:lnTo>
                <a:lnTo>
                  <a:pt x="1836208" y="858754"/>
                </a:lnTo>
                <a:cubicBezTo>
                  <a:pt x="1836398" y="742696"/>
                  <a:pt x="1773323" y="701667"/>
                  <a:pt x="1700355" y="701667"/>
                </a:cubicBezTo>
                <a:moveTo>
                  <a:pt x="2044555" y="701667"/>
                </a:moveTo>
                <a:cubicBezTo>
                  <a:pt x="1953700" y="701667"/>
                  <a:pt x="1891957" y="765205"/>
                  <a:pt x="1891957" y="877179"/>
                </a:cubicBezTo>
                <a:cubicBezTo>
                  <a:pt x="1891957" y="987064"/>
                  <a:pt x="1952273" y="1046043"/>
                  <a:pt x="2041891" y="1046043"/>
                </a:cubicBezTo>
                <a:cubicBezTo>
                  <a:pt x="2122851" y="1046043"/>
                  <a:pt x="2168611" y="996371"/>
                  <a:pt x="2177839" y="928180"/>
                </a:cubicBezTo>
                <a:lnTo>
                  <a:pt x="2125420" y="915549"/>
                </a:lnTo>
                <a:cubicBezTo>
                  <a:pt x="2116096" y="977756"/>
                  <a:pt x="2089554" y="998936"/>
                  <a:pt x="2045791" y="998936"/>
                </a:cubicBezTo>
                <a:cubicBezTo>
                  <a:pt x="1982146" y="998936"/>
                  <a:pt x="1949609" y="952588"/>
                  <a:pt x="1949609" y="873095"/>
                </a:cubicBezTo>
                <a:cubicBezTo>
                  <a:pt x="1949609" y="790278"/>
                  <a:pt x="1984144" y="748584"/>
                  <a:pt x="2043127" y="748584"/>
                </a:cubicBezTo>
                <a:cubicBezTo>
                  <a:pt x="2084892" y="748584"/>
                  <a:pt x="2115430" y="769099"/>
                  <a:pt x="2125420" y="828078"/>
                </a:cubicBezTo>
                <a:lnTo>
                  <a:pt x="2177839" y="815446"/>
                </a:lnTo>
                <a:cubicBezTo>
                  <a:pt x="2168611" y="748015"/>
                  <a:pt x="2122851" y="701667"/>
                  <a:pt x="2044555" y="701667"/>
                </a:cubicBezTo>
                <a:moveTo>
                  <a:pt x="477580" y="575827"/>
                </a:moveTo>
                <a:lnTo>
                  <a:pt x="390055" y="575827"/>
                </a:lnTo>
                <a:lnTo>
                  <a:pt x="252775" y="949264"/>
                </a:lnTo>
                <a:lnTo>
                  <a:pt x="114828" y="575827"/>
                </a:lnTo>
                <a:lnTo>
                  <a:pt x="23213" y="575827"/>
                </a:lnTo>
                <a:lnTo>
                  <a:pt x="23213" y="1039300"/>
                </a:lnTo>
                <a:lnTo>
                  <a:pt x="80865" y="1039300"/>
                </a:lnTo>
                <a:lnTo>
                  <a:pt x="80865" y="640124"/>
                </a:lnTo>
                <a:lnTo>
                  <a:pt x="228801" y="1039395"/>
                </a:lnTo>
                <a:lnTo>
                  <a:pt x="273229" y="1039395"/>
                </a:lnTo>
                <a:lnTo>
                  <a:pt x="419832" y="639459"/>
                </a:lnTo>
                <a:lnTo>
                  <a:pt x="419832" y="1039395"/>
                </a:lnTo>
                <a:lnTo>
                  <a:pt x="477580" y="1039395"/>
                </a:lnTo>
                <a:lnTo>
                  <a:pt x="477580" y="575827"/>
                </a:lnTo>
                <a:moveTo>
                  <a:pt x="1042494" y="999031"/>
                </a:moveTo>
                <a:cubicBezTo>
                  <a:pt x="988076" y="999031"/>
                  <a:pt x="951639" y="959996"/>
                  <a:pt x="951639" y="873855"/>
                </a:cubicBezTo>
                <a:cubicBezTo>
                  <a:pt x="951639" y="787144"/>
                  <a:pt x="988076" y="748679"/>
                  <a:pt x="1042494" y="748679"/>
                </a:cubicBezTo>
                <a:cubicBezTo>
                  <a:pt x="1096911" y="748679"/>
                  <a:pt x="1133348" y="787049"/>
                  <a:pt x="1133348" y="873855"/>
                </a:cubicBezTo>
                <a:cubicBezTo>
                  <a:pt x="1133348" y="959901"/>
                  <a:pt x="1096911" y="999031"/>
                  <a:pt x="1042494" y="999031"/>
                </a:cubicBezTo>
                <a:moveTo>
                  <a:pt x="1187099" y="575827"/>
                </a:moveTo>
                <a:lnTo>
                  <a:pt x="1132111" y="575827"/>
                </a:lnTo>
                <a:lnTo>
                  <a:pt x="1132111" y="771853"/>
                </a:lnTo>
                <a:cubicBezTo>
                  <a:pt x="1120124" y="735383"/>
                  <a:pt x="1091013" y="701667"/>
                  <a:pt x="1033265" y="701667"/>
                </a:cubicBezTo>
                <a:cubicBezTo>
                  <a:pt x="958965" y="701667"/>
                  <a:pt x="893987" y="759981"/>
                  <a:pt x="893987" y="875849"/>
                </a:cubicBezTo>
                <a:cubicBezTo>
                  <a:pt x="893987" y="993047"/>
                  <a:pt x="958965" y="1046043"/>
                  <a:pt x="1028604" y="1046043"/>
                </a:cubicBezTo>
                <a:cubicBezTo>
                  <a:pt x="1081023" y="1046043"/>
                  <a:pt x="1119458" y="1015556"/>
                  <a:pt x="1132111" y="972533"/>
                </a:cubicBezTo>
                <a:lnTo>
                  <a:pt x="1132111" y="997701"/>
                </a:lnTo>
                <a:cubicBezTo>
                  <a:pt x="1132111" y="1012897"/>
                  <a:pt x="1133443" y="1029517"/>
                  <a:pt x="1135441" y="1039395"/>
                </a:cubicBezTo>
                <a:lnTo>
                  <a:pt x="1191190" y="1039395"/>
                </a:lnTo>
                <a:cubicBezTo>
                  <a:pt x="1188526" y="1023534"/>
                  <a:pt x="1187194" y="1000360"/>
                  <a:pt x="1187194" y="970538"/>
                </a:cubicBezTo>
                <a:lnTo>
                  <a:pt x="1187194" y="575827"/>
                </a:lnTo>
                <a:moveTo>
                  <a:pt x="1604934" y="575827"/>
                </a:moveTo>
                <a:lnTo>
                  <a:pt x="1246749" y="575827"/>
                </a:lnTo>
                <a:lnTo>
                  <a:pt x="1246749" y="624169"/>
                </a:lnTo>
                <a:lnTo>
                  <a:pt x="1397349" y="624169"/>
                </a:lnTo>
                <a:lnTo>
                  <a:pt x="1397349" y="1039395"/>
                </a:lnTo>
                <a:lnTo>
                  <a:pt x="1455096" y="1039395"/>
                </a:lnTo>
                <a:lnTo>
                  <a:pt x="1455096" y="624169"/>
                </a:lnTo>
                <a:lnTo>
                  <a:pt x="1605029" y="624169"/>
                </a:lnTo>
                <a:lnTo>
                  <a:pt x="1605029" y="575827"/>
                </a:lnTo>
                <a:moveTo>
                  <a:pt x="2295902" y="575827"/>
                </a:moveTo>
                <a:lnTo>
                  <a:pt x="2240819" y="575827"/>
                </a:lnTo>
                <a:lnTo>
                  <a:pt x="2240819" y="1039300"/>
                </a:lnTo>
                <a:lnTo>
                  <a:pt x="2295902" y="1039300"/>
                </a:lnTo>
                <a:lnTo>
                  <a:pt x="2295902" y="821524"/>
                </a:lnTo>
                <a:cubicBezTo>
                  <a:pt x="2295902" y="775177"/>
                  <a:pt x="2319115" y="744026"/>
                  <a:pt x="2368205" y="744026"/>
                </a:cubicBezTo>
                <a:cubicBezTo>
                  <a:pt x="2416629" y="744026"/>
                  <a:pt x="2439842" y="775177"/>
                  <a:pt x="2439842" y="821524"/>
                </a:cubicBezTo>
                <a:lnTo>
                  <a:pt x="2439842" y="1039395"/>
                </a:lnTo>
                <a:lnTo>
                  <a:pt x="2494925" y="1039395"/>
                </a:lnTo>
                <a:lnTo>
                  <a:pt x="2494925" y="810317"/>
                </a:lnTo>
                <a:cubicBezTo>
                  <a:pt x="2494925" y="748110"/>
                  <a:pt x="2456491" y="701762"/>
                  <a:pt x="2388088" y="701762"/>
                </a:cubicBezTo>
                <a:cubicBezTo>
                  <a:pt x="2342328" y="701762"/>
                  <a:pt x="2308460" y="722277"/>
                  <a:pt x="2295902" y="759411"/>
                </a:cubicBezTo>
                <a:lnTo>
                  <a:pt x="2295902" y="575827"/>
                </a:lnTo>
              </a:path>
            </a:pathLst>
          </a:custGeom>
          <a:solidFill>
            <a:srgbClr val="EB1700"/>
          </a:solidFill>
          <a:ln w="95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7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hf hdr="0" dt="0"/>
  <p:txStyles>
    <p:titleStyle>
      <a:lvl1pPr algn="l" defTabSz="1304290" rtl="0" eaLnBrk="1" latinLnBrk="0" hangingPunct="1">
        <a:lnSpc>
          <a:spcPct val="85000"/>
        </a:lnSpc>
        <a:spcBef>
          <a:spcPts val="855"/>
        </a:spcBef>
        <a:spcAft>
          <a:spcPts val="855"/>
        </a:spcAft>
        <a:buNone/>
        <a:defRPr sz="3500" b="0" i="0" kern="1200" spc="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1304290" rtl="0" eaLnBrk="1" latinLnBrk="0" hangingPunct="1">
        <a:lnSpc>
          <a:spcPct val="110000"/>
        </a:lnSpc>
        <a:spcBef>
          <a:spcPts val="855"/>
        </a:spcBef>
        <a:spcAft>
          <a:spcPts val="855"/>
        </a:spcAft>
        <a:buFont typeface="Arial" panose="020B0604020202090204" pitchFamily="34" charset="0"/>
        <a:buNone/>
        <a:defRPr sz="1555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07670" indent="-407670" algn="l" defTabSz="1304290" rtl="0" eaLnBrk="1" latinLnBrk="0" hangingPunct="1">
        <a:lnSpc>
          <a:spcPct val="110000"/>
        </a:lnSpc>
        <a:spcBef>
          <a:spcPts val="0"/>
        </a:spcBef>
        <a:spcAft>
          <a:spcPts val="855"/>
        </a:spcAft>
        <a:buFont typeface="Arial" panose="020B0604020202090204" pitchFamily="34" charset="0"/>
        <a:buChar char="•"/>
        <a:defRPr sz="1555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815340" indent="-407670" algn="l" defTabSz="1304290" rtl="0" eaLnBrk="1" latinLnBrk="0" hangingPunct="1">
        <a:lnSpc>
          <a:spcPct val="110000"/>
        </a:lnSpc>
        <a:spcBef>
          <a:spcPts val="0"/>
        </a:spcBef>
        <a:spcAft>
          <a:spcPts val="855"/>
        </a:spcAft>
        <a:buFont typeface="Arial" panose="020B0604020202090204" pitchFamily="34" charset="0"/>
        <a:buChar char="•"/>
        <a:defRPr sz="136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222375" indent="-407670" algn="l" defTabSz="1304290" rtl="0" eaLnBrk="1" latinLnBrk="0" hangingPunct="1">
        <a:lnSpc>
          <a:spcPct val="110000"/>
        </a:lnSpc>
        <a:spcBef>
          <a:spcPts val="0"/>
        </a:spcBef>
        <a:spcAft>
          <a:spcPts val="855"/>
        </a:spcAft>
        <a:buFont typeface="Arial" panose="020B0604020202090204" pitchFamily="34" charset="0"/>
        <a:buChar char="•"/>
        <a:defRPr sz="136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1304290" rtl="0" eaLnBrk="1" latinLnBrk="0" hangingPunct="1">
        <a:lnSpc>
          <a:spcPct val="110000"/>
        </a:lnSpc>
        <a:spcBef>
          <a:spcPts val="855"/>
        </a:spcBef>
        <a:spcAft>
          <a:spcPts val="855"/>
        </a:spcAft>
        <a:buFont typeface="Arial" panose="020B0604020202090204" pitchFamily="34" charset="0"/>
        <a:buNone/>
        <a:defRPr sz="875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1304290" rtl="0" eaLnBrk="1" latinLnBrk="0" hangingPunct="1">
        <a:lnSpc>
          <a:spcPct val="90000"/>
        </a:lnSpc>
        <a:spcBef>
          <a:spcPts val="855"/>
        </a:spcBef>
        <a:spcAft>
          <a:spcPts val="855"/>
        </a:spcAft>
        <a:buFont typeface="Arial" panose="020B0604020202090204" pitchFamily="34" charset="0"/>
        <a:buNone/>
        <a:defRPr lang="en-GB" sz="257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1304290" rtl="0" eaLnBrk="1" latinLnBrk="0" hangingPunct="1">
        <a:lnSpc>
          <a:spcPct val="90000"/>
        </a:lnSpc>
        <a:spcBef>
          <a:spcPts val="855"/>
        </a:spcBef>
        <a:spcAft>
          <a:spcPts val="855"/>
        </a:spcAft>
        <a:buFont typeface="Arial" panose="020B0604020202090204" pitchFamily="34" charset="0"/>
        <a:buNone/>
        <a:defRPr lang="en-GB" sz="257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1304290" rtl="0" eaLnBrk="1" latinLnBrk="0" hangingPunct="1">
        <a:lnSpc>
          <a:spcPct val="90000"/>
        </a:lnSpc>
        <a:spcBef>
          <a:spcPts val="855"/>
        </a:spcBef>
        <a:spcAft>
          <a:spcPts val="855"/>
        </a:spcAft>
        <a:buFont typeface="Arial" panose="020B0604020202090204" pitchFamily="34" charset="0"/>
        <a:buNone/>
        <a:defRPr lang="en-GB" sz="2570" b="0" i="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1304290" rtl="0" eaLnBrk="1" latinLnBrk="0" hangingPunct="1">
        <a:lnSpc>
          <a:spcPct val="90000"/>
        </a:lnSpc>
        <a:spcBef>
          <a:spcPts val="855"/>
        </a:spcBef>
        <a:spcAft>
          <a:spcPts val="855"/>
        </a:spcAft>
        <a:buFont typeface="Arial" panose="020B0604020202090204" pitchFamily="34" charset="0"/>
        <a:buNone/>
        <a:defRPr sz="2570" b="0" i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4290" rtl="0" eaLnBrk="1" latinLnBrk="0" hangingPunct="1">
        <a:defRPr sz="2570" kern="1200">
          <a:solidFill>
            <a:schemeClr val="tx1"/>
          </a:solidFill>
          <a:latin typeface="+mn-lt"/>
          <a:ea typeface="+mn-ea"/>
          <a:cs typeface="+mn-cs"/>
        </a:defRPr>
      </a:lvl1pPr>
      <a:lvl2pPr marL="652145" algn="l" defTabSz="1304290" rtl="0" eaLnBrk="1" latinLnBrk="0" hangingPunct="1">
        <a:defRPr sz="2570" kern="1200">
          <a:solidFill>
            <a:schemeClr val="tx1"/>
          </a:solidFill>
          <a:latin typeface="+mn-lt"/>
          <a:ea typeface="+mn-ea"/>
          <a:cs typeface="+mn-cs"/>
        </a:defRPr>
      </a:lvl2pPr>
      <a:lvl3pPr marL="1304290" algn="l" defTabSz="1304290" rtl="0" eaLnBrk="1" latinLnBrk="0" hangingPunct="1">
        <a:defRPr sz="2570" kern="1200">
          <a:solidFill>
            <a:schemeClr val="tx1"/>
          </a:solidFill>
          <a:latin typeface="+mn-lt"/>
          <a:ea typeface="+mn-ea"/>
          <a:cs typeface="+mn-cs"/>
        </a:defRPr>
      </a:lvl3pPr>
      <a:lvl4pPr marL="1956435" algn="l" defTabSz="1304290" rtl="0" eaLnBrk="1" latinLnBrk="0" hangingPunct="1">
        <a:defRPr sz="2570" kern="1200">
          <a:solidFill>
            <a:schemeClr val="tx1"/>
          </a:solidFill>
          <a:latin typeface="+mn-lt"/>
          <a:ea typeface="+mn-ea"/>
          <a:cs typeface="+mn-cs"/>
        </a:defRPr>
      </a:lvl4pPr>
      <a:lvl5pPr marL="2608580" algn="l" defTabSz="1304290" rtl="0" eaLnBrk="1" latinLnBrk="0" hangingPunct="1">
        <a:defRPr sz="2570" kern="1200">
          <a:solidFill>
            <a:schemeClr val="tx1"/>
          </a:solidFill>
          <a:latin typeface="+mn-lt"/>
          <a:ea typeface="+mn-ea"/>
          <a:cs typeface="+mn-cs"/>
        </a:defRPr>
      </a:lvl5pPr>
      <a:lvl6pPr marL="3260725" algn="l" defTabSz="1304290" rtl="0" eaLnBrk="1" latinLnBrk="0" hangingPunct="1">
        <a:defRPr sz="2570" kern="1200">
          <a:solidFill>
            <a:schemeClr val="tx1"/>
          </a:solidFill>
          <a:latin typeface="+mn-lt"/>
          <a:ea typeface="+mn-ea"/>
          <a:cs typeface="+mn-cs"/>
        </a:defRPr>
      </a:lvl6pPr>
      <a:lvl7pPr marL="3913505" algn="l" defTabSz="1304290" rtl="0" eaLnBrk="1" latinLnBrk="0" hangingPunct="1">
        <a:defRPr sz="2570" kern="1200">
          <a:solidFill>
            <a:schemeClr val="tx1"/>
          </a:solidFill>
          <a:latin typeface="+mn-lt"/>
          <a:ea typeface="+mn-ea"/>
          <a:cs typeface="+mn-cs"/>
        </a:defRPr>
      </a:lvl7pPr>
      <a:lvl8pPr marL="4565650" algn="l" defTabSz="1304290" rtl="0" eaLnBrk="1" latinLnBrk="0" hangingPunct="1">
        <a:defRPr sz="2570" kern="1200">
          <a:solidFill>
            <a:schemeClr val="tx1"/>
          </a:solidFill>
          <a:latin typeface="+mn-lt"/>
          <a:ea typeface="+mn-ea"/>
          <a:cs typeface="+mn-cs"/>
        </a:defRPr>
      </a:lvl8pPr>
      <a:lvl9pPr marL="5217795" algn="l" defTabSz="1304290" rtl="0" eaLnBrk="1" latinLnBrk="0" hangingPunct="1">
        <a:defRPr sz="25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0581" y="419873"/>
            <a:ext cx="5983159" cy="52611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0553" y="2333075"/>
            <a:ext cx="3207407" cy="5261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0552" y="9426676"/>
            <a:ext cx="6785828" cy="28700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785"/>
              </a:spcBef>
              <a:spcAft>
                <a:spcPts val="785"/>
              </a:spcAft>
              <a:defRPr sz="71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90"/>
              </a:spcAft>
            </a:pPr>
            <a:r>
              <a:rPr lang="en-US"/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90"/>
              </a:spcAft>
            </a:pPr>
            <a:r>
              <a:rPr lang="en-US"/>
              <a:t>Slide footer goes here if required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76492" y="10300164"/>
            <a:ext cx="369886" cy="27974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ct val="110000"/>
              </a:lnSpc>
              <a:spcBef>
                <a:spcPts val="785"/>
              </a:spcBef>
              <a:spcAft>
                <a:spcPts val="785"/>
              </a:spcAft>
              <a:defRPr sz="89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AEC8D767-5246-2244-A4A3-B8AFB218393C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4" name="Graphic 5"/>
          <p:cNvSpPr>
            <a:spLocks noChangeAspect="1"/>
          </p:cNvSpPr>
          <p:nvPr userDrawn="1"/>
        </p:nvSpPr>
        <p:spPr>
          <a:xfrm>
            <a:off x="360552" y="12391283"/>
            <a:ext cx="1996158" cy="449147"/>
          </a:xfrm>
          <a:custGeom>
            <a:avLst/>
            <a:gdLst>
              <a:gd name="connsiteX0" fmla="*/ 515919 w 5217319"/>
              <a:gd name="connsiteY0" fmla="*/ 444383 h 1046042"/>
              <a:gd name="connsiteX1" fmla="*/ 436291 w 5217319"/>
              <a:gd name="connsiteY1" fmla="*/ 308665 h 1046042"/>
              <a:gd name="connsiteX2" fmla="*/ 515919 w 5217319"/>
              <a:gd name="connsiteY2" fmla="*/ 172948 h 1046042"/>
              <a:gd name="connsiteX3" fmla="*/ 595547 w 5217319"/>
              <a:gd name="connsiteY3" fmla="*/ 308665 h 1046042"/>
              <a:gd name="connsiteX4" fmla="*/ 515919 w 5217319"/>
              <a:gd name="connsiteY4" fmla="*/ 444383 h 1046042"/>
              <a:gd name="connsiteX5" fmla="*/ 515919 w 5217319"/>
              <a:gd name="connsiteY5" fmla="*/ 136478 h 1046042"/>
              <a:gd name="connsiteX6" fmla="*/ 354094 w 5217319"/>
              <a:gd name="connsiteY6" fmla="*/ 308665 h 1046042"/>
              <a:gd name="connsiteX7" fmla="*/ 515919 w 5217319"/>
              <a:gd name="connsiteY7" fmla="*/ 480853 h 1046042"/>
              <a:gd name="connsiteX8" fmla="*/ 677744 w 5217319"/>
              <a:gd name="connsiteY8" fmla="*/ 308665 h 1046042"/>
              <a:gd name="connsiteX9" fmla="*/ 515919 w 5217319"/>
              <a:gd name="connsiteY9" fmla="*/ 136478 h 1046042"/>
              <a:gd name="connsiteX10" fmla="*/ 1239519 w 5217319"/>
              <a:gd name="connsiteY10" fmla="*/ 136478 h 1046042"/>
              <a:gd name="connsiteX11" fmla="*/ 1147999 w 5217319"/>
              <a:gd name="connsiteY11" fmla="*/ 184819 h 1046042"/>
              <a:gd name="connsiteX12" fmla="*/ 1144003 w 5217319"/>
              <a:gd name="connsiteY12" fmla="*/ 184819 h 1046042"/>
              <a:gd name="connsiteX13" fmla="*/ 1144003 w 5217319"/>
              <a:gd name="connsiteY13" fmla="*/ 143126 h 1046042"/>
              <a:gd name="connsiteX14" fmla="*/ 1065707 w 5217319"/>
              <a:gd name="connsiteY14" fmla="*/ 143126 h 1046042"/>
              <a:gd name="connsiteX15" fmla="*/ 1065707 w 5217319"/>
              <a:gd name="connsiteY15" fmla="*/ 474205 h 1046042"/>
              <a:gd name="connsiteX16" fmla="*/ 1144003 w 5217319"/>
              <a:gd name="connsiteY16" fmla="*/ 474205 h 1046042"/>
              <a:gd name="connsiteX17" fmla="*/ 1144003 w 5217319"/>
              <a:gd name="connsiteY17" fmla="*/ 260229 h 1046042"/>
              <a:gd name="connsiteX18" fmla="*/ 1209646 w 5217319"/>
              <a:gd name="connsiteY18" fmla="*/ 182730 h 1046042"/>
              <a:gd name="connsiteX19" fmla="*/ 1266062 w 5217319"/>
              <a:gd name="connsiteY19" fmla="*/ 247597 h 1046042"/>
              <a:gd name="connsiteX20" fmla="*/ 1266062 w 5217319"/>
              <a:gd name="connsiteY20" fmla="*/ 474015 h 1046042"/>
              <a:gd name="connsiteX21" fmla="*/ 1344358 w 5217319"/>
              <a:gd name="connsiteY21" fmla="*/ 474015 h 1046042"/>
              <a:gd name="connsiteX22" fmla="*/ 1344358 w 5217319"/>
              <a:gd name="connsiteY22" fmla="*/ 247027 h 1046042"/>
              <a:gd name="connsiteX23" fmla="*/ 1239519 w 5217319"/>
              <a:gd name="connsiteY23" fmla="*/ 136478 h 1046042"/>
              <a:gd name="connsiteX24" fmla="*/ 1521976 w 5217319"/>
              <a:gd name="connsiteY24" fmla="*/ 136478 h 1046042"/>
              <a:gd name="connsiteX25" fmla="*/ 1395256 w 5217319"/>
              <a:gd name="connsiteY25" fmla="*/ 231831 h 1046042"/>
              <a:gd name="connsiteX26" fmla="*/ 1475550 w 5217319"/>
              <a:gd name="connsiteY26" fmla="*/ 327185 h 1046042"/>
              <a:gd name="connsiteX27" fmla="*/ 1541859 w 5217319"/>
              <a:gd name="connsiteY27" fmla="*/ 343711 h 1046042"/>
              <a:gd name="connsiteX28" fmla="*/ 1592947 w 5217319"/>
              <a:gd name="connsiteY28" fmla="*/ 392717 h 1046042"/>
              <a:gd name="connsiteX29" fmla="*/ 1527303 w 5217319"/>
              <a:gd name="connsiteY29" fmla="*/ 445713 h 1046042"/>
              <a:gd name="connsiteX30" fmla="*/ 1451671 w 5217319"/>
              <a:gd name="connsiteY30" fmla="*/ 368879 h 1046042"/>
              <a:gd name="connsiteX31" fmla="*/ 1381366 w 5217319"/>
              <a:gd name="connsiteY31" fmla="*/ 388728 h 1046042"/>
              <a:gd name="connsiteX32" fmla="*/ 1518646 w 5217319"/>
              <a:gd name="connsiteY32" fmla="*/ 480758 h 1046042"/>
              <a:gd name="connsiteX33" fmla="*/ 1656592 w 5217319"/>
              <a:gd name="connsiteY33" fmla="*/ 372868 h 1046042"/>
              <a:gd name="connsiteX34" fmla="*/ 1568402 w 5217319"/>
              <a:gd name="connsiteY34" fmla="*/ 273525 h 1046042"/>
              <a:gd name="connsiteX35" fmla="*/ 1504756 w 5217319"/>
              <a:gd name="connsiteY35" fmla="*/ 257664 h 1046042"/>
              <a:gd name="connsiteX36" fmla="*/ 1458996 w 5217319"/>
              <a:gd name="connsiteY36" fmla="*/ 213976 h 1046042"/>
              <a:gd name="connsiteX37" fmla="*/ 1515411 w 5217319"/>
              <a:gd name="connsiteY37" fmla="*/ 171618 h 1046042"/>
              <a:gd name="connsiteX38" fmla="*/ 1583053 w 5217319"/>
              <a:gd name="connsiteY38" fmla="*/ 235155 h 1046042"/>
              <a:gd name="connsiteX39" fmla="*/ 1649362 w 5217319"/>
              <a:gd name="connsiteY39" fmla="*/ 215306 h 1046042"/>
              <a:gd name="connsiteX40" fmla="*/ 1521976 w 5217319"/>
              <a:gd name="connsiteY40" fmla="*/ 136478 h 1046042"/>
              <a:gd name="connsiteX41" fmla="*/ 1850954 w 5217319"/>
              <a:gd name="connsiteY41" fmla="*/ 444383 h 1046042"/>
              <a:gd name="connsiteX42" fmla="*/ 1771326 w 5217319"/>
              <a:gd name="connsiteY42" fmla="*/ 308665 h 1046042"/>
              <a:gd name="connsiteX43" fmla="*/ 1850954 w 5217319"/>
              <a:gd name="connsiteY43" fmla="*/ 172948 h 1046042"/>
              <a:gd name="connsiteX44" fmla="*/ 1930582 w 5217319"/>
              <a:gd name="connsiteY44" fmla="*/ 308665 h 1046042"/>
              <a:gd name="connsiteX45" fmla="*/ 1850954 w 5217319"/>
              <a:gd name="connsiteY45" fmla="*/ 444383 h 1046042"/>
              <a:gd name="connsiteX46" fmla="*/ 1850954 w 5217319"/>
              <a:gd name="connsiteY46" fmla="*/ 136478 h 1046042"/>
              <a:gd name="connsiteX47" fmla="*/ 1689129 w 5217319"/>
              <a:gd name="connsiteY47" fmla="*/ 308665 h 1046042"/>
              <a:gd name="connsiteX48" fmla="*/ 1850954 w 5217319"/>
              <a:gd name="connsiteY48" fmla="*/ 480853 h 1046042"/>
              <a:gd name="connsiteX49" fmla="*/ 2012779 w 5217319"/>
              <a:gd name="connsiteY49" fmla="*/ 308665 h 1046042"/>
              <a:gd name="connsiteX50" fmla="*/ 1850954 w 5217319"/>
              <a:gd name="connsiteY50" fmla="*/ 136478 h 1046042"/>
              <a:gd name="connsiteX51" fmla="*/ 2232923 w 5217319"/>
              <a:gd name="connsiteY51" fmla="*/ 136478 h 1046042"/>
              <a:gd name="connsiteX52" fmla="*/ 2141402 w 5217319"/>
              <a:gd name="connsiteY52" fmla="*/ 184819 h 1046042"/>
              <a:gd name="connsiteX53" fmla="*/ 2137407 w 5217319"/>
              <a:gd name="connsiteY53" fmla="*/ 184819 h 1046042"/>
              <a:gd name="connsiteX54" fmla="*/ 2137407 w 5217319"/>
              <a:gd name="connsiteY54" fmla="*/ 143126 h 1046042"/>
              <a:gd name="connsiteX55" fmla="*/ 2059110 w 5217319"/>
              <a:gd name="connsiteY55" fmla="*/ 143126 h 1046042"/>
              <a:gd name="connsiteX56" fmla="*/ 2059110 w 5217319"/>
              <a:gd name="connsiteY56" fmla="*/ 474205 h 1046042"/>
              <a:gd name="connsiteX57" fmla="*/ 2137407 w 5217319"/>
              <a:gd name="connsiteY57" fmla="*/ 474205 h 1046042"/>
              <a:gd name="connsiteX58" fmla="*/ 2137407 w 5217319"/>
              <a:gd name="connsiteY58" fmla="*/ 260229 h 1046042"/>
              <a:gd name="connsiteX59" fmla="*/ 2203050 w 5217319"/>
              <a:gd name="connsiteY59" fmla="*/ 182730 h 1046042"/>
              <a:gd name="connsiteX60" fmla="*/ 2259465 w 5217319"/>
              <a:gd name="connsiteY60" fmla="*/ 247597 h 1046042"/>
              <a:gd name="connsiteX61" fmla="*/ 2259465 w 5217319"/>
              <a:gd name="connsiteY61" fmla="*/ 474015 h 1046042"/>
              <a:gd name="connsiteX62" fmla="*/ 2337762 w 5217319"/>
              <a:gd name="connsiteY62" fmla="*/ 474015 h 1046042"/>
              <a:gd name="connsiteX63" fmla="*/ 2337762 w 5217319"/>
              <a:gd name="connsiteY63" fmla="*/ 247027 h 1046042"/>
              <a:gd name="connsiteX64" fmla="*/ 2232923 w 5217319"/>
              <a:gd name="connsiteY64" fmla="*/ 136478 h 1046042"/>
              <a:gd name="connsiteX65" fmla="*/ 3395477 w 5217319"/>
              <a:gd name="connsiteY65" fmla="*/ 444383 h 1046042"/>
              <a:gd name="connsiteX66" fmla="*/ 3315849 w 5217319"/>
              <a:gd name="connsiteY66" fmla="*/ 308665 h 1046042"/>
              <a:gd name="connsiteX67" fmla="*/ 3395477 w 5217319"/>
              <a:gd name="connsiteY67" fmla="*/ 172948 h 1046042"/>
              <a:gd name="connsiteX68" fmla="*/ 3475105 w 5217319"/>
              <a:gd name="connsiteY68" fmla="*/ 308665 h 1046042"/>
              <a:gd name="connsiteX69" fmla="*/ 3395477 w 5217319"/>
              <a:gd name="connsiteY69" fmla="*/ 444383 h 1046042"/>
              <a:gd name="connsiteX70" fmla="*/ 3395477 w 5217319"/>
              <a:gd name="connsiteY70" fmla="*/ 136478 h 1046042"/>
              <a:gd name="connsiteX71" fmla="*/ 3233652 w 5217319"/>
              <a:gd name="connsiteY71" fmla="*/ 308665 h 1046042"/>
              <a:gd name="connsiteX72" fmla="*/ 3395477 w 5217319"/>
              <a:gd name="connsiteY72" fmla="*/ 480853 h 1046042"/>
              <a:gd name="connsiteX73" fmla="*/ 3557302 w 5217319"/>
              <a:gd name="connsiteY73" fmla="*/ 308665 h 1046042"/>
              <a:gd name="connsiteX74" fmla="*/ 3395477 w 5217319"/>
              <a:gd name="connsiteY74" fmla="*/ 136478 h 1046042"/>
              <a:gd name="connsiteX75" fmla="*/ 4118981 w 5217319"/>
              <a:gd name="connsiteY75" fmla="*/ 136478 h 1046042"/>
              <a:gd name="connsiteX76" fmla="*/ 4027461 w 5217319"/>
              <a:gd name="connsiteY76" fmla="*/ 184819 h 1046042"/>
              <a:gd name="connsiteX77" fmla="*/ 4023466 w 5217319"/>
              <a:gd name="connsiteY77" fmla="*/ 184819 h 1046042"/>
              <a:gd name="connsiteX78" fmla="*/ 4023466 w 5217319"/>
              <a:gd name="connsiteY78" fmla="*/ 143126 h 1046042"/>
              <a:gd name="connsiteX79" fmla="*/ 3945169 w 5217319"/>
              <a:gd name="connsiteY79" fmla="*/ 143126 h 1046042"/>
              <a:gd name="connsiteX80" fmla="*/ 3945169 w 5217319"/>
              <a:gd name="connsiteY80" fmla="*/ 474205 h 1046042"/>
              <a:gd name="connsiteX81" fmla="*/ 4023466 w 5217319"/>
              <a:gd name="connsiteY81" fmla="*/ 474205 h 1046042"/>
              <a:gd name="connsiteX82" fmla="*/ 4023466 w 5217319"/>
              <a:gd name="connsiteY82" fmla="*/ 260229 h 1046042"/>
              <a:gd name="connsiteX83" fmla="*/ 4089109 w 5217319"/>
              <a:gd name="connsiteY83" fmla="*/ 182730 h 1046042"/>
              <a:gd name="connsiteX84" fmla="*/ 4145524 w 5217319"/>
              <a:gd name="connsiteY84" fmla="*/ 247597 h 1046042"/>
              <a:gd name="connsiteX85" fmla="*/ 4145524 w 5217319"/>
              <a:gd name="connsiteY85" fmla="*/ 474015 h 1046042"/>
              <a:gd name="connsiteX86" fmla="*/ 4223821 w 5217319"/>
              <a:gd name="connsiteY86" fmla="*/ 474015 h 1046042"/>
              <a:gd name="connsiteX87" fmla="*/ 4223821 w 5217319"/>
              <a:gd name="connsiteY87" fmla="*/ 247027 h 1046042"/>
              <a:gd name="connsiteX88" fmla="*/ 4118981 w 5217319"/>
              <a:gd name="connsiteY88" fmla="*/ 136478 h 1046042"/>
              <a:gd name="connsiteX89" fmla="*/ 4401534 w 5217319"/>
              <a:gd name="connsiteY89" fmla="*/ 136478 h 1046042"/>
              <a:gd name="connsiteX90" fmla="*/ 4274813 w 5217319"/>
              <a:gd name="connsiteY90" fmla="*/ 231831 h 1046042"/>
              <a:gd name="connsiteX91" fmla="*/ 4355108 w 5217319"/>
              <a:gd name="connsiteY91" fmla="*/ 327185 h 1046042"/>
              <a:gd name="connsiteX92" fmla="*/ 4421417 w 5217319"/>
              <a:gd name="connsiteY92" fmla="*/ 343711 h 1046042"/>
              <a:gd name="connsiteX93" fmla="*/ 4472505 w 5217319"/>
              <a:gd name="connsiteY93" fmla="*/ 392717 h 1046042"/>
              <a:gd name="connsiteX94" fmla="*/ 4406861 w 5217319"/>
              <a:gd name="connsiteY94" fmla="*/ 445713 h 1046042"/>
              <a:gd name="connsiteX95" fmla="*/ 4331229 w 5217319"/>
              <a:gd name="connsiteY95" fmla="*/ 368879 h 1046042"/>
              <a:gd name="connsiteX96" fmla="*/ 4260924 w 5217319"/>
              <a:gd name="connsiteY96" fmla="*/ 388728 h 1046042"/>
              <a:gd name="connsiteX97" fmla="*/ 4398204 w 5217319"/>
              <a:gd name="connsiteY97" fmla="*/ 480758 h 1046042"/>
              <a:gd name="connsiteX98" fmla="*/ 4536150 w 5217319"/>
              <a:gd name="connsiteY98" fmla="*/ 372868 h 1046042"/>
              <a:gd name="connsiteX99" fmla="*/ 4447960 w 5217319"/>
              <a:gd name="connsiteY99" fmla="*/ 273525 h 1046042"/>
              <a:gd name="connsiteX100" fmla="*/ 4384314 w 5217319"/>
              <a:gd name="connsiteY100" fmla="*/ 257664 h 1046042"/>
              <a:gd name="connsiteX101" fmla="*/ 4338554 w 5217319"/>
              <a:gd name="connsiteY101" fmla="*/ 213976 h 1046042"/>
              <a:gd name="connsiteX102" fmla="*/ 4394969 w 5217319"/>
              <a:gd name="connsiteY102" fmla="*/ 171618 h 1046042"/>
              <a:gd name="connsiteX103" fmla="*/ 4462610 w 5217319"/>
              <a:gd name="connsiteY103" fmla="*/ 235155 h 1046042"/>
              <a:gd name="connsiteX104" fmla="*/ 4528920 w 5217319"/>
              <a:gd name="connsiteY104" fmla="*/ 215306 h 1046042"/>
              <a:gd name="connsiteX105" fmla="*/ 4401534 w 5217319"/>
              <a:gd name="connsiteY105" fmla="*/ 136478 h 1046042"/>
              <a:gd name="connsiteX106" fmla="*/ 4730417 w 5217319"/>
              <a:gd name="connsiteY106" fmla="*/ 444383 h 1046042"/>
              <a:gd name="connsiteX107" fmla="*/ 4650788 w 5217319"/>
              <a:gd name="connsiteY107" fmla="*/ 308665 h 1046042"/>
              <a:gd name="connsiteX108" fmla="*/ 4730417 w 5217319"/>
              <a:gd name="connsiteY108" fmla="*/ 172948 h 1046042"/>
              <a:gd name="connsiteX109" fmla="*/ 4810045 w 5217319"/>
              <a:gd name="connsiteY109" fmla="*/ 308665 h 1046042"/>
              <a:gd name="connsiteX110" fmla="*/ 4730417 w 5217319"/>
              <a:gd name="connsiteY110" fmla="*/ 444383 h 1046042"/>
              <a:gd name="connsiteX111" fmla="*/ 4730417 w 5217319"/>
              <a:gd name="connsiteY111" fmla="*/ 136478 h 1046042"/>
              <a:gd name="connsiteX112" fmla="*/ 4568591 w 5217319"/>
              <a:gd name="connsiteY112" fmla="*/ 308665 h 1046042"/>
              <a:gd name="connsiteX113" fmla="*/ 4730417 w 5217319"/>
              <a:gd name="connsiteY113" fmla="*/ 480853 h 1046042"/>
              <a:gd name="connsiteX114" fmla="*/ 4892242 w 5217319"/>
              <a:gd name="connsiteY114" fmla="*/ 308665 h 1046042"/>
              <a:gd name="connsiteX115" fmla="*/ 4730417 w 5217319"/>
              <a:gd name="connsiteY115" fmla="*/ 136478 h 1046042"/>
              <a:gd name="connsiteX116" fmla="*/ 5112481 w 5217319"/>
              <a:gd name="connsiteY116" fmla="*/ 136478 h 1046042"/>
              <a:gd name="connsiteX117" fmla="*/ 5020960 w 5217319"/>
              <a:gd name="connsiteY117" fmla="*/ 184819 h 1046042"/>
              <a:gd name="connsiteX118" fmla="*/ 5016964 w 5217319"/>
              <a:gd name="connsiteY118" fmla="*/ 184819 h 1046042"/>
              <a:gd name="connsiteX119" fmla="*/ 5016964 w 5217319"/>
              <a:gd name="connsiteY119" fmla="*/ 143126 h 1046042"/>
              <a:gd name="connsiteX120" fmla="*/ 4938668 w 5217319"/>
              <a:gd name="connsiteY120" fmla="*/ 143126 h 1046042"/>
              <a:gd name="connsiteX121" fmla="*/ 4938668 w 5217319"/>
              <a:gd name="connsiteY121" fmla="*/ 474205 h 1046042"/>
              <a:gd name="connsiteX122" fmla="*/ 5016964 w 5217319"/>
              <a:gd name="connsiteY122" fmla="*/ 474205 h 1046042"/>
              <a:gd name="connsiteX123" fmla="*/ 5016964 w 5217319"/>
              <a:gd name="connsiteY123" fmla="*/ 260229 h 1046042"/>
              <a:gd name="connsiteX124" fmla="*/ 5082608 w 5217319"/>
              <a:gd name="connsiteY124" fmla="*/ 182730 h 1046042"/>
              <a:gd name="connsiteX125" fmla="*/ 5139023 w 5217319"/>
              <a:gd name="connsiteY125" fmla="*/ 247597 h 1046042"/>
              <a:gd name="connsiteX126" fmla="*/ 5139023 w 5217319"/>
              <a:gd name="connsiteY126" fmla="*/ 474015 h 1046042"/>
              <a:gd name="connsiteX127" fmla="*/ 5217319 w 5217319"/>
              <a:gd name="connsiteY127" fmla="*/ 474015 h 1046042"/>
              <a:gd name="connsiteX128" fmla="*/ 5217319 w 5217319"/>
              <a:gd name="connsiteY128" fmla="*/ 247027 h 1046042"/>
              <a:gd name="connsiteX129" fmla="*/ 5112481 w 5217319"/>
              <a:gd name="connsiteY129" fmla="*/ 136478 h 1046042"/>
              <a:gd name="connsiteX130" fmla="*/ 307763 w 5217319"/>
              <a:gd name="connsiteY130" fmla="*/ 10637 h 1046042"/>
              <a:gd name="connsiteX131" fmla="*/ 225471 w 5217319"/>
              <a:gd name="connsiteY131" fmla="*/ 10637 h 1046042"/>
              <a:gd name="connsiteX132" fmla="*/ 225471 w 5217319"/>
              <a:gd name="connsiteY132" fmla="*/ 353018 h 1046042"/>
              <a:gd name="connsiteX133" fmla="*/ 153834 w 5217319"/>
              <a:gd name="connsiteY133" fmla="*/ 441724 h 1046042"/>
              <a:gd name="connsiteX134" fmla="*/ 82197 w 5217319"/>
              <a:gd name="connsiteY134" fmla="*/ 346370 h 1046042"/>
              <a:gd name="connsiteX135" fmla="*/ 82197 w 5217319"/>
              <a:gd name="connsiteY135" fmla="*/ 282832 h 1046042"/>
              <a:gd name="connsiteX136" fmla="*/ 0 w 5217319"/>
              <a:gd name="connsiteY136" fmla="*/ 303347 h 1046042"/>
              <a:gd name="connsiteX137" fmla="*/ 0 w 5217319"/>
              <a:gd name="connsiteY137" fmla="*/ 331839 h 1046042"/>
              <a:gd name="connsiteX138" fmla="*/ 153929 w 5217319"/>
              <a:gd name="connsiteY138" fmla="*/ 484842 h 1046042"/>
              <a:gd name="connsiteX139" fmla="*/ 307763 w 5217319"/>
              <a:gd name="connsiteY139" fmla="*/ 331839 h 1046042"/>
              <a:gd name="connsiteX140" fmla="*/ 307763 w 5217319"/>
              <a:gd name="connsiteY140" fmla="*/ 10637 h 1046042"/>
              <a:gd name="connsiteX141" fmla="*/ 802467 w 5217319"/>
              <a:gd name="connsiteY141" fmla="*/ 10637 h 1046042"/>
              <a:gd name="connsiteX142" fmla="*/ 724171 w 5217319"/>
              <a:gd name="connsiteY142" fmla="*/ 10637 h 1046042"/>
              <a:gd name="connsiteX143" fmla="*/ 724171 w 5217319"/>
              <a:gd name="connsiteY143" fmla="*/ 474110 h 1046042"/>
              <a:gd name="connsiteX144" fmla="*/ 802467 w 5217319"/>
              <a:gd name="connsiteY144" fmla="*/ 474110 h 1046042"/>
              <a:gd name="connsiteX145" fmla="*/ 802467 w 5217319"/>
              <a:gd name="connsiteY145" fmla="*/ 260229 h 1046042"/>
              <a:gd name="connsiteX146" fmla="*/ 868110 w 5217319"/>
              <a:gd name="connsiteY146" fmla="*/ 182730 h 1046042"/>
              <a:gd name="connsiteX147" fmla="*/ 924526 w 5217319"/>
              <a:gd name="connsiteY147" fmla="*/ 247597 h 1046042"/>
              <a:gd name="connsiteX148" fmla="*/ 924526 w 5217319"/>
              <a:gd name="connsiteY148" fmla="*/ 474015 h 1046042"/>
              <a:gd name="connsiteX149" fmla="*/ 1002822 w 5217319"/>
              <a:gd name="connsiteY149" fmla="*/ 474015 h 1046042"/>
              <a:gd name="connsiteX150" fmla="*/ 1002822 w 5217319"/>
              <a:gd name="connsiteY150" fmla="*/ 247027 h 1046042"/>
              <a:gd name="connsiteX151" fmla="*/ 897983 w 5217319"/>
              <a:gd name="connsiteY151" fmla="*/ 136478 h 1046042"/>
              <a:gd name="connsiteX152" fmla="*/ 806463 w 5217319"/>
              <a:gd name="connsiteY152" fmla="*/ 184819 h 1046042"/>
              <a:gd name="connsiteX153" fmla="*/ 802467 w 5217319"/>
              <a:gd name="connsiteY153" fmla="*/ 184819 h 1046042"/>
              <a:gd name="connsiteX154" fmla="*/ 802467 w 5217319"/>
              <a:gd name="connsiteY154" fmla="*/ 10637 h 1046042"/>
              <a:gd name="connsiteX155" fmla="*/ 3187225 w 5217319"/>
              <a:gd name="connsiteY155" fmla="*/ 10637 h 1046042"/>
              <a:gd name="connsiteX156" fmla="*/ 3105029 w 5217319"/>
              <a:gd name="connsiteY156" fmla="*/ 10637 h 1046042"/>
              <a:gd name="connsiteX157" fmla="*/ 3105029 w 5217319"/>
              <a:gd name="connsiteY157" fmla="*/ 353018 h 1046042"/>
              <a:gd name="connsiteX158" fmla="*/ 3033392 w 5217319"/>
              <a:gd name="connsiteY158" fmla="*/ 441724 h 1046042"/>
              <a:gd name="connsiteX159" fmla="*/ 2961755 w 5217319"/>
              <a:gd name="connsiteY159" fmla="*/ 346370 h 1046042"/>
              <a:gd name="connsiteX160" fmla="*/ 2961755 w 5217319"/>
              <a:gd name="connsiteY160" fmla="*/ 282832 h 1046042"/>
              <a:gd name="connsiteX161" fmla="*/ 2879558 w 5217319"/>
              <a:gd name="connsiteY161" fmla="*/ 303347 h 1046042"/>
              <a:gd name="connsiteX162" fmla="*/ 2879558 w 5217319"/>
              <a:gd name="connsiteY162" fmla="*/ 331839 h 1046042"/>
              <a:gd name="connsiteX163" fmla="*/ 3033487 w 5217319"/>
              <a:gd name="connsiteY163" fmla="*/ 484842 h 1046042"/>
              <a:gd name="connsiteX164" fmla="*/ 3187321 w 5217319"/>
              <a:gd name="connsiteY164" fmla="*/ 331839 h 1046042"/>
              <a:gd name="connsiteX165" fmla="*/ 3187321 w 5217319"/>
              <a:gd name="connsiteY165" fmla="*/ 10637 h 1046042"/>
              <a:gd name="connsiteX166" fmla="*/ 3681929 w 5217319"/>
              <a:gd name="connsiteY166" fmla="*/ 10637 h 1046042"/>
              <a:gd name="connsiteX167" fmla="*/ 3603633 w 5217319"/>
              <a:gd name="connsiteY167" fmla="*/ 10637 h 1046042"/>
              <a:gd name="connsiteX168" fmla="*/ 3603633 w 5217319"/>
              <a:gd name="connsiteY168" fmla="*/ 474110 h 1046042"/>
              <a:gd name="connsiteX169" fmla="*/ 3681929 w 5217319"/>
              <a:gd name="connsiteY169" fmla="*/ 474110 h 1046042"/>
              <a:gd name="connsiteX170" fmla="*/ 3681929 w 5217319"/>
              <a:gd name="connsiteY170" fmla="*/ 260229 h 1046042"/>
              <a:gd name="connsiteX171" fmla="*/ 3747573 w 5217319"/>
              <a:gd name="connsiteY171" fmla="*/ 182730 h 1046042"/>
              <a:gd name="connsiteX172" fmla="*/ 3803988 w 5217319"/>
              <a:gd name="connsiteY172" fmla="*/ 247597 h 1046042"/>
              <a:gd name="connsiteX173" fmla="*/ 3803988 w 5217319"/>
              <a:gd name="connsiteY173" fmla="*/ 474015 h 1046042"/>
              <a:gd name="connsiteX174" fmla="*/ 3882285 w 5217319"/>
              <a:gd name="connsiteY174" fmla="*/ 474015 h 1046042"/>
              <a:gd name="connsiteX175" fmla="*/ 3882285 w 5217319"/>
              <a:gd name="connsiteY175" fmla="*/ 247027 h 1046042"/>
              <a:gd name="connsiteX176" fmla="*/ 3777445 w 5217319"/>
              <a:gd name="connsiteY176" fmla="*/ 136478 h 1046042"/>
              <a:gd name="connsiteX177" fmla="*/ 3685925 w 5217319"/>
              <a:gd name="connsiteY177" fmla="*/ 184819 h 1046042"/>
              <a:gd name="connsiteX178" fmla="*/ 3681929 w 5217319"/>
              <a:gd name="connsiteY178" fmla="*/ 184819 h 1046042"/>
              <a:gd name="connsiteX179" fmla="*/ 3681929 w 5217319"/>
              <a:gd name="connsiteY179" fmla="*/ 10637 h 1046042"/>
              <a:gd name="connsiteX180" fmla="*/ 2595674 w 5217319"/>
              <a:gd name="connsiteY180" fmla="*/ 436405 h 1046042"/>
              <a:gd name="connsiteX181" fmla="*/ 2492832 w 5217319"/>
              <a:gd name="connsiteY181" fmla="*/ 329749 h 1046042"/>
              <a:gd name="connsiteX182" fmla="*/ 2533265 w 5217319"/>
              <a:gd name="connsiteY182" fmla="*/ 245698 h 1046042"/>
              <a:gd name="connsiteX183" fmla="*/ 2683198 w 5217319"/>
              <a:gd name="connsiteY183" fmla="*/ 409243 h 1046042"/>
              <a:gd name="connsiteX184" fmla="*/ 2595674 w 5217319"/>
              <a:gd name="connsiteY184" fmla="*/ 436405 h 1046042"/>
              <a:gd name="connsiteX185" fmla="*/ 2741611 w 5217319"/>
              <a:gd name="connsiteY185" fmla="*/ 354918 h 1046042"/>
              <a:gd name="connsiteX186" fmla="*/ 2611656 w 5217319"/>
              <a:gd name="connsiteY186" fmla="*/ 211887 h 1046042"/>
              <a:gd name="connsiteX187" fmla="*/ 2675968 w 5217319"/>
              <a:gd name="connsiteY187" fmla="*/ 199255 h 1046042"/>
              <a:gd name="connsiteX188" fmla="*/ 2762827 w 5217319"/>
              <a:gd name="connsiteY188" fmla="*/ 283972 h 1046042"/>
              <a:gd name="connsiteX189" fmla="*/ 2741611 w 5217319"/>
              <a:gd name="connsiteY189" fmla="*/ 354918 h 1046042"/>
              <a:gd name="connsiteX190" fmla="*/ 2593676 w 5217319"/>
              <a:gd name="connsiteY190" fmla="*/ 192702 h 1046042"/>
              <a:gd name="connsiteX191" fmla="*/ 2565135 w 5217319"/>
              <a:gd name="connsiteY191" fmla="*/ 160886 h 1046042"/>
              <a:gd name="connsiteX192" fmla="*/ 2532599 w 5217319"/>
              <a:gd name="connsiteY192" fmla="*/ 95354 h 1046042"/>
              <a:gd name="connsiteX193" fmla="*/ 2595579 w 5217319"/>
              <a:gd name="connsiteY193" fmla="*/ 35140 h 1046042"/>
              <a:gd name="connsiteX194" fmla="*/ 2657892 w 5217319"/>
              <a:gd name="connsiteY194" fmla="*/ 98678 h 1046042"/>
              <a:gd name="connsiteX195" fmla="*/ 2593676 w 5217319"/>
              <a:gd name="connsiteY195" fmla="*/ 192702 h 1046042"/>
              <a:gd name="connsiteX196" fmla="*/ 2597672 w 5217319"/>
              <a:gd name="connsiteY196" fmla="*/ 0 h 1046042"/>
              <a:gd name="connsiteX197" fmla="*/ 2461057 w 5217319"/>
              <a:gd name="connsiteY197" fmla="*/ 114539 h 1046042"/>
              <a:gd name="connsiteX198" fmla="*/ 2514143 w 5217319"/>
              <a:gd name="connsiteY198" fmla="*/ 225088 h 1046042"/>
              <a:gd name="connsiteX199" fmla="*/ 2514809 w 5217319"/>
              <a:gd name="connsiteY199" fmla="*/ 226418 h 1046042"/>
              <a:gd name="connsiteX200" fmla="*/ 2419959 w 5217319"/>
              <a:gd name="connsiteY200" fmla="*/ 359476 h 1046042"/>
              <a:gd name="connsiteX201" fmla="*/ 2553243 w 5217319"/>
              <a:gd name="connsiteY201" fmla="*/ 484652 h 1046042"/>
              <a:gd name="connsiteX202" fmla="*/ 2703177 w 5217319"/>
              <a:gd name="connsiteY202" fmla="*/ 430992 h 1046042"/>
              <a:gd name="connsiteX203" fmla="*/ 2742943 w 5217319"/>
              <a:gd name="connsiteY203" fmla="*/ 474015 h 1046042"/>
              <a:gd name="connsiteX204" fmla="*/ 2847117 w 5217319"/>
              <a:gd name="connsiteY204" fmla="*/ 474015 h 1046042"/>
              <a:gd name="connsiteX205" fmla="*/ 2847117 w 5217319"/>
              <a:gd name="connsiteY205" fmla="*/ 470691 h 1046042"/>
              <a:gd name="connsiteX206" fmla="*/ 2762256 w 5217319"/>
              <a:gd name="connsiteY206" fmla="*/ 377331 h 1046042"/>
              <a:gd name="connsiteX207" fmla="*/ 2818671 w 5217319"/>
              <a:gd name="connsiteY207" fmla="*/ 248167 h 1046042"/>
              <a:gd name="connsiteX208" fmla="*/ 2731812 w 5217319"/>
              <a:gd name="connsiteY208" fmla="*/ 164115 h 1046042"/>
              <a:gd name="connsiteX209" fmla="*/ 2652184 w 5217319"/>
              <a:gd name="connsiteY209" fmla="*/ 179976 h 1046042"/>
              <a:gd name="connsiteX210" fmla="*/ 2650852 w 5217319"/>
              <a:gd name="connsiteY210" fmla="*/ 177316 h 1046042"/>
              <a:gd name="connsiteX211" fmla="*/ 2722489 w 5217319"/>
              <a:gd name="connsiteY211" fmla="*/ 89940 h 1046042"/>
              <a:gd name="connsiteX212" fmla="*/ 2597672 w 5217319"/>
              <a:gd name="connsiteY212" fmla="*/ 0 h 1046042"/>
              <a:gd name="connsiteX213" fmla="*/ 612767 w 5217319"/>
              <a:gd name="connsiteY213" fmla="*/ 838050 h 1046042"/>
              <a:gd name="connsiteX214" fmla="*/ 702289 w 5217319"/>
              <a:gd name="connsiteY214" fmla="*/ 746685 h 1046042"/>
              <a:gd name="connsiteX215" fmla="*/ 782584 w 5217319"/>
              <a:gd name="connsiteY215" fmla="*/ 838050 h 1046042"/>
              <a:gd name="connsiteX216" fmla="*/ 612767 w 5217319"/>
              <a:gd name="connsiteY216" fmla="*/ 838050 h 1046042"/>
              <a:gd name="connsiteX217" fmla="*/ 702289 w 5217319"/>
              <a:gd name="connsiteY217" fmla="*/ 701667 h 1046042"/>
              <a:gd name="connsiteX218" fmla="*/ 553688 w 5217319"/>
              <a:gd name="connsiteY218" fmla="*/ 876514 h 1046042"/>
              <a:gd name="connsiteX219" fmla="*/ 702289 w 5217319"/>
              <a:gd name="connsiteY219" fmla="*/ 1046043 h 1046042"/>
              <a:gd name="connsiteX220" fmla="*/ 837572 w 5217319"/>
              <a:gd name="connsiteY220" fmla="*/ 938152 h 1046042"/>
              <a:gd name="connsiteX221" fmla="*/ 787150 w 5217319"/>
              <a:gd name="connsiteY221" fmla="*/ 924951 h 1046042"/>
              <a:gd name="connsiteX222" fmla="*/ 707522 w 5217319"/>
              <a:gd name="connsiteY222" fmla="*/ 999790 h 1046042"/>
              <a:gd name="connsiteX223" fmla="*/ 610674 w 5217319"/>
              <a:gd name="connsiteY223" fmla="*/ 877274 h 1046042"/>
              <a:gd name="connsiteX224" fmla="*/ 838143 w 5217319"/>
              <a:gd name="connsiteY224" fmla="*/ 877274 h 1046042"/>
              <a:gd name="connsiteX225" fmla="*/ 838143 w 5217319"/>
              <a:gd name="connsiteY225" fmla="*/ 858754 h 1046042"/>
              <a:gd name="connsiteX226" fmla="*/ 702289 w 5217319"/>
              <a:gd name="connsiteY226" fmla="*/ 701667 h 1046042"/>
              <a:gd name="connsiteX227" fmla="*/ 1610832 w 5217319"/>
              <a:gd name="connsiteY227" fmla="*/ 838050 h 1046042"/>
              <a:gd name="connsiteX228" fmla="*/ 1700355 w 5217319"/>
              <a:gd name="connsiteY228" fmla="*/ 746685 h 1046042"/>
              <a:gd name="connsiteX229" fmla="*/ 1780649 w 5217319"/>
              <a:gd name="connsiteY229" fmla="*/ 838050 h 1046042"/>
              <a:gd name="connsiteX230" fmla="*/ 1610832 w 5217319"/>
              <a:gd name="connsiteY230" fmla="*/ 838050 h 1046042"/>
              <a:gd name="connsiteX231" fmla="*/ 1700355 w 5217319"/>
              <a:gd name="connsiteY231" fmla="*/ 701667 h 1046042"/>
              <a:gd name="connsiteX232" fmla="*/ 1551753 w 5217319"/>
              <a:gd name="connsiteY232" fmla="*/ 876514 h 1046042"/>
              <a:gd name="connsiteX233" fmla="*/ 1700355 w 5217319"/>
              <a:gd name="connsiteY233" fmla="*/ 1046043 h 1046042"/>
              <a:gd name="connsiteX234" fmla="*/ 1835637 w 5217319"/>
              <a:gd name="connsiteY234" fmla="*/ 938152 h 1046042"/>
              <a:gd name="connsiteX235" fmla="*/ 1785215 w 5217319"/>
              <a:gd name="connsiteY235" fmla="*/ 924951 h 1046042"/>
              <a:gd name="connsiteX236" fmla="*/ 1705587 w 5217319"/>
              <a:gd name="connsiteY236" fmla="*/ 999790 h 1046042"/>
              <a:gd name="connsiteX237" fmla="*/ 1608739 w 5217319"/>
              <a:gd name="connsiteY237" fmla="*/ 877274 h 1046042"/>
              <a:gd name="connsiteX238" fmla="*/ 1836208 w 5217319"/>
              <a:gd name="connsiteY238" fmla="*/ 877274 h 1046042"/>
              <a:gd name="connsiteX239" fmla="*/ 1836208 w 5217319"/>
              <a:gd name="connsiteY239" fmla="*/ 858754 h 1046042"/>
              <a:gd name="connsiteX240" fmla="*/ 1700355 w 5217319"/>
              <a:gd name="connsiteY240" fmla="*/ 701667 h 1046042"/>
              <a:gd name="connsiteX241" fmla="*/ 2044555 w 5217319"/>
              <a:gd name="connsiteY241" fmla="*/ 701667 h 1046042"/>
              <a:gd name="connsiteX242" fmla="*/ 1891957 w 5217319"/>
              <a:gd name="connsiteY242" fmla="*/ 877179 h 1046042"/>
              <a:gd name="connsiteX243" fmla="*/ 2041891 w 5217319"/>
              <a:gd name="connsiteY243" fmla="*/ 1046043 h 1046042"/>
              <a:gd name="connsiteX244" fmla="*/ 2177839 w 5217319"/>
              <a:gd name="connsiteY244" fmla="*/ 928180 h 1046042"/>
              <a:gd name="connsiteX245" fmla="*/ 2125420 w 5217319"/>
              <a:gd name="connsiteY245" fmla="*/ 915549 h 1046042"/>
              <a:gd name="connsiteX246" fmla="*/ 2045791 w 5217319"/>
              <a:gd name="connsiteY246" fmla="*/ 998936 h 1046042"/>
              <a:gd name="connsiteX247" fmla="*/ 1949609 w 5217319"/>
              <a:gd name="connsiteY247" fmla="*/ 873095 h 1046042"/>
              <a:gd name="connsiteX248" fmla="*/ 2043127 w 5217319"/>
              <a:gd name="connsiteY248" fmla="*/ 748584 h 1046042"/>
              <a:gd name="connsiteX249" fmla="*/ 2125420 w 5217319"/>
              <a:gd name="connsiteY249" fmla="*/ 828078 h 1046042"/>
              <a:gd name="connsiteX250" fmla="*/ 2177839 w 5217319"/>
              <a:gd name="connsiteY250" fmla="*/ 815446 h 1046042"/>
              <a:gd name="connsiteX251" fmla="*/ 2044555 w 5217319"/>
              <a:gd name="connsiteY251" fmla="*/ 701667 h 1046042"/>
              <a:gd name="connsiteX252" fmla="*/ 477580 w 5217319"/>
              <a:gd name="connsiteY252" fmla="*/ 575827 h 1046042"/>
              <a:gd name="connsiteX253" fmla="*/ 390055 w 5217319"/>
              <a:gd name="connsiteY253" fmla="*/ 575827 h 1046042"/>
              <a:gd name="connsiteX254" fmla="*/ 252775 w 5217319"/>
              <a:gd name="connsiteY254" fmla="*/ 949264 h 1046042"/>
              <a:gd name="connsiteX255" fmla="*/ 114828 w 5217319"/>
              <a:gd name="connsiteY255" fmla="*/ 575827 h 1046042"/>
              <a:gd name="connsiteX256" fmla="*/ 23213 w 5217319"/>
              <a:gd name="connsiteY256" fmla="*/ 575827 h 1046042"/>
              <a:gd name="connsiteX257" fmla="*/ 23213 w 5217319"/>
              <a:gd name="connsiteY257" fmla="*/ 1039300 h 1046042"/>
              <a:gd name="connsiteX258" fmla="*/ 80865 w 5217319"/>
              <a:gd name="connsiteY258" fmla="*/ 1039300 h 1046042"/>
              <a:gd name="connsiteX259" fmla="*/ 80865 w 5217319"/>
              <a:gd name="connsiteY259" fmla="*/ 640124 h 1046042"/>
              <a:gd name="connsiteX260" fmla="*/ 228801 w 5217319"/>
              <a:gd name="connsiteY260" fmla="*/ 1039395 h 1046042"/>
              <a:gd name="connsiteX261" fmla="*/ 273229 w 5217319"/>
              <a:gd name="connsiteY261" fmla="*/ 1039395 h 1046042"/>
              <a:gd name="connsiteX262" fmla="*/ 419832 w 5217319"/>
              <a:gd name="connsiteY262" fmla="*/ 639459 h 1046042"/>
              <a:gd name="connsiteX263" fmla="*/ 419832 w 5217319"/>
              <a:gd name="connsiteY263" fmla="*/ 1039395 h 1046042"/>
              <a:gd name="connsiteX264" fmla="*/ 477580 w 5217319"/>
              <a:gd name="connsiteY264" fmla="*/ 1039395 h 1046042"/>
              <a:gd name="connsiteX265" fmla="*/ 477580 w 5217319"/>
              <a:gd name="connsiteY265" fmla="*/ 575827 h 1046042"/>
              <a:gd name="connsiteX266" fmla="*/ 1042494 w 5217319"/>
              <a:gd name="connsiteY266" fmla="*/ 999031 h 1046042"/>
              <a:gd name="connsiteX267" fmla="*/ 951639 w 5217319"/>
              <a:gd name="connsiteY267" fmla="*/ 873855 h 1046042"/>
              <a:gd name="connsiteX268" fmla="*/ 1042494 w 5217319"/>
              <a:gd name="connsiteY268" fmla="*/ 748679 h 1046042"/>
              <a:gd name="connsiteX269" fmla="*/ 1133348 w 5217319"/>
              <a:gd name="connsiteY269" fmla="*/ 873855 h 1046042"/>
              <a:gd name="connsiteX270" fmla="*/ 1042494 w 5217319"/>
              <a:gd name="connsiteY270" fmla="*/ 999031 h 1046042"/>
              <a:gd name="connsiteX271" fmla="*/ 1187099 w 5217319"/>
              <a:gd name="connsiteY271" fmla="*/ 575827 h 1046042"/>
              <a:gd name="connsiteX272" fmla="*/ 1132111 w 5217319"/>
              <a:gd name="connsiteY272" fmla="*/ 575827 h 1046042"/>
              <a:gd name="connsiteX273" fmla="*/ 1132111 w 5217319"/>
              <a:gd name="connsiteY273" fmla="*/ 771853 h 1046042"/>
              <a:gd name="connsiteX274" fmla="*/ 1033265 w 5217319"/>
              <a:gd name="connsiteY274" fmla="*/ 701667 h 1046042"/>
              <a:gd name="connsiteX275" fmla="*/ 893987 w 5217319"/>
              <a:gd name="connsiteY275" fmla="*/ 875849 h 1046042"/>
              <a:gd name="connsiteX276" fmla="*/ 1028604 w 5217319"/>
              <a:gd name="connsiteY276" fmla="*/ 1046043 h 1046042"/>
              <a:gd name="connsiteX277" fmla="*/ 1132111 w 5217319"/>
              <a:gd name="connsiteY277" fmla="*/ 972533 h 1046042"/>
              <a:gd name="connsiteX278" fmla="*/ 1132111 w 5217319"/>
              <a:gd name="connsiteY278" fmla="*/ 997701 h 1046042"/>
              <a:gd name="connsiteX279" fmla="*/ 1135441 w 5217319"/>
              <a:gd name="connsiteY279" fmla="*/ 1039395 h 1046042"/>
              <a:gd name="connsiteX280" fmla="*/ 1191190 w 5217319"/>
              <a:gd name="connsiteY280" fmla="*/ 1039395 h 1046042"/>
              <a:gd name="connsiteX281" fmla="*/ 1187194 w 5217319"/>
              <a:gd name="connsiteY281" fmla="*/ 970538 h 1046042"/>
              <a:gd name="connsiteX282" fmla="*/ 1187194 w 5217319"/>
              <a:gd name="connsiteY282" fmla="*/ 575827 h 1046042"/>
              <a:gd name="connsiteX283" fmla="*/ 1604934 w 5217319"/>
              <a:gd name="connsiteY283" fmla="*/ 575827 h 1046042"/>
              <a:gd name="connsiteX284" fmla="*/ 1246749 w 5217319"/>
              <a:gd name="connsiteY284" fmla="*/ 575827 h 1046042"/>
              <a:gd name="connsiteX285" fmla="*/ 1246749 w 5217319"/>
              <a:gd name="connsiteY285" fmla="*/ 624169 h 1046042"/>
              <a:gd name="connsiteX286" fmla="*/ 1397349 w 5217319"/>
              <a:gd name="connsiteY286" fmla="*/ 624169 h 1046042"/>
              <a:gd name="connsiteX287" fmla="*/ 1397349 w 5217319"/>
              <a:gd name="connsiteY287" fmla="*/ 1039395 h 1046042"/>
              <a:gd name="connsiteX288" fmla="*/ 1455096 w 5217319"/>
              <a:gd name="connsiteY288" fmla="*/ 1039395 h 1046042"/>
              <a:gd name="connsiteX289" fmla="*/ 1455096 w 5217319"/>
              <a:gd name="connsiteY289" fmla="*/ 624169 h 1046042"/>
              <a:gd name="connsiteX290" fmla="*/ 1605029 w 5217319"/>
              <a:gd name="connsiteY290" fmla="*/ 624169 h 1046042"/>
              <a:gd name="connsiteX291" fmla="*/ 1605029 w 5217319"/>
              <a:gd name="connsiteY291" fmla="*/ 575827 h 1046042"/>
              <a:gd name="connsiteX292" fmla="*/ 2295902 w 5217319"/>
              <a:gd name="connsiteY292" fmla="*/ 575827 h 1046042"/>
              <a:gd name="connsiteX293" fmla="*/ 2240819 w 5217319"/>
              <a:gd name="connsiteY293" fmla="*/ 575827 h 1046042"/>
              <a:gd name="connsiteX294" fmla="*/ 2240819 w 5217319"/>
              <a:gd name="connsiteY294" fmla="*/ 1039300 h 1046042"/>
              <a:gd name="connsiteX295" fmla="*/ 2295902 w 5217319"/>
              <a:gd name="connsiteY295" fmla="*/ 1039300 h 1046042"/>
              <a:gd name="connsiteX296" fmla="*/ 2295902 w 5217319"/>
              <a:gd name="connsiteY296" fmla="*/ 821524 h 1046042"/>
              <a:gd name="connsiteX297" fmla="*/ 2368205 w 5217319"/>
              <a:gd name="connsiteY297" fmla="*/ 744026 h 1046042"/>
              <a:gd name="connsiteX298" fmla="*/ 2439842 w 5217319"/>
              <a:gd name="connsiteY298" fmla="*/ 821524 h 1046042"/>
              <a:gd name="connsiteX299" fmla="*/ 2439842 w 5217319"/>
              <a:gd name="connsiteY299" fmla="*/ 1039395 h 1046042"/>
              <a:gd name="connsiteX300" fmla="*/ 2494925 w 5217319"/>
              <a:gd name="connsiteY300" fmla="*/ 1039395 h 1046042"/>
              <a:gd name="connsiteX301" fmla="*/ 2494925 w 5217319"/>
              <a:gd name="connsiteY301" fmla="*/ 810317 h 1046042"/>
              <a:gd name="connsiteX302" fmla="*/ 2388088 w 5217319"/>
              <a:gd name="connsiteY302" fmla="*/ 701762 h 1046042"/>
              <a:gd name="connsiteX303" fmla="*/ 2295902 w 5217319"/>
              <a:gd name="connsiteY303" fmla="*/ 759411 h 1046042"/>
              <a:gd name="connsiteX304" fmla="*/ 2295902 w 5217319"/>
              <a:gd name="connsiteY304" fmla="*/ 575827 h 1046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</a:cxnLst>
            <a:rect l="l" t="t" r="r" b="b"/>
            <a:pathLst>
              <a:path w="5217319" h="1046042">
                <a:moveTo>
                  <a:pt x="515919" y="444383"/>
                </a:moveTo>
                <a:cubicBezTo>
                  <a:pt x="464831" y="444383"/>
                  <a:pt x="436291" y="396041"/>
                  <a:pt x="436291" y="308665"/>
                </a:cubicBezTo>
                <a:cubicBezTo>
                  <a:pt x="436291" y="219960"/>
                  <a:pt x="464831" y="172948"/>
                  <a:pt x="515919" y="172948"/>
                </a:cubicBezTo>
                <a:cubicBezTo>
                  <a:pt x="567007" y="172948"/>
                  <a:pt x="595547" y="220624"/>
                  <a:pt x="595547" y="308665"/>
                </a:cubicBezTo>
                <a:cubicBezTo>
                  <a:pt x="595547" y="397371"/>
                  <a:pt x="567007" y="444383"/>
                  <a:pt x="515919" y="444383"/>
                </a:cubicBezTo>
                <a:moveTo>
                  <a:pt x="515919" y="136478"/>
                </a:moveTo>
                <a:cubicBezTo>
                  <a:pt x="411746" y="136478"/>
                  <a:pt x="354094" y="213976"/>
                  <a:pt x="354094" y="308665"/>
                </a:cubicBezTo>
                <a:cubicBezTo>
                  <a:pt x="354094" y="403354"/>
                  <a:pt x="411841" y="480853"/>
                  <a:pt x="515919" y="480853"/>
                </a:cubicBezTo>
                <a:cubicBezTo>
                  <a:pt x="620092" y="480853"/>
                  <a:pt x="677744" y="403354"/>
                  <a:pt x="677744" y="308665"/>
                </a:cubicBezTo>
                <a:cubicBezTo>
                  <a:pt x="677840" y="213881"/>
                  <a:pt x="620092" y="136478"/>
                  <a:pt x="515919" y="136478"/>
                </a:cubicBezTo>
                <a:moveTo>
                  <a:pt x="1239519" y="136478"/>
                </a:moveTo>
                <a:cubicBezTo>
                  <a:pt x="1190429" y="136478"/>
                  <a:pt x="1163220" y="157657"/>
                  <a:pt x="1147999" y="184819"/>
                </a:cubicBezTo>
                <a:lnTo>
                  <a:pt x="1144003" y="184819"/>
                </a:lnTo>
                <a:lnTo>
                  <a:pt x="1144003" y="143126"/>
                </a:lnTo>
                <a:lnTo>
                  <a:pt x="1065707" y="143126"/>
                </a:lnTo>
                <a:lnTo>
                  <a:pt x="1065707" y="474205"/>
                </a:lnTo>
                <a:lnTo>
                  <a:pt x="1144003" y="474205"/>
                </a:lnTo>
                <a:lnTo>
                  <a:pt x="1144003" y="260229"/>
                </a:lnTo>
                <a:cubicBezTo>
                  <a:pt x="1144003" y="211222"/>
                  <a:pt x="1169214" y="182730"/>
                  <a:pt x="1209646" y="182730"/>
                </a:cubicBezTo>
                <a:cubicBezTo>
                  <a:pt x="1248747" y="182730"/>
                  <a:pt x="1266062" y="208563"/>
                  <a:pt x="1266062" y="247597"/>
                </a:cubicBezTo>
                <a:lnTo>
                  <a:pt x="1266062" y="474015"/>
                </a:lnTo>
                <a:lnTo>
                  <a:pt x="1344358" y="474015"/>
                </a:lnTo>
                <a:lnTo>
                  <a:pt x="1344358" y="247027"/>
                </a:lnTo>
                <a:cubicBezTo>
                  <a:pt x="1344263" y="178836"/>
                  <a:pt x="1308492" y="136478"/>
                  <a:pt x="1239519" y="136478"/>
                </a:cubicBezTo>
                <a:moveTo>
                  <a:pt x="1521976" y="136478"/>
                </a:moveTo>
                <a:cubicBezTo>
                  <a:pt x="1449673" y="136478"/>
                  <a:pt x="1395256" y="166964"/>
                  <a:pt x="1395256" y="231831"/>
                </a:cubicBezTo>
                <a:cubicBezTo>
                  <a:pt x="1395256" y="286821"/>
                  <a:pt x="1433024" y="316548"/>
                  <a:pt x="1475550" y="327185"/>
                </a:cubicBezTo>
                <a:lnTo>
                  <a:pt x="1541859" y="343711"/>
                </a:lnTo>
                <a:cubicBezTo>
                  <a:pt x="1576964" y="352353"/>
                  <a:pt x="1592947" y="364890"/>
                  <a:pt x="1592947" y="392717"/>
                </a:cubicBezTo>
                <a:cubicBezTo>
                  <a:pt x="1592947" y="426528"/>
                  <a:pt x="1569068" y="445713"/>
                  <a:pt x="1527303" y="445713"/>
                </a:cubicBezTo>
                <a:cubicBezTo>
                  <a:pt x="1482209" y="445713"/>
                  <a:pt x="1458996" y="423869"/>
                  <a:pt x="1451671" y="368879"/>
                </a:cubicBezTo>
                <a:lnTo>
                  <a:pt x="1381366" y="388728"/>
                </a:lnTo>
                <a:cubicBezTo>
                  <a:pt x="1385361" y="445713"/>
                  <a:pt x="1438447" y="480758"/>
                  <a:pt x="1518646" y="480758"/>
                </a:cubicBezTo>
                <a:cubicBezTo>
                  <a:pt x="1608168" y="480758"/>
                  <a:pt x="1656592" y="439064"/>
                  <a:pt x="1656592" y="372868"/>
                </a:cubicBezTo>
                <a:cubicBezTo>
                  <a:pt x="1656592" y="310660"/>
                  <a:pt x="1613496" y="284827"/>
                  <a:pt x="1568402" y="273525"/>
                </a:cubicBezTo>
                <a:lnTo>
                  <a:pt x="1504756" y="257664"/>
                </a:lnTo>
                <a:cubicBezTo>
                  <a:pt x="1472886" y="249686"/>
                  <a:pt x="1458996" y="235155"/>
                  <a:pt x="1458996" y="213976"/>
                </a:cubicBezTo>
                <a:cubicBezTo>
                  <a:pt x="1458996" y="187479"/>
                  <a:pt x="1481543" y="171618"/>
                  <a:pt x="1515411" y="171618"/>
                </a:cubicBezTo>
                <a:cubicBezTo>
                  <a:pt x="1555178" y="171618"/>
                  <a:pt x="1579723" y="193462"/>
                  <a:pt x="1583053" y="235155"/>
                </a:cubicBezTo>
                <a:lnTo>
                  <a:pt x="1649362" y="215306"/>
                </a:lnTo>
                <a:cubicBezTo>
                  <a:pt x="1641371" y="168864"/>
                  <a:pt x="1595611" y="136478"/>
                  <a:pt x="1521976" y="136478"/>
                </a:cubicBezTo>
                <a:moveTo>
                  <a:pt x="1850954" y="444383"/>
                </a:moveTo>
                <a:cubicBezTo>
                  <a:pt x="1799866" y="444383"/>
                  <a:pt x="1771326" y="396041"/>
                  <a:pt x="1771326" y="308665"/>
                </a:cubicBezTo>
                <a:cubicBezTo>
                  <a:pt x="1771326" y="219960"/>
                  <a:pt x="1799866" y="172948"/>
                  <a:pt x="1850954" y="172948"/>
                </a:cubicBezTo>
                <a:cubicBezTo>
                  <a:pt x="1902042" y="172948"/>
                  <a:pt x="1930582" y="220624"/>
                  <a:pt x="1930582" y="308665"/>
                </a:cubicBezTo>
                <a:cubicBezTo>
                  <a:pt x="1930487" y="397371"/>
                  <a:pt x="1902042" y="444383"/>
                  <a:pt x="1850954" y="444383"/>
                </a:cubicBezTo>
                <a:moveTo>
                  <a:pt x="1850954" y="136478"/>
                </a:moveTo>
                <a:cubicBezTo>
                  <a:pt x="1746781" y="136478"/>
                  <a:pt x="1689129" y="213976"/>
                  <a:pt x="1689129" y="308665"/>
                </a:cubicBezTo>
                <a:cubicBezTo>
                  <a:pt x="1689129" y="403354"/>
                  <a:pt x="1746876" y="480853"/>
                  <a:pt x="1850954" y="480853"/>
                </a:cubicBezTo>
                <a:cubicBezTo>
                  <a:pt x="1955127" y="480853"/>
                  <a:pt x="2012779" y="403354"/>
                  <a:pt x="2012779" y="308665"/>
                </a:cubicBezTo>
                <a:cubicBezTo>
                  <a:pt x="2012779" y="213881"/>
                  <a:pt x="1955032" y="136478"/>
                  <a:pt x="1850954" y="136478"/>
                </a:cubicBezTo>
                <a:moveTo>
                  <a:pt x="2232923" y="136478"/>
                </a:moveTo>
                <a:cubicBezTo>
                  <a:pt x="2183833" y="136478"/>
                  <a:pt x="2156624" y="157657"/>
                  <a:pt x="2141402" y="184819"/>
                </a:cubicBezTo>
                <a:lnTo>
                  <a:pt x="2137407" y="184819"/>
                </a:lnTo>
                <a:lnTo>
                  <a:pt x="2137407" y="143126"/>
                </a:lnTo>
                <a:lnTo>
                  <a:pt x="2059110" y="143126"/>
                </a:lnTo>
                <a:lnTo>
                  <a:pt x="2059110" y="474205"/>
                </a:lnTo>
                <a:lnTo>
                  <a:pt x="2137407" y="474205"/>
                </a:lnTo>
                <a:lnTo>
                  <a:pt x="2137407" y="260229"/>
                </a:lnTo>
                <a:cubicBezTo>
                  <a:pt x="2137407" y="211222"/>
                  <a:pt x="2162618" y="182730"/>
                  <a:pt x="2203050" y="182730"/>
                </a:cubicBezTo>
                <a:cubicBezTo>
                  <a:pt x="2242151" y="182730"/>
                  <a:pt x="2259465" y="208563"/>
                  <a:pt x="2259465" y="247597"/>
                </a:cubicBezTo>
                <a:lnTo>
                  <a:pt x="2259465" y="474015"/>
                </a:lnTo>
                <a:lnTo>
                  <a:pt x="2337762" y="474015"/>
                </a:lnTo>
                <a:lnTo>
                  <a:pt x="2337762" y="247027"/>
                </a:lnTo>
                <a:cubicBezTo>
                  <a:pt x="2337762" y="178836"/>
                  <a:pt x="2301896" y="136478"/>
                  <a:pt x="2232923" y="136478"/>
                </a:cubicBezTo>
                <a:moveTo>
                  <a:pt x="3395477" y="444383"/>
                </a:moveTo>
                <a:cubicBezTo>
                  <a:pt x="3344389" y="444383"/>
                  <a:pt x="3315849" y="396041"/>
                  <a:pt x="3315849" y="308665"/>
                </a:cubicBezTo>
                <a:cubicBezTo>
                  <a:pt x="3315849" y="219960"/>
                  <a:pt x="3344389" y="172948"/>
                  <a:pt x="3395477" y="172948"/>
                </a:cubicBezTo>
                <a:cubicBezTo>
                  <a:pt x="3446565" y="172948"/>
                  <a:pt x="3475105" y="220624"/>
                  <a:pt x="3475105" y="308665"/>
                </a:cubicBezTo>
                <a:cubicBezTo>
                  <a:pt x="3475105" y="397371"/>
                  <a:pt x="3446565" y="444383"/>
                  <a:pt x="3395477" y="444383"/>
                </a:cubicBezTo>
                <a:moveTo>
                  <a:pt x="3395477" y="136478"/>
                </a:moveTo>
                <a:cubicBezTo>
                  <a:pt x="3291304" y="136478"/>
                  <a:pt x="3233652" y="213976"/>
                  <a:pt x="3233652" y="308665"/>
                </a:cubicBezTo>
                <a:cubicBezTo>
                  <a:pt x="3233652" y="403354"/>
                  <a:pt x="3291399" y="480853"/>
                  <a:pt x="3395477" y="480853"/>
                </a:cubicBezTo>
                <a:cubicBezTo>
                  <a:pt x="3499650" y="480853"/>
                  <a:pt x="3557302" y="403354"/>
                  <a:pt x="3557302" y="308665"/>
                </a:cubicBezTo>
                <a:cubicBezTo>
                  <a:pt x="3557302" y="213881"/>
                  <a:pt x="3499650" y="136478"/>
                  <a:pt x="3395477" y="136478"/>
                </a:cubicBezTo>
                <a:moveTo>
                  <a:pt x="4118981" y="136478"/>
                </a:moveTo>
                <a:cubicBezTo>
                  <a:pt x="4069892" y="136478"/>
                  <a:pt x="4042683" y="157657"/>
                  <a:pt x="4027461" y="184819"/>
                </a:cubicBezTo>
                <a:lnTo>
                  <a:pt x="4023466" y="184819"/>
                </a:lnTo>
                <a:lnTo>
                  <a:pt x="4023466" y="143126"/>
                </a:lnTo>
                <a:lnTo>
                  <a:pt x="3945169" y="143126"/>
                </a:lnTo>
                <a:lnTo>
                  <a:pt x="3945169" y="474205"/>
                </a:lnTo>
                <a:lnTo>
                  <a:pt x="4023466" y="474205"/>
                </a:lnTo>
                <a:lnTo>
                  <a:pt x="4023466" y="260229"/>
                </a:lnTo>
                <a:cubicBezTo>
                  <a:pt x="4023466" y="211222"/>
                  <a:pt x="4048677" y="182730"/>
                  <a:pt x="4089109" y="182730"/>
                </a:cubicBezTo>
                <a:cubicBezTo>
                  <a:pt x="4128210" y="182730"/>
                  <a:pt x="4145524" y="208563"/>
                  <a:pt x="4145524" y="247597"/>
                </a:cubicBezTo>
                <a:lnTo>
                  <a:pt x="4145524" y="474015"/>
                </a:lnTo>
                <a:lnTo>
                  <a:pt x="4223821" y="474015"/>
                </a:lnTo>
                <a:lnTo>
                  <a:pt x="4223821" y="247027"/>
                </a:lnTo>
                <a:cubicBezTo>
                  <a:pt x="4223821" y="178836"/>
                  <a:pt x="4187955" y="136478"/>
                  <a:pt x="4118981" y="136478"/>
                </a:cubicBezTo>
                <a:moveTo>
                  <a:pt x="4401534" y="136478"/>
                </a:moveTo>
                <a:cubicBezTo>
                  <a:pt x="4329231" y="136478"/>
                  <a:pt x="4274813" y="166964"/>
                  <a:pt x="4274813" y="231831"/>
                </a:cubicBezTo>
                <a:cubicBezTo>
                  <a:pt x="4274813" y="286821"/>
                  <a:pt x="4312582" y="316548"/>
                  <a:pt x="4355108" y="327185"/>
                </a:cubicBezTo>
                <a:lnTo>
                  <a:pt x="4421417" y="343711"/>
                </a:lnTo>
                <a:cubicBezTo>
                  <a:pt x="4456522" y="352353"/>
                  <a:pt x="4472505" y="364890"/>
                  <a:pt x="4472505" y="392717"/>
                </a:cubicBezTo>
                <a:cubicBezTo>
                  <a:pt x="4472505" y="426528"/>
                  <a:pt x="4448626" y="445713"/>
                  <a:pt x="4406861" y="445713"/>
                </a:cubicBezTo>
                <a:cubicBezTo>
                  <a:pt x="4361767" y="445713"/>
                  <a:pt x="4338554" y="423869"/>
                  <a:pt x="4331229" y="368879"/>
                </a:cubicBezTo>
                <a:lnTo>
                  <a:pt x="4260924" y="388728"/>
                </a:lnTo>
                <a:cubicBezTo>
                  <a:pt x="4264919" y="445713"/>
                  <a:pt x="4318005" y="480758"/>
                  <a:pt x="4398204" y="480758"/>
                </a:cubicBezTo>
                <a:cubicBezTo>
                  <a:pt x="4487726" y="480758"/>
                  <a:pt x="4536150" y="439064"/>
                  <a:pt x="4536150" y="372868"/>
                </a:cubicBezTo>
                <a:cubicBezTo>
                  <a:pt x="4536150" y="310660"/>
                  <a:pt x="4493054" y="284827"/>
                  <a:pt x="4447960" y="273525"/>
                </a:cubicBezTo>
                <a:lnTo>
                  <a:pt x="4384314" y="257664"/>
                </a:lnTo>
                <a:cubicBezTo>
                  <a:pt x="4352444" y="249686"/>
                  <a:pt x="4338554" y="235155"/>
                  <a:pt x="4338554" y="213976"/>
                </a:cubicBezTo>
                <a:cubicBezTo>
                  <a:pt x="4338554" y="187479"/>
                  <a:pt x="4361101" y="171618"/>
                  <a:pt x="4394969" y="171618"/>
                </a:cubicBezTo>
                <a:cubicBezTo>
                  <a:pt x="4434736" y="171618"/>
                  <a:pt x="4459281" y="193462"/>
                  <a:pt x="4462610" y="235155"/>
                </a:cubicBezTo>
                <a:lnTo>
                  <a:pt x="4528920" y="215306"/>
                </a:lnTo>
                <a:cubicBezTo>
                  <a:pt x="4520929" y="168864"/>
                  <a:pt x="4475168" y="136478"/>
                  <a:pt x="4401534" y="136478"/>
                </a:cubicBezTo>
                <a:moveTo>
                  <a:pt x="4730417" y="444383"/>
                </a:moveTo>
                <a:cubicBezTo>
                  <a:pt x="4679329" y="444383"/>
                  <a:pt x="4650788" y="396041"/>
                  <a:pt x="4650788" y="308665"/>
                </a:cubicBezTo>
                <a:cubicBezTo>
                  <a:pt x="4650788" y="219960"/>
                  <a:pt x="4679329" y="172948"/>
                  <a:pt x="4730417" y="172948"/>
                </a:cubicBezTo>
                <a:cubicBezTo>
                  <a:pt x="4781504" y="172948"/>
                  <a:pt x="4810045" y="220624"/>
                  <a:pt x="4810045" y="308665"/>
                </a:cubicBezTo>
                <a:cubicBezTo>
                  <a:pt x="4810045" y="397371"/>
                  <a:pt x="4781504" y="444383"/>
                  <a:pt x="4730417" y="444383"/>
                </a:cubicBezTo>
                <a:moveTo>
                  <a:pt x="4730417" y="136478"/>
                </a:moveTo>
                <a:cubicBezTo>
                  <a:pt x="4626243" y="136478"/>
                  <a:pt x="4568591" y="213976"/>
                  <a:pt x="4568591" y="308665"/>
                </a:cubicBezTo>
                <a:cubicBezTo>
                  <a:pt x="4568591" y="403354"/>
                  <a:pt x="4626243" y="480853"/>
                  <a:pt x="4730417" y="480853"/>
                </a:cubicBezTo>
                <a:cubicBezTo>
                  <a:pt x="4834590" y="480853"/>
                  <a:pt x="4892242" y="403354"/>
                  <a:pt x="4892242" y="308665"/>
                </a:cubicBezTo>
                <a:cubicBezTo>
                  <a:pt x="4892242" y="213881"/>
                  <a:pt x="4834590" y="136478"/>
                  <a:pt x="4730417" y="136478"/>
                </a:cubicBezTo>
                <a:moveTo>
                  <a:pt x="5112481" y="136478"/>
                </a:moveTo>
                <a:cubicBezTo>
                  <a:pt x="5063390" y="136478"/>
                  <a:pt x="5036182" y="157657"/>
                  <a:pt x="5020960" y="184819"/>
                </a:cubicBezTo>
                <a:lnTo>
                  <a:pt x="5016964" y="184819"/>
                </a:lnTo>
                <a:lnTo>
                  <a:pt x="5016964" y="143126"/>
                </a:lnTo>
                <a:lnTo>
                  <a:pt x="4938668" y="143126"/>
                </a:lnTo>
                <a:lnTo>
                  <a:pt x="4938668" y="474205"/>
                </a:lnTo>
                <a:lnTo>
                  <a:pt x="5016964" y="474205"/>
                </a:lnTo>
                <a:lnTo>
                  <a:pt x="5016964" y="260229"/>
                </a:lnTo>
                <a:cubicBezTo>
                  <a:pt x="5016964" y="211222"/>
                  <a:pt x="5042175" y="182730"/>
                  <a:pt x="5082608" y="182730"/>
                </a:cubicBezTo>
                <a:cubicBezTo>
                  <a:pt x="5121708" y="182730"/>
                  <a:pt x="5139023" y="208563"/>
                  <a:pt x="5139023" y="247597"/>
                </a:cubicBezTo>
                <a:lnTo>
                  <a:pt x="5139023" y="474015"/>
                </a:lnTo>
                <a:lnTo>
                  <a:pt x="5217319" y="474015"/>
                </a:lnTo>
                <a:lnTo>
                  <a:pt x="5217319" y="247027"/>
                </a:lnTo>
                <a:cubicBezTo>
                  <a:pt x="5217225" y="178836"/>
                  <a:pt x="5181454" y="136478"/>
                  <a:pt x="5112481" y="136478"/>
                </a:cubicBezTo>
                <a:moveTo>
                  <a:pt x="307763" y="10637"/>
                </a:moveTo>
                <a:lnTo>
                  <a:pt x="225471" y="10637"/>
                </a:lnTo>
                <a:lnTo>
                  <a:pt x="225471" y="353018"/>
                </a:lnTo>
                <a:cubicBezTo>
                  <a:pt x="225471" y="408673"/>
                  <a:pt x="204256" y="441724"/>
                  <a:pt x="153834" y="441724"/>
                </a:cubicBezTo>
                <a:cubicBezTo>
                  <a:pt x="104078" y="441724"/>
                  <a:pt x="82197" y="406678"/>
                  <a:pt x="82197" y="346370"/>
                </a:cubicBezTo>
                <a:lnTo>
                  <a:pt x="82197" y="282832"/>
                </a:lnTo>
                <a:lnTo>
                  <a:pt x="0" y="303347"/>
                </a:lnTo>
                <a:lnTo>
                  <a:pt x="0" y="331839"/>
                </a:lnTo>
                <a:cubicBezTo>
                  <a:pt x="0" y="418550"/>
                  <a:pt x="43096" y="484842"/>
                  <a:pt x="153929" y="484842"/>
                </a:cubicBezTo>
                <a:cubicBezTo>
                  <a:pt x="264667" y="484842"/>
                  <a:pt x="307763" y="418645"/>
                  <a:pt x="307763" y="331839"/>
                </a:cubicBezTo>
                <a:lnTo>
                  <a:pt x="307763" y="10637"/>
                </a:lnTo>
                <a:moveTo>
                  <a:pt x="802467" y="10637"/>
                </a:moveTo>
                <a:lnTo>
                  <a:pt x="724171" y="10637"/>
                </a:lnTo>
                <a:lnTo>
                  <a:pt x="724171" y="474110"/>
                </a:lnTo>
                <a:lnTo>
                  <a:pt x="802467" y="474110"/>
                </a:lnTo>
                <a:lnTo>
                  <a:pt x="802467" y="260229"/>
                </a:lnTo>
                <a:cubicBezTo>
                  <a:pt x="802467" y="211222"/>
                  <a:pt x="827678" y="182730"/>
                  <a:pt x="868110" y="182730"/>
                </a:cubicBezTo>
                <a:cubicBezTo>
                  <a:pt x="907211" y="182730"/>
                  <a:pt x="924526" y="208563"/>
                  <a:pt x="924526" y="247597"/>
                </a:cubicBezTo>
                <a:lnTo>
                  <a:pt x="924526" y="474015"/>
                </a:lnTo>
                <a:lnTo>
                  <a:pt x="1002822" y="474015"/>
                </a:lnTo>
                <a:lnTo>
                  <a:pt x="1002822" y="247027"/>
                </a:lnTo>
                <a:cubicBezTo>
                  <a:pt x="1002822" y="178836"/>
                  <a:pt x="966956" y="136478"/>
                  <a:pt x="897983" y="136478"/>
                </a:cubicBezTo>
                <a:cubicBezTo>
                  <a:pt x="848893" y="136478"/>
                  <a:pt x="821684" y="157657"/>
                  <a:pt x="806463" y="184819"/>
                </a:cubicBezTo>
                <a:lnTo>
                  <a:pt x="802467" y="184819"/>
                </a:lnTo>
                <a:lnTo>
                  <a:pt x="802467" y="10637"/>
                </a:lnTo>
                <a:moveTo>
                  <a:pt x="3187225" y="10637"/>
                </a:moveTo>
                <a:lnTo>
                  <a:pt x="3105029" y="10637"/>
                </a:lnTo>
                <a:lnTo>
                  <a:pt x="3105029" y="353018"/>
                </a:lnTo>
                <a:cubicBezTo>
                  <a:pt x="3105029" y="408673"/>
                  <a:pt x="3083813" y="441724"/>
                  <a:pt x="3033392" y="441724"/>
                </a:cubicBezTo>
                <a:cubicBezTo>
                  <a:pt x="2983636" y="441724"/>
                  <a:pt x="2961755" y="406678"/>
                  <a:pt x="2961755" y="346370"/>
                </a:cubicBezTo>
                <a:lnTo>
                  <a:pt x="2961755" y="282832"/>
                </a:lnTo>
                <a:lnTo>
                  <a:pt x="2879558" y="303347"/>
                </a:lnTo>
                <a:lnTo>
                  <a:pt x="2879558" y="331839"/>
                </a:lnTo>
                <a:cubicBezTo>
                  <a:pt x="2879558" y="418550"/>
                  <a:pt x="2922654" y="484842"/>
                  <a:pt x="3033487" y="484842"/>
                </a:cubicBezTo>
                <a:cubicBezTo>
                  <a:pt x="3144320" y="484842"/>
                  <a:pt x="3187321" y="418645"/>
                  <a:pt x="3187321" y="331839"/>
                </a:cubicBezTo>
                <a:lnTo>
                  <a:pt x="3187321" y="10637"/>
                </a:lnTo>
                <a:moveTo>
                  <a:pt x="3681929" y="10637"/>
                </a:moveTo>
                <a:lnTo>
                  <a:pt x="3603633" y="10637"/>
                </a:lnTo>
                <a:lnTo>
                  <a:pt x="3603633" y="474110"/>
                </a:lnTo>
                <a:lnTo>
                  <a:pt x="3681929" y="474110"/>
                </a:lnTo>
                <a:lnTo>
                  <a:pt x="3681929" y="260229"/>
                </a:lnTo>
                <a:cubicBezTo>
                  <a:pt x="3681929" y="211222"/>
                  <a:pt x="3707141" y="182730"/>
                  <a:pt x="3747573" y="182730"/>
                </a:cubicBezTo>
                <a:cubicBezTo>
                  <a:pt x="3786674" y="182730"/>
                  <a:pt x="3803988" y="208563"/>
                  <a:pt x="3803988" y="247597"/>
                </a:cubicBezTo>
                <a:lnTo>
                  <a:pt x="3803988" y="474015"/>
                </a:lnTo>
                <a:lnTo>
                  <a:pt x="3882285" y="474015"/>
                </a:lnTo>
                <a:lnTo>
                  <a:pt x="3882285" y="247027"/>
                </a:lnTo>
                <a:cubicBezTo>
                  <a:pt x="3882285" y="178836"/>
                  <a:pt x="3846514" y="136478"/>
                  <a:pt x="3777445" y="136478"/>
                </a:cubicBezTo>
                <a:cubicBezTo>
                  <a:pt x="3728356" y="136478"/>
                  <a:pt x="3701147" y="157657"/>
                  <a:pt x="3685925" y="184819"/>
                </a:cubicBezTo>
                <a:lnTo>
                  <a:pt x="3681929" y="184819"/>
                </a:lnTo>
                <a:lnTo>
                  <a:pt x="3681929" y="10637"/>
                </a:lnTo>
                <a:moveTo>
                  <a:pt x="2595674" y="436405"/>
                </a:moveTo>
                <a:cubicBezTo>
                  <a:pt x="2532028" y="436405"/>
                  <a:pt x="2492832" y="384739"/>
                  <a:pt x="2492832" y="329749"/>
                </a:cubicBezTo>
                <a:cubicBezTo>
                  <a:pt x="2492832" y="295274"/>
                  <a:pt x="2508054" y="263553"/>
                  <a:pt x="2533265" y="245698"/>
                </a:cubicBezTo>
                <a:lnTo>
                  <a:pt x="2683198" y="409243"/>
                </a:lnTo>
                <a:cubicBezTo>
                  <a:pt x="2655419" y="425768"/>
                  <a:pt x="2624214" y="436405"/>
                  <a:pt x="2595674" y="436405"/>
                </a:cubicBezTo>
                <a:moveTo>
                  <a:pt x="2741611" y="354918"/>
                </a:moveTo>
                <a:lnTo>
                  <a:pt x="2611656" y="211887"/>
                </a:lnTo>
                <a:cubicBezTo>
                  <a:pt x="2634870" y="202579"/>
                  <a:pt x="2657417" y="199255"/>
                  <a:pt x="2675968" y="199255"/>
                </a:cubicBezTo>
                <a:cubicBezTo>
                  <a:pt x="2729719" y="199255"/>
                  <a:pt x="2762827" y="230407"/>
                  <a:pt x="2762827" y="283972"/>
                </a:cubicBezTo>
                <a:cubicBezTo>
                  <a:pt x="2762827" y="307905"/>
                  <a:pt x="2756167" y="332409"/>
                  <a:pt x="2741611" y="354918"/>
                </a:cubicBezTo>
                <a:moveTo>
                  <a:pt x="2593676" y="192702"/>
                </a:moveTo>
                <a:lnTo>
                  <a:pt x="2565135" y="160886"/>
                </a:lnTo>
                <a:cubicBezTo>
                  <a:pt x="2539925" y="133058"/>
                  <a:pt x="2532599" y="115868"/>
                  <a:pt x="2532599" y="95354"/>
                </a:cubicBezTo>
                <a:cubicBezTo>
                  <a:pt x="2532599" y="56984"/>
                  <a:pt x="2557144" y="35140"/>
                  <a:pt x="2595579" y="35140"/>
                </a:cubicBezTo>
                <a:cubicBezTo>
                  <a:pt x="2634679" y="35140"/>
                  <a:pt x="2657892" y="57649"/>
                  <a:pt x="2657892" y="98678"/>
                </a:cubicBezTo>
                <a:cubicBezTo>
                  <a:pt x="2657988" y="136478"/>
                  <a:pt x="2639436" y="172188"/>
                  <a:pt x="2593676" y="192702"/>
                </a:cubicBezTo>
                <a:moveTo>
                  <a:pt x="2597672" y="0"/>
                </a:moveTo>
                <a:cubicBezTo>
                  <a:pt x="2506151" y="0"/>
                  <a:pt x="2461057" y="51001"/>
                  <a:pt x="2461057" y="114539"/>
                </a:cubicBezTo>
                <a:cubicBezTo>
                  <a:pt x="2461057" y="148919"/>
                  <a:pt x="2475613" y="183395"/>
                  <a:pt x="2514143" y="225088"/>
                </a:cubicBezTo>
                <a:lnTo>
                  <a:pt x="2514809" y="226418"/>
                </a:lnTo>
                <a:cubicBezTo>
                  <a:pt x="2449831" y="257569"/>
                  <a:pt x="2419959" y="307905"/>
                  <a:pt x="2419959" y="359476"/>
                </a:cubicBezTo>
                <a:cubicBezTo>
                  <a:pt x="2419959" y="427668"/>
                  <a:pt x="2472378" y="484652"/>
                  <a:pt x="2553243" y="484652"/>
                </a:cubicBezTo>
                <a:cubicBezTo>
                  <a:pt x="2599670" y="484652"/>
                  <a:pt x="2654087" y="465467"/>
                  <a:pt x="2703177" y="430992"/>
                </a:cubicBezTo>
                <a:lnTo>
                  <a:pt x="2742943" y="474015"/>
                </a:lnTo>
                <a:lnTo>
                  <a:pt x="2847117" y="474015"/>
                </a:lnTo>
                <a:lnTo>
                  <a:pt x="2847117" y="470691"/>
                </a:lnTo>
                <a:lnTo>
                  <a:pt x="2762256" y="377331"/>
                </a:lnTo>
                <a:cubicBezTo>
                  <a:pt x="2798122" y="334973"/>
                  <a:pt x="2818671" y="288626"/>
                  <a:pt x="2818671" y="248167"/>
                </a:cubicBezTo>
                <a:cubicBezTo>
                  <a:pt x="2818671" y="197831"/>
                  <a:pt x="2784803" y="164115"/>
                  <a:pt x="2731812" y="164115"/>
                </a:cubicBezTo>
                <a:cubicBezTo>
                  <a:pt x="2703938" y="164115"/>
                  <a:pt x="2672733" y="172093"/>
                  <a:pt x="2652184" y="179976"/>
                </a:cubicBezTo>
                <a:lnTo>
                  <a:pt x="2650852" y="177316"/>
                </a:lnTo>
                <a:cubicBezTo>
                  <a:pt x="2701274" y="150154"/>
                  <a:pt x="2722489" y="124986"/>
                  <a:pt x="2722489" y="89940"/>
                </a:cubicBezTo>
                <a:cubicBezTo>
                  <a:pt x="2722394" y="39794"/>
                  <a:pt x="2677300" y="0"/>
                  <a:pt x="2597672" y="0"/>
                </a:cubicBezTo>
                <a:moveTo>
                  <a:pt x="612767" y="838050"/>
                </a:moveTo>
                <a:cubicBezTo>
                  <a:pt x="620092" y="779831"/>
                  <a:pt x="649870" y="746685"/>
                  <a:pt x="702289" y="746685"/>
                </a:cubicBezTo>
                <a:cubicBezTo>
                  <a:pt x="752045" y="746685"/>
                  <a:pt x="781252" y="776507"/>
                  <a:pt x="782584" y="838050"/>
                </a:cubicBezTo>
                <a:lnTo>
                  <a:pt x="612767" y="838050"/>
                </a:lnTo>
                <a:moveTo>
                  <a:pt x="702289" y="701667"/>
                </a:moveTo>
                <a:cubicBezTo>
                  <a:pt x="614765" y="701667"/>
                  <a:pt x="553688" y="763210"/>
                  <a:pt x="553688" y="876514"/>
                </a:cubicBezTo>
                <a:cubicBezTo>
                  <a:pt x="553688" y="985069"/>
                  <a:pt x="610103" y="1046043"/>
                  <a:pt x="702289" y="1046043"/>
                </a:cubicBezTo>
                <a:cubicBezTo>
                  <a:pt x="777922" y="1046043"/>
                  <a:pt x="825680" y="1003020"/>
                  <a:pt x="837572" y="938152"/>
                </a:cubicBezTo>
                <a:lnTo>
                  <a:pt x="787150" y="924951"/>
                </a:lnTo>
                <a:cubicBezTo>
                  <a:pt x="778493" y="980606"/>
                  <a:pt x="748715" y="999790"/>
                  <a:pt x="707522" y="999790"/>
                </a:cubicBezTo>
                <a:cubicBezTo>
                  <a:pt x="641878" y="999790"/>
                  <a:pt x="612672" y="951449"/>
                  <a:pt x="610674" y="877274"/>
                </a:cubicBezTo>
                <a:lnTo>
                  <a:pt x="838143" y="877274"/>
                </a:lnTo>
                <a:lnTo>
                  <a:pt x="838143" y="858754"/>
                </a:lnTo>
                <a:cubicBezTo>
                  <a:pt x="838333" y="742696"/>
                  <a:pt x="775258" y="701667"/>
                  <a:pt x="702289" y="701667"/>
                </a:cubicBezTo>
                <a:moveTo>
                  <a:pt x="1610832" y="838050"/>
                </a:moveTo>
                <a:cubicBezTo>
                  <a:pt x="1618158" y="779831"/>
                  <a:pt x="1647935" y="746685"/>
                  <a:pt x="1700355" y="746685"/>
                </a:cubicBezTo>
                <a:cubicBezTo>
                  <a:pt x="1750111" y="746685"/>
                  <a:pt x="1779317" y="776507"/>
                  <a:pt x="1780649" y="838050"/>
                </a:cubicBezTo>
                <a:lnTo>
                  <a:pt x="1610832" y="838050"/>
                </a:lnTo>
                <a:moveTo>
                  <a:pt x="1700355" y="701667"/>
                </a:moveTo>
                <a:cubicBezTo>
                  <a:pt x="1612830" y="701667"/>
                  <a:pt x="1551753" y="763210"/>
                  <a:pt x="1551753" y="876514"/>
                </a:cubicBezTo>
                <a:cubicBezTo>
                  <a:pt x="1551753" y="985069"/>
                  <a:pt x="1608168" y="1046043"/>
                  <a:pt x="1700355" y="1046043"/>
                </a:cubicBezTo>
                <a:cubicBezTo>
                  <a:pt x="1775987" y="1046043"/>
                  <a:pt x="1823745" y="1003020"/>
                  <a:pt x="1835637" y="938152"/>
                </a:cubicBezTo>
                <a:lnTo>
                  <a:pt x="1785215" y="924951"/>
                </a:lnTo>
                <a:cubicBezTo>
                  <a:pt x="1776558" y="980606"/>
                  <a:pt x="1746781" y="999790"/>
                  <a:pt x="1705587" y="999790"/>
                </a:cubicBezTo>
                <a:cubicBezTo>
                  <a:pt x="1639944" y="999790"/>
                  <a:pt x="1610737" y="951449"/>
                  <a:pt x="1608739" y="877274"/>
                </a:cubicBezTo>
                <a:lnTo>
                  <a:pt x="1836208" y="877274"/>
                </a:lnTo>
                <a:lnTo>
                  <a:pt x="1836208" y="858754"/>
                </a:lnTo>
                <a:cubicBezTo>
                  <a:pt x="1836398" y="742696"/>
                  <a:pt x="1773323" y="701667"/>
                  <a:pt x="1700355" y="701667"/>
                </a:cubicBezTo>
                <a:moveTo>
                  <a:pt x="2044555" y="701667"/>
                </a:moveTo>
                <a:cubicBezTo>
                  <a:pt x="1953700" y="701667"/>
                  <a:pt x="1891957" y="765205"/>
                  <a:pt x="1891957" y="877179"/>
                </a:cubicBezTo>
                <a:cubicBezTo>
                  <a:pt x="1891957" y="987064"/>
                  <a:pt x="1952273" y="1046043"/>
                  <a:pt x="2041891" y="1046043"/>
                </a:cubicBezTo>
                <a:cubicBezTo>
                  <a:pt x="2122851" y="1046043"/>
                  <a:pt x="2168611" y="996371"/>
                  <a:pt x="2177839" y="928180"/>
                </a:cubicBezTo>
                <a:lnTo>
                  <a:pt x="2125420" y="915549"/>
                </a:lnTo>
                <a:cubicBezTo>
                  <a:pt x="2116096" y="977756"/>
                  <a:pt x="2089554" y="998936"/>
                  <a:pt x="2045791" y="998936"/>
                </a:cubicBezTo>
                <a:cubicBezTo>
                  <a:pt x="1982146" y="998936"/>
                  <a:pt x="1949609" y="952588"/>
                  <a:pt x="1949609" y="873095"/>
                </a:cubicBezTo>
                <a:cubicBezTo>
                  <a:pt x="1949609" y="790278"/>
                  <a:pt x="1984144" y="748584"/>
                  <a:pt x="2043127" y="748584"/>
                </a:cubicBezTo>
                <a:cubicBezTo>
                  <a:pt x="2084892" y="748584"/>
                  <a:pt x="2115430" y="769099"/>
                  <a:pt x="2125420" y="828078"/>
                </a:cubicBezTo>
                <a:lnTo>
                  <a:pt x="2177839" y="815446"/>
                </a:lnTo>
                <a:cubicBezTo>
                  <a:pt x="2168611" y="748015"/>
                  <a:pt x="2122851" y="701667"/>
                  <a:pt x="2044555" y="701667"/>
                </a:cubicBezTo>
                <a:moveTo>
                  <a:pt x="477580" y="575827"/>
                </a:moveTo>
                <a:lnTo>
                  <a:pt x="390055" y="575827"/>
                </a:lnTo>
                <a:lnTo>
                  <a:pt x="252775" y="949264"/>
                </a:lnTo>
                <a:lnTo>
                  <a:pt x="114828" y="575827"/>
                </a:lnTo>
                <a:lnTo>
                  <a:pt x="23213" y="575827"/>
                </a:lnTo>
                <a:lnTo>
                  <a:pt x="23213" y="1039300"/>
                </a:lnTo>
                <a:lnTo>
                  <a:pt x="80865" y="1039300"/>
                </a:lnTo>
                <a:lnTo>
                  <a:pt x="80865" y="640124"/>
                </a:lnTo>
                <a:lnTo>
                  <a:pt x="228801" y="1039395"/>
                </a:lnTo>
                <a:lnTo>
                  <a:pt x="273229" y="1039395"/>
                </a:lnTo>
                <a:lnTo>
                  <a:pt x="419832" y="639459"/>
                </a:lnTo>
                <a:lnTo>
                  <a:pt x="419832" y="1039395"/>
                </a:lnTo>
                <a:lnTo>
                  <a:pt x="477580" y="1039395"/>
                </a:lnTo>
                <a:lnTo>
                  <a:pt x="477580" y="575827"/>
                </a:lnTo>
                <a:moveTo>
                  <a:pt x="1042494" y="999031"/>
                </a:moveTo>
                <a:cubicBezTo>
                  <a:pt x="988076" y="999031"/>
                  <a:pt x="951639" y="959996"/>
                  <a:pt x="951639" y="873855"/>
                </a:cubicBezTo>
                <a:cubicBezTo>
                  <a:pt x="951639" y="787144"/>
                  <a:pt x="988076" y="748679"/>
                  <a:pt x="1042494" y="748679"/>
                </a:cubicBezTo>
                <a:cubicBezTo>
                  <a:pt x="1096911" y="748679"/>
                  <a:pt x="1133348" y="787049"/>
                  <a:pt x="1133348" y="873855"/>
                </a:cubicBezTo>
                <a:cubicBezTo>
                  <a:pt x="1133348" y="959901"/>
                  <a:pt x="1096911" y="999031"/>
                  <a:pt x="1042494" y="999031"/>
                </a:cubicBezTo>
                <a:moveTo>
                  <a:pt x="1187099" y="575827"/>
                </a:moveTo>
                <a:lnTo>
                  <a:pt x="1132111" y="575827"/>
                </a:lnTo>
                <a:lnTo>
                  <a:pt x="1132111" y="771853"/>
                </a:lnTo>
                <a:cubicBezTo>
                  <a:pt x="1120124" y="735383"/>
                  <a:pt x="1091013" y="701667"/>
                  <a:pt x="1033265" y="701667"/>
                </a:cubicBezTo>
                <a:cubicBezTo>
                  <a:pt x="958965" y="701667"/>
                  <a:pt x="893987" y="759981"/>
                  <a:pt x="893987" y="875849"/>
                </a:cubicBezTo>
                <a:cubicBezTo>
                  <a:pt x="893987" y="993047"/>
                  <a:pt x="958965" y="1046043"/>
                  <a:pt x="1028604" y="1046043"/>
                </a:cubicBezTo>
                <a:cubicBezTo>
                  <a:pt x="1081023" y="1046043"/>
                  <a:pt x="1119458" y="1015556"/>
                  <a:pt x="1132111" y="972533"/>
                </a:cubicBezTo>
                <a:lnTo>
                  <a:pt x="1132111" y="997701"/>
                </a:lnTo>
                <a:cubicBezTo>
                  <a:pt x="1132111" y="1012897"/>
                  <a:pt x="1133443" y="1029517"/>
                  <a:pt x="1135441" y="1039395"/>
                </a:cubicBezTo>
                <a:lnTo>
                  <a:pt x="1191190" y="1039395"/>
                </a:lnTo>
                <a:cubicBezTo>
                  <a:pt x="1188526" y="1023534"/>
                  <a:pt x="1187194" y="1000360"/>
                  <a:pt x="1187194" y="970538"/>
                </a:cubicBezTo>
                <a:lnTo>
                  <a:pt x="1187194" y="575827"/>
                </a:lnTo>
                <a:moveTo>
                  <a:pt x="1604934" y="575827"/>
                </a:moveTo>
                <a:lnTo>
                  <a:pt x="1246749" y="575827"/>
                </a:lnTo>
                <a:lnTo>
                  <a:pt x="1246749" y="624169"/>
                </a:lnTo>
                <a:lnTo>
                  <a:pt x="1397349" y="624169"/>
                </a:lnTo>
                <a:lnTo>
                  <a:pt x="1397349" y="1039395"/>
                </a:lnTo>
                <a:lnTo>
                  <a:pt x="1455096" y="1039395"/>
                </a:lnTo>
                <a:lnTo>
                  <a:pt x="1455096" y="624169"/>
                </a:lnTo>
                <a:lnTo>
                  <a:pt x="1605029" y="624169"/>
                </a:lnTo>
                <a:lnTo>
                  <a:pt x="1605029" y="575827"/>
                </a:lnTo>
                <a:moveTo>
                  <a:pt x="2295902" y="575827"/>
                </a:moveTo>
                <a:lnTo>
                  <a:pt x="2240819" y="575827"/>
                </a:lnTo>
                <a:lnTo>
                  <a:pt x="2240819" y="1039300"/>
                </a:lnTo>
                <a:lnTo>
                  <a:pt x="2295902" y="1039300"/>
                </a:lnTo>
                <a:lnTo>
                  <a:pt x="2295902" y="821524"/>
                </a:lnTo>
                <a:cubicBezTo>
                  <a:pt x="2295902" y="775177"/>
                  <a:pt x="2319115" y="744026"/>
                  <a:pt x="2368205" y="744026"/>
                </a:cubicBezTo>
                <a:cubicBezTo>
                  <a:pt x="2416629" y="744026"/>
                  <a:pt x="2439842" y="775177"/>
                  <a:pt x="2439842" y="821524"/>
                </a:cubicBezTo>
                <a:lnTo>
                  <a:pt x="2439842" y="1039395"/>
                </a:lnTo>
                <a:lnTo>
                  <a:pt x="2494925" y="1039395"/>
                </a:lnTo>
                <a:lnTo>
                  <a:pt x="2494925" y="810317"/>
                </a:lnTo>
                <a:cubicBezTo>
                  <a:pt x="2494925" y="748110"/>
                  <a:pt x="2456491" y="701762"/>
                  <a:pt x="2388088" y="701762"/>
                </a:cubicBezTo>
                <a:cubicBezTo>
                  <a:pt x="2342328" y="701762"/>
                  <a:pt x="2308460" y="722277"/>
                  <a:pt x="2295902" y="759411"/>
                </a:cubicBezTo>
                <a:lnTo>
                  <a:pt x="2295902" y="575827"/>
                </a:lnTo>
              </a:path>
            </a:pathLst>
          </a:custGeom>
          <a:solidFill>
            <a:srgbClr val="EB1700"/>
          </a:solidFill>
          <a:ln w="95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600"/>
          </a:p>
        </p:txBody>
      </p:sp>
      <p:sp>
        <p:nvSpPr>
          <p:cNvPr id="268" name="Footer Placeholder 3"/>
          <p:cNvSpPr txBox="1"/>
          <p:nvPr/>
        </p:nvSpPr>
        <p:spPr>
          <a:xfrm>
            <a:off x="347415" y="12731172"/>
            <a:ext cx="6864853" cy="10926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110000"/>
              </a:lnSpc>
              <a:spcBef>
                <a:spcPts val="880"/>
              </a:spcBef>
              <a:spcAft>
                <a:spcPts val="880"/>
              </a:spcAft>
              <a:defRPr sz="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710" dirty="0"/>
              <a:t>009797-241115  </a:t>
            </a:r>
            <a:r>
              <a:rPr lang="zh-CN" altLang="en-US" sz="710" dirty="0"/>
              <a:t>专业内容，仅供医疗专业人士参考，严禁翻印及传播</a:t>
            </a:r>
          </a:p>
        </p:txBody>
      </p:sp>
      <p:sp>
        <p:nvSpPr>
          <p:cNvPr id="7" name="Graphic 5"/>
          <p:cNvSpPr>
            <a:spLocks noChangeAspect="1"/>
          </p:cNvSpPr>
          <p:nvPr userDrawn="1"/>
        </p:nvSpPr>
        <p:spPr>
          <a:xfrm>
            <a:off x="360551" y="10638956"/>
            <a:ext cx="1996158" cy="460007"/>
          </a:xfrm>
          <a:custGeom>
            <a:avLst/>
            <a:gdLst>
              <a:gd name="connsiteX0" fmla="*/ 515919 w 5217319"/>
              <a:gd name="connsiteY0" fmla="*/ 444383 h 1046042"/>
              <a:gd name="connsiteX1" fmla="*/ 436291 w 5217319"/>
              <a:gd name="connsiteY1" fmla="*/ 308665 h 1046042"/>
              <a:gd name="connsiteX2" fmla="*/ 515919 w 5217319"/>
              <a:gd name="connsiteY2" fmla="*/ 172948 h 1046042"/>
              <a:gd name="connsiteX3" fmla="*/ 595547 w 5217319"/>
              <a:gd name="connsiteY3" fmla="*/ 308665 h 1046042"/>
              <a:gd name="connsiteX4" fmla="*/ 515919 w 5217319"/>
              <a:gd name="connsiteY4" fmla="*/ 444383 h 1046042"/>
              <a:gd name="connsiteX5" fmla="*/ 515919 w 5217319"/>
              <a:gd name="connsiteY5" fmla="*/ 136478 h 1046042"/>
              <a:gd name="connsiteX6" fmla="*/ 354094 w 5217319"/>
              <a:gd name="connsiteY6" fmla="*/ 308665 h 1046042"/>
              <a:gd name="connsiteX7" fmla="*/ 515919 w 5217319"/>
              <a:gd name="connsiteY7" fmla="*/ 480853 h 1046042"/>
              <a:gd name="connsiteX8" fmla="*/ 677744 w 5217319"/>
              <a:gd name="connsiteY8" fmla="*/ 308665 h 1046042"/>
              <a:gd name="connsiteX9" fmla="*/ 515919 w 5217319"/>
              <a:gd name="connsiteY9" fmla="*/ 136478 h 1046042"/>
              <a:gd name="connsiteX10" fmla="*/ 1239519 w 5217319"/>
              <a:gd name="connsiteY10" fmla="*/ 136478 h 1046042"/>
              <a:gd name="connsiteX11" fmla="*/ 1147999 w 5217319"/>
              <a:gd name="connsiteY11" fmla="*/ 184819 h 1046042"/>
              <a:gd name="connsiteX12" fmla="*/ 1144003 w 5217319"/>
              <a:gd name="connsiteY12" fmla="*/ 184819 h 1046042"/>
              <a:gd name="connsiteX13" fmla="*/ 1144003 w 5217319"/>
              <a:gd name="connsiteY13" fmla="*/ 143126 h 1046042"/>
              <a:gd name="connsiteX14" fmla="*/ 1065707 w 5217319"/>
              <a:gd name="connsiteY14" fmla="*/ 143126 h 1046042"/>
              <a:gd name="connsiteX15" fmla="*/ 1065707 w 5217319"/>
              <a:gd name="connsiteY15" fmla="*/ 474205 h 1046042"/>
              <a:gd name="connsiteX16" fmla="*/ 1144003 w 5217319"/>
              <a:gd name="connsiteY16" fmla="*/ 474205 h 1046042"/>
              <a:gd name="connsiteX17" fmla="*/ 1144003 w 5217319"/>
              <a:gd name="connsiteY17" fmla="*/ 260229 h 1046042"/>
              <a:gd name="connsiteX18" fmla="*/ 1209646 w 5217319"/>
              <a:gd name="connsiteY18" fmla="*/ 182730 h 1046042"/>
              <a:gd name="connsiteX19" fmla="*/ 1266062 w 5217319"/>
              <a:gd name="connsiteY19" fmla="*/ 247597 h 1046042"/>
              <a:gd name="connsiteX20" fmla="*/ 1266062 w 5217319"/>
              <a:gd name="connsiteY20" fmla="*/ 474015 h 1046042"/>
              <a:gd name="connsiteX21" fmla="*/ 1344358 w 5217319"/>
              <a:gd name="connsiteY21" fmla="*/ 474015 h 1046042"/>
              <a:gd name="connsiteX22" fmla="*/ 1344358 w 5217319"/>
              <a:gd name="connsiteY22" fmla="*/ 247027 h 1046042"/>
              <a:gd name="connsiteX23" fmla="*/ 1239519 w 5217319"/>
              <a:gd name="connsiteY23" fmla="*/ 136478 h 1046042"/>
              <a:gd name="connsiteX24" fmla="*/ 1521976 w 5217319"/>
              <a:gd name="connsiteY24" fmla="*/ 136478 h 1046042"/>
              <a:gd name="connsiteX25" fmla="*/ 1395256 w 5217319"/>
              <a:gd name="connsiteY25" fmla="*/ 231831 h 1046042"/>
              <a:gd name="connsiteX26" fmla="*/ 1475550 w 5217319"/>
              <a:gd name="connsiteY26" fmla="*/ 327185 h 1046042"/>
              <a:gd name="connsiteX27" fmla="*/ 1541859 w 5217319"/>
              <a:gd name="connsiteY27" fmla="*/ 343711 h 1046042"/>
              <a:gd name="connsiteX28" fmla="*/ 1592947 w 5217319"/>
              <a:gd name="connsiteY28" fmla="*/ 392717 h 1046042"/>
              <a:gd name="connsiteX29" fmla="*/ 1527303 w 5217319"/>
              <a:gd name="connsiteY29" fmla="*/ 445713 h 1046042"/>
              <a:gd name="connsiteX30" fmla="*/ 1451671 w 5217319"/>
              <a:gd name="connsiteY30" fmla="*/ 368879 h 1046042"/>
              <a:gd name="connsiteX31" fmla="*/ 1381366 w 5217319"/>
              <a:gd name="connsiteY31" fmla="*/ 388728 h 1046042"/>
              <a:gd name="connsiteX32" fmla="*/ 1518646 w 5217319"/>
              <a:gd name="connsiteY32" fmla="*/ 480758 h 1046042"/>
              <a:gd name="connsiteX33" fmla="*/ 1656592 w 5217319"/>
              <a:gd name="connsiteY33" fmla="*/ 372868 h 1046042"/>
              <a:gd name="connsiteX34" fmla="*/ 1568402 w 5217319"/>
              <a:gd name="connsiteY34" fmla="*/ 273525 h 1046042"/>
              <a:gd name="connsiteX35" fmla="*/ 1504756 w 5217319"/>
              <a:gd name="connsiteY35" fmla="*/ 257664 h 1046042"/>
              <a:gd name="connsiteX36" fmla="*/ 1458996 w 5217319"/>
              <a:gd name="connsiteY36" fmla="*/ 213976 h 1046042"/>
              <a:gd name="connsiteX37" fmla="*/ 1515411 w 5217319"/>
              <a:gd name="connsiteY37" fmla="*/ 171618 h 1046042"/>
              <a:gd name="connsiteX38" fmla="*/ 1583053 w 5217319"/>
              <a:gd name="connsiteY38" fmla="*/ 235155 h 1046042"/>
              <a:gd name="connsiteX39" fmla="*/ 1649362 w 5217319"/>
              <a:gd name="connsiteY39" fmla="*/ 215306 h 1046042"/>
              <a:gd name="connsiteX40" fmla="*/ 1521976 w 5217319"/>
              <a:gd name="connsiteY40" fmla="*/ 136478 h 1046042"/>
              <a:gd name="connsiteX41" fmla="*/ 1850954 w 5217319"/>
              <a:gd name="connsiteY41" fmla="*/ 444383 h 1046042"/>
              <a:gd name="connsiteX42" fmla="*/ 1771326 w 5217319"/>
              <a:gd name="connsiteY42" fmla="*/ 308665 h 1046042"/>
              <a:gd name="connsiteX43" fmla="*/ 1850954 w 5217319"/>
              <a:gd name="connsiteY43" fmla="*/ 172948 h 1046042"/>
              <a:gd name="connsiteX44" fmla="*/ 1930582 w 5217319"/>
              <a:gd name="connsiteY44" fmla="*/ 308665 h 1046042"/>
              <a:gd name="connsiteX45" fmla="*/ 1850954 w 5217319"/>
              <a:gd name="connsiteY45" fmla="*/ 444383 h 1046042"/>
              <a:gd name="connsiteX46" fmla="*/ 1850954 w 5217319"/>
              <a:gd name="connsiteY46" fmla="*/ 136478 h 1046042"/>
              <a:gd name="connsiteX47" fmla="*/ 1689129 w 5217319"/>
              <a:gd name="connsiteY47" fmla="*/ 308665 h 1046042"/>
              <a:gd name="connsiteX48" fmla="*/ 1850954 w 5217319"/>
              <a:gd name="connsiteY48" fmla="*/ 480853 h 1046042"/>
              <a:gd name="connsiteX49" fmla="*/ 2012779 w 5217319"/>
              <a:gd name="connsiteY49" fmla="*/ 308665 h 1046042"/>
              <a:gd name="connsiteX50" fmla="*/ 1850954 w 5217319"/>
              <a:gd name="connsiteY50" fmla="*/ 136478 h 1046042"/>
              <a:gd name="connsiteX51" fmla="*/ 2232923 w 5217319"/>
              <a:gd name="connsiteY51" fmla="*/ 136478 h 1046042"/>
              <a:gd name="connsiteX52" fmla="*/ 2141402 w 5217319"/>
              <a:gd name="connsiteY52" fmla="*/ 184819 h 1046042"/>
              <a:gd name="connsiteX53" fmla="*/ 2137407 w 5217319"/>
              <a:gd name="connsiteY53" fmla="*/ 184819 h 1046042"/>
              <a:gd name="connsiteX54" fmla="*/ 2137407 w 5217319"/>
              <a:gd name="connsiteY54" fmla="*/ 143126 h 1046042"/>
              <a:gd name="connsiteX55" fmla="*/ 2059110 w 5217319"/>
              <a:gd name="connsiteY55" fmla="*/ 143126 h 1046042"/>
              <a:gd name="connsiteX56" fmla="*/ 2059110 w 5217319"/>
              <a:gd name="connsiteY56" fmla="*/ 474205 h 1046042"/>
              <a:gd name="connsiteX57" fmla="*/ 2137407 w 5217319"/>
              <a:gd name="connsiteY57" fmla="*/ 474205 h 1046042"/>
              <a:gd name="connsiteX58" fmla="*/ 2137407 w 5217319"/>
              <a:gd name="connsiteY58" fmla="*/ 260229 h 1046042"/>
              <a:gd name="connsiteX59" fmla="*/ 2203050 w 5217319"/>
              <a:gd name="connsiteY59" fmla="*/ 182730 h 1046042"/>
              <a:gd name="connsiteX60" fmla="*/ 2259465 w 5217319"/>
              <a:gd name="connsiteY60" fmla="*/ 247597 h 1046042"/>
              <a:gd name="connsiteX61" fmla="*/ 2259465 w 5217319"/>
              <a:gd name="connsiteY61" fmla="*/ 474015 h 1046042"/>
              <a:gd name="connsiteX62" fmla="*/ 2337762 w 5217319"/>
              <a:gd name="connsiteY62" fmla="*/ 474015 h 1046042"/>
              <a:gd name="connsiteX63" fmla="*/ 2337762 w 5217319"/>
              <a:gd name="connsiteY63" fmla="*/ 247027 h 1046042"/>
              <a:gd name="connsiteX64" fmla="*/ 2232923 w 5217319"/>
              <a:gd name="connsiteY64" fmla="*/ 136478 h 1046042"/>
              <a:gd name="connsiteX65" fmla="*/ 3395477 w 5217319"/>
              <a:gd name="connsiteY65" fmla="*/ 444383 h 1046042"/>
              <a:gd name="connsiteX66" fmla="*/ 3315849 w 5217319"/>
              <a:gd name="connsiteY66" fmla="*/ 308665 h 1046042"/>
              <a:gd name="connsiteX67" fmla="*/ 3395477 w 5217319"/>
              <a:gd name="connsiteY67" fmla="*/ 172948 h 1046042"/>
              <a:gd name="connsiteX68" fmla="*/ 3475105 w 5217319"/>
              <a:gd name="connsiteY68" fmla="*/ 308665 h 1046042"/>
              <a:gd name="connsiteX69" fmla="*/ 3395477 w 5217319"/>
              <a:gd name="connsiteY69" fmla="*/ 444383 h 1046042"/>
              <a:gd name="connsiteX70" fmla="*/ 3395477 w 5217319"/>
              <a:gd name="connsiteY70" fmla="*/ 136478 h 1046042"/>
              <a:gd name="connsiteX71" fmla="*/ 3233652 w 5217319"/>
              <a:gd name="connsiteY71" fmla="*/ 308665 h 1046042"/>
              <a:gd name="connsiteX72" fmla="*/ 3395477 w 5217319"/>
              <a:gd name="connsiteY72" fmla="*/ 480853 h 1046042"/>
              <a:gd name="connsiteX73" fmla="*/ 3557302 w 5217319"/>
              <a:gd name="connsiteY73" fmla="*/ 308665 h 1046042"/>
              <a:gd name="connsiteX74" fmla="*/ 3395477 w 5217319"/>
              <a:gd name="connsiteY74" fmla="*/ 136478 h 1046042"/>
              <a:gd name="connsiteX75" fmla="*/ 4118981 w 5217319"/>
              <a:gd name="connsiteY75" fmla="*/ 136478 h 1046042"/>
              <a:gd name="connsiteX76" fmla="*/ 4027461 w 5217319"/>
              <a:gd name="connsiteY76" fmla="*/ 184819 h 1046042"/>
              <a:gd name="connsiteX77" fmla="*/ 4023466 w 5217319"/>
              <a:gd name="connsiteY77" fmla="*/ 184819 h 1046042"/>
              <a:gd name="connsiteX78" fmla="*/ 4023466 w 5217319"/>
              <a:gd name="connsiteY78" fmla="*/ 143126 h 1046042"/>
              <a:gd name="connsiteX79" fmla="*/ 3945169 w 5217319"/>
              <a:gd name="connsiteY79" fmla="*/ 143126 h 1046042"/>
              <a:gd name="connsiteX80" fmla="*/ 3945169 w 5217319"/>
              <a:gd name="connsiteY80" fmla="*/ 474205 h 1046042"/>
              <a:gd name="connsiteX81" fmla="*/ 4023466 w 5217319"/>
              <a:gd name="connsiteY81" fmla="*/ 474205 h 1046042"/>
              <a:gd name="connsiteX82" fmla="*/ 4023466 w 5217319"/>
              <a:gd name="connsiteY82" fmla="*/ 260229 h 1046042"/>
              <a:gd name="connsiteX83" fmla="*/ 4089109 w 5217319"/>
              <a:gd name="connsiteY83" fmla="*/ 182730 h 1046042"/>
              <a:gd name="connsiteX84" fmla="*/ 4145524 w 5217319"/>
              <a:gd name="connsiteY84" fmla="*/ 247597 h 1046042"/>
              <a:gd name="connsiteX85" fmla="*/ 4145524 w 5217319"/>
              <a:gd name="connsiteY85" fmla="*/ 474015 h 1046042"/>
              <a:gd name="connsiteX86" fmla="*/ 4223821 w 5217319"/>
              <a:gd name="connsiteY86" fmla="*/ 474015 h 1046042"/>
              <a:gd name="connsiteX87" fmla="*/ 4223821 w 5217319"/>
              <a:gd name="connsiteY87" fmla="*/ 247027 h 1046042"/>
              <a:gd name="connsiteX88" fmla="*/ 4118981 w 5217319"/>
              <a:gd name="connsiteY88" fmla="*/ 136478 h 1046042"/>
              <a:gd name="connsiteX89" fmla="*/ 4401534 w 5217319"/>
              <a:gd name="connsiteY89" fmla="*/ 136478 h 1046042"/>
              <a:gd name="connsiteX90" fmla="*/ 4274813 w 5217319"/>
              <a:gd name="connsiteY90" fmla="*/ 231831 h 1046042"/>
              <a:gd name="connsiteX91" fmla="*/ 4355108 w 5217319"/>
              <a:gd name="connsiteY91" fmla="*/ 327185 h 1046042"/>
              <a:gd name="connsiteX92" fmla="*/ 4421417 w 5217319"/>
              <a:gd name="connsiteY92" fmla="*/ 343711 h 1046042"/>
              <a:gd name="connsiteX93" fmla="*/ 4472505 w 5217319"/>
              <a:gd name="connsiteY93" fmla="*/ 392717 h 1046042"/>
              <a:gd name="connsiteX94" fmla="*/ 4406861 w 5217319"/>
              <a:gd name="connsiteY94" fmla="*/ 445713 h 1046042"/>
              <a:gd name="connsiteX95" fmla="*/ 4331229 w 5217319"/>
              <a:gd name="connsiteY95" fmla="*/ 368879 h 1046042"/>
              <a:gd name="connsiteX96" fmla="*/ 4260924 w 5217319"/>
              <a:gd name="connsiteY96" fmla="*/ 388728 h 1046042"/>
              <a:gd name="connsiteX97" fmla="*/ 4398204 w 5217319"/>
              <a:gd name="connsiteY97" fmla="*/ 480758 h 1046042"/>
              <a:gd name="connsiteX98" fmla="*/ 4536150 w 5217319"/>
              <a:gd name="connsiteY98" fmla="*/ 372868 h 1046042"/>
              <a:gd name="connsiteX99" fmla="*/ 4447960 w 5217319"/>
              <a:gd name="connsiteY99" fmla="*/ 273525 h 1046042"/>
              <a:gd name="connsiteX100" fmla="*/ 4384314 w 5217319"/>
              <a:gd name="connsiteY100" fmla="*/ 257664 h 1046042"/>
              <a:gd name="connsiteX101" fmla="*/ 4338554 w 5217319"/>
              <a:gd name="connsiteY101" fmla="*/ 213976 h 1046042"/>
              <a:gd name="connsiteX102" fmla="*/ 4394969 w 5217319"/>
              <a:gd name="connsiteY102" fmla="*/ 171618 h 1046042"/>
              <a:gd name="connsiteX103" fmla="*/ 4462610 w 5217319"/>
              <a:gd name="connsiteY103" fmla="*/ 235155 h 1046042"/>
              <a:gd name="connsiteX104" fmla="*/ 4528920 w 5217319"/>
              <a:gd name="connsiteY104" fmla="*/ 215306 h 1046042"/>
              <a:gd name="connsiteX105" fmla="*/ 4401534 w 5217319"/>
              <a:gd name="connsiteY105" fmla="*/ 136478 h 1046042"/>
              <a:gd name="connsiteX106" fmla="*/ 4730417 w 5217319"/>
              <a:gd name="connsiteY106" fmla="*/ 444383 h 1046042"/>
              <a:gd name="connsiteX107" fmla="*/ 4650788 w 5217319"/>
              <a:gd name="connsiteY107" fmla="*/ 308665 h 1046042"/>
              <a:gd name="connsiteX108" fmla="*/ 4730417 w 5217319"/>
              <a:gd name="connsiteY108" fmla="*/ 172948 h 1046042"/>
              <a:gd name="connsiteX109" fmla="*/ 4810045 w 5217319"/>
              <a:gd name="connsiteY109" fmla="*/ 308665 h 1046042"/>
              <a:gd name="connsiteX110" fmla="*/ 4730417 w 5217319"/>
              <a:gd name="connsiteY110" fmla="*/ 444383 h 1046042"/>
              <a:gd name="connsiteX111" fmla="*/ 4730417 w 5217319"/>
              <a:gd name="connsiteY111" fmla="*/ 136478 h 1046042"/>
              <a:gd name="connsiteX112" fmla="*/ 4568591 w 5217319"/>
              <a:gd name="connsiteY112" fmla="*/ 308665 h 1046042"/>
              <a:gd name="connsiteX113" fmla="*/ 4730417 w 5217319"/>
              <a:gd name="connsiteY113" fmla="*/ 480853 h 1046042"/>
              <a:gd name="connsiteX114" fmla="*/ 4892242 w 5217319"/>
              <a:gd name="connsiteY114" fmla="*/ 308665 h 1046042"/>
              <a:gd name="connsiteX115" fmla="*/ 4730417 w 5217319"/>
              <a:gd name="connsiteY115" fmla="*/ 136478 h 1046042"/>
              <a:gd name="connsiteX116" fmla="*/ 5112481 w 5217319"/>
              <a:gd name="connsiteY116" fmla="*/ 136478 h 1046042"/>
              <a:gd name="connsiteX117" fmla="*/ 5020960 w 5217319"/>
              <a:gd name="connsiteY117" fmla="*/ 184819 h 1046042"/>
              <a:gd name="connsiteX118" fmla="*/ 5016964 w 5217319"/>
              <a:gd name="connsiteY118" fmla="*/ 184819 h 1046042"/>
              <a:gd name="connsiteX119" fmla="*/ 5016964 w 5217319"/>
              <a:gd name="connsiteY119" fmla="*/ 143126 h 1046042"/>
              <a:gd name="connsiteX120" fmla="*/ 4938668 w 5217319"/>
              <a:gd name="connsiteY120" fmla="*/ 143126 h 1046042"/>
              <a:gd name="connsiteX121" fmla="*/ 4938668 w 5217319"/>
              <a:gd name="connsiteY121" fmla="*/ 474205 h 1046042"/>
              <a:gd name="connsiteX122" fmla="*/ 5016964 w 5217319"/>
              <a:gd name="connsiteY122" fmla="*/ 474205 h 1046042"/>
              <a:gd name="connsiteX123" fmla="*/ 5016964 w 5217319"/>
              <a:gd name="connsiteY123" fmla="*/ 260229 h 1046042"/>
              <a:gd name="connsiteX124" fmla="*/ 5082608 w 5217319"/>
              <a:gd name="connsiteY124" fmla="*/ 182730 h 1046042"/>
              <a:gd name="connsiteX125" fmla="*/ 5139023 w 5217319"/>
              <a:gd name="connsiteY125" fmla="*/ 247597 h 1046042"/>
              <a:gd name="connsiteX126" fmla="*/ 5139023 w 5217319"/>
              <a:gd name="connsiteY126" fmla="*/ 474015 h 1046042"/>
              <a:gd name="connsiteX127" fmla="*/ 5217319 w 5217319"/>
              <a:gd name="connsiteY127" fmla="*/ 474015 h 1046042"/>
              <a:gd name="connsiteX128" fmla="*/ 5217319 w 5217319"/>
              <a:gd name="connsiteY128" fmla="*/ 247027 h 1046042"/>
              <a:gd name="connsiteX129" fmla="*/ 5112481 w 5217319"/>
              <a:gd name="connsiteY129" fmla="*/ 136478 h 1046042"/>
              <a:gd name="connsiteX130" fmla="*/ 307763 w 5217319"/>
              <a:gd name="connsiteY130" fmla="*/ 10637 h 1046042"/>
              <a:gd name="connsiteX131" fmla="*/ 225471 w 5217319"/>
              <a:gd name="connsiteY131" fmla="*/ 10637 h 1046042"/>
              <a:gd name="connsiteX132" fmla="*/ 225471 w 5217319"/>
              <a:gd name="connsiteY132" fmla="*/ 353018 h 1046042"/>
              <a:gd name="connsiteX133" fmla="*/ 153834 w 5217319"/>
              <a:gd name="connsiteY133" fmla="*/ 441724 h 1046042"/>
              <a:gd name="connsiteX134" fmla="*/ 82197 w 5217319"/>
              <a:gd name="connsiteY134" fmla="*/ 346370 h 1046042"/>
              <a:gd name="connsiteX135" fmla="*/ 82197 w 5217319"/>
              <a:gd name="connsiteY135" fmla="*/ 282832 h 1046042"/>
              <a:gd name="connsiteX136" fmla="*/ 0 w 5217319"/>
              <a:gd name="connsiteY136" fmla="*/ 303347 h 1046042"/>
              <a:gd name="connsiteX137" fmla="*/ 0 w 5217319"/>
              <a:gd name="connsiteY137" fmla="*/ 331839 h 1046042"/>
              <a:gd name="connsiteX138" fmla="*/ 153929 w 5217319"/>
              <a:gd name="connsiteY138" fmla="*/ 484842 h 1046042"/>
              <a:gd name="connsiteX139" fmla="*/ 307763 w 5217319"/>
              <a:gd name="connsiteY139" fmla="*/ 331839 h 1046042"/>
              <a:gd name="connsiteX140" fmla="*/ 307763 w 5217319"/>
              <a:gd name="connsiteY140" fmla="*/ 10637 h 1046042"/>
              <a:gd name="connsiteX141" fmla="*/ 802467 w 5217319"/>
              <a:gd name="connsiteY141" fmla="*/ 10637 h 1046042"/>
              <a:gd name="connsiteX142" fmla="*/ 724171 w 5217319"/>
              <a:gd name="connsiteY142" fmla="*/ 10637 h 1046042"/>
              <a:gd name="connsiteX143" fmla="*/ 724171 w 5217319"/>
              <a:gd name="connsiteY143" fmla="*/ 474110 h 1046042"/>
              <a:gd name="connsiteX144" fmla="*/ 802467 w 5217319"/>
              <a:gd name="connsiteY144" fmla="*/ 474110 h 1046042"/>
              <a:gd name="connsiteX145" fmla="*/ 802467 w 5217319"/>
              <a:gd name="connsiteY145" fmla="*/ 260229 h 1046042"/>
              <a:gd name="connsiteX146" fmla="*/ 868110 w 5217319"/>
              <a:gd name="connsiteY146" fmla="*/ 182730 h 1046042"/>
              <a:gd name="connsiteX147" fmla="*/ 924526 w 5217319"/>
              <a:gd name="connsiteY147" fmla="*/ 247597 h 1046042"/>
              <a:gd name="connsiteX148" fmla="*/ 924526 w 5217319"/>
              <a:gd name="connsiteY148" fmla="*/ 474015 h 1046042"/>
              <a:gd name="connsiteX149" fmla="*/ 1002822 w 5217319"/>
              <a:gd name="connsiteY149" fmla="*/ 474015 h 1046042"/>
              <a:gd name="connsiteX150" fmla="*/ 1002822 w 5217319"/>
              <a:gd name="connsiteY150" fmla="*/ 247027 h 1046042"/>
              <a:gd name="connsiteX151" fmla="*/ 897983 w 5217319"/>
              <a:gd name="connsiteY151" fmla="*/ 136478 h 1046042"/>
              <a:gd name="connsiteX152" fmla="*/ 806463 w 5217319"/>
              <a:gd name="connsiteY152" fmla="*/ 184819 h 1046042"/>
              <a:gd name="connsiteX153" fmla="*/ 802467 w 5217319"/>
              <a:gd name="connsiteY153" fmla="*/ 184819 h 1046042"/>
              <a:gd name="connsiteX154" fmla="*/ 802467 w 5217319"/>
              <a:gd name="connsiteY154" fmla="*/ 10637 h 1046042"/>
              <a:gd name="connsiteX155" fmla="*/ 3187225 w 5217319"/>
              <a:gd name="connsiteY155" fmla="*/ 10637 h 1046042"/>
              <a:gd name="connsiteX156" fmla="*/ 3105029 w 5217319"/>
              <a:gd name="connsiteY156" fmla="*/ 10637 h 1046042"/>
              <a:gd name="connsiteX157" fmla="*/ 3105029 w 5217319"/>
              <a:gd name="connsiteY157" fmla="*/ 353018 h 1046042"/>
              <a:gd name="connsiteX158" fmla="*/ 3033392 w 5217319"/>
              <a:gd name="connsiteY158" fmla="*/ 441724 h 1046042"/>
              <a:gd name="connsiteX159" fmla="*/ 2961755 w 5217319"/>
              <a:gd name="connsiteY159" fmla="*/ 346370 h 1046042"/>
              <a:gd name="connsiteX160" fmla="*/ 2961755 w 5217319"/>
              <a:gd name="connsiteY160" fmla="*/ 282832 h 1046042"/>
              <a:gd name="connsiteX161" fmla="*/ 2879558 w 5217319"/>
              <a:gd name="connsiteY161" fmla="*/ 303347 h 1046042"/>
              <a:gd name="connsiteX162" fmla="*/ 2879558 w 5217319"/>
              <a:gd name="connsiteY162" fmla="*/ 331839 h 1046042"/>
              <a:gd name="connsiteX163" fmla="*/ 3033487 w 5217319"/>
              <a:gd name="connsiteY163" fmla="*/ 484842 h 1046042"/>
              <a:gd name="connsiteX164" fmla="*/ 3187321 w 5217319"/>
              <a:gd name="connsiteY164" fmla="*/ 331839 h 1046042"/>
              <a:gd name="connsiteX165" fmla="*/ 3187321 w 5217319"/>
              <a:gd name="connsiteY165" fmla="*/ 10637 h 1046042"/>
              <a:gd name="connsiteX166" fmla="*/ 3681929 w 5217319"/>
              <a:gd name="connsiteY166" fmla="*/ 10637 h 1046042"/>
              <a:gd name="connsiteX167" fmla="*/ 3603633 w 5217319"/>
              <a:gd name="connsiteY167" fmla="*/ 10637 h 1046042"/>
              <a:gd name="connsiteX168" fmla="*/ 3603633 w 5217319"/>
              <a:gd name="connsiteY168" fmla="*/ 474110 h 1046042"/>
              <a:gd name="connsiteX169" fmla="*/ 3681929 w 5217319"/>
              <a:gd name="connsiteY169" fmla="*/ 474110 h 1046042"/>
              <a:gd name="connsiteX170" fmla="*/ 3681929 w 5217319"/>
              <a:gd name="connsiteY170" fmla="*/ 260229 h 1046042"/>
              <a:gd name="connsiteX171" fmla="*/ 3747573 w 5217319"/>
              <a:gd name="connsiteY171" fmla="*/ 182730 h 1046042"/>
              <a:gd name="connsiteX172" fmla="*/ 3803988 w 5217319"/>
              <a:gd name="connsiteY172" fmla="*/ 247597 h 1046042"/>
              <a:gd name="connsiteX173" fmla="*/ 3803988 w 5217319"/>
              <a:gd name="connsiteY173" fmla="*/ 474015 h 1046042"/>
              <a:gd name="connsiteX174" fmla="*/ 3882285 w 5217319"/>
              <a:gd name="connsiteY174" fmla="*/ 474015 h 1046042"/>
              <a:gd name="connsiteX175" fmla="*/ 3882285 w 5217319"/>
              <a:gd name="connsiteY175" fmla="*/ 247027 h 1046042"/>
              <a:gd name="connsiteX176" fmla="*/ 3777445 w 5217319"/>
              <a:gd name="connsiteY176" fmla="*/ 136478 h 1046042"/>
              <a:gd name="connsiteX177" fmla="*/ 3685925 w 5217319"/>
              <a:gd name="connsiteY177" fmla="*/ 184819 h 1046042"/>
              <a:gd name="connsiteX178" fmla="*/ 3681929 w 5217319"/>
              <a:gd name="connsiteY178" fmla="*/ 184819 h 1046042"/>
              <a:gd name="connsiteX179" fmla="*/ 3681929 w 5217319"/>
              <a:gd name="connsiteY179" fmla="*/ 10637 h 1046042"/>
              <a:gd name="connsiteX180" fmla="*/ 2595674 w 5217319"/>
              <a:gd name="connsiteY180" fmla="*/ 436405 h 1046042"/>
              <a:gd name="connsiteX181" fmla="*/ 2492832 w 5217319"/>
              <a:gd name="connsiteY181" fmla="*/ 329749 h 1046042"/>
              <a:gd name="connsiteX182" fmla="*/ 2533265 w 5217319"/>
              <a:gd name="connsiteY182" fmla="*/ 245698 h 1046042"/>
              <a:gd name="connsiteX183" fmla="*/ 2683198 w 5217319"/>
              <a:gd name="connsiteY183" fmla="*/ 409243 h 1046042"/>
              <a:gd name="connsiteX184" fmla="*/ 2595674 w 5217319"/>
              <a:gd name="connsiteY184" fmla="*/ 436405 h 1046042"/>
              <a:gd name="connsiteX185" fmla="*/ 2741611 w 5217319"/>
              <a:gd name="connsiteY185" fmla="*/ 354918 h 1046042"/>
              <a:gd name="connsiteX186" fmla="*/ 2611656 w 5217319"/>
              <a:gd name="connsiteY186" fmla="*/ 211887 h 1046042"/>
              <a:gd name="connsiteX187" fmla="*/ 2675968 w 5217319"/>
              <a:gd name="connsiteY187" fmla="*/ 199255 h 1046042"/>
              <a:gd name="connsiteX188" fmla="*/ 2762827 w 5217319"/>
              <a:gd name="connsiteY188" fmla="*/ 283972 h 1046042"/>
              <a:gd name="connsiteX189" fmla="*/ 2741611 w 5217319"/>
              <a:gd name="connsiteY189" fmla="*/ 354918 h 1046042"/>
              <a:gd name="connsiteX190" fmla="*/ 2593676 w 5217319"/>
              <a:gd name="connsiteY190" fmla="*/ 192702 h 1046042"/>
              <a:gd name="connsiteX191" fmla="*/ 2565135 w 5217319"/>
              <a:gd name="connsiteY191" fmla="*/ 160886 h 1046042"/>
              <a:gd name="connsiteX192" fmla="*/ 2532599 w 5217319"/>
              <a:gd name="connsiteY192" fmla="*/ 95354 h 1046042"/>
              <a:gd name="connsiteX193" fmla="*/ 2595579 w 5217319"/>
              <a:gd name="connsiteY193" fmla="*/ 35140 h 1046042"/>
              <a:gd name="connsiteX194" fmla="*/ 2657892 w 5217319"/>
              <a:gd name="connsiteY194" fmla="*/ 98678 h 1046042"/>
              <a:gd name="connsiteX195" fmla="*/ 2593676 w 5217319"/>
              <a:gd name="connsiteY195" fmla="*/ 192702 h 1046042"/>
              <a:gd name="connsiteX196" fmla="*/ 2597672 w 5217319"/>
              <a:gd name="connsiteY196" fmla="*/ 0 h 1046042"/>
              <a:gd name="connsiteX197" fmla="*/ 2461057 w 5217319"/>
              <a:gd name="connsiteY197" fmla="*/ 114539 h 1046042"/>
              <a:gd name="connsiteX198" fmla="*/ 2514143 w 5217319"/>
              <a:gd name="connsiteY198" fmla="*/ 225088 h 1046042"/>
              <a:gd name="connsiteX199" fmla="*/ 2514809 w 5217319"/>
              <a:gd name="connsiteY199" fmla="*/ 226418 h 1046042"/>
              <a:gd name="connsiteX200" fmla="*/ 2419959 w 5217319"/>
              <a:gd name="connsiteY200" fmla="*/ 359476 h 1046042"/>
              <a:gd name="connsiteX201" fmla="*/ 2553243 w 5217319"/>
              <a:gd name="connsiteY201" fmla="*/ 484652 h 1046042"/>
              <a:gd name="connsiteX202" fmla="*/ 2703177 w 5217319"/>
              <a:gd name="connsiteY202" fmla="*/ 430992 h 1046042"/>
              <a:gd name="connsiteX203" fmla="*/ 2742943 w 5217319"/>
              <a:gd name="connsiteY203" fmla="*/ 474015 h 1046042"/>
              <a:gd name="connsiteX204" fmla="*/ 2847117 w 5217319"/>
              <a:gd name="connsiteY204" fmla="*/ 474015 h 1046042"/>
              <a:gd name="connsiteX205" fmla="*/ 2847117 w 5217319"/>
              <a:gd name="connsiteY205" fmla="*/ 470691 h 1046042"/>
              <a:gd name="connsiteX206" fmla="*/ 2762256 w 5217319"/>
              <a:gd name="connsiteY206" fmla="*/ 377331 h 1046042"/>
              <a:gd name="connsiteX207" fmla="*/ 2818671 w 5217319"/>
              <a:gd name="connsiteY207" fmla="*/ 248167 h 1046042"/>
              <a:gd name="connsiteX208" fmla="*/ 2731812 w 5217319"/>
              <a:gd name="connsiteY208" fmla="*/ 164115 h 1046042"/>
              <a:gd name="connsiteX209" fmla="*/ 2652184 w 5217319"/>
              <a:gd name="connsiteY209" fmla="*/ 179976 h 1046042"/>
              <a:gd name="connsiteX210" fmla="*/ 2650852 w 5217319"/>
              <a:gd name="connsiteY210" fmla="*/ 177316 h 1046042"/>
              <a:gd name="connsiteX211" fmla="*/ 2722489 w 5217319"/>
              <a:gd name="connsiteY211" fmla="*/ 89940 h 1046042"/>
              <a:gd name="connsiteX212" fmla="*/ 2597672 w 5217319"/>
              <a:gd name="connsiteY212" fmla="*/ 0 h 1046042"/>
              <a:gd name="connsiteX213" fmla="*/ 612767 w 5217319"/>
              <a:gd name="connsiteY213" fmla="*/ 838050 h 1046042"/>
              <a:gd name="connsiteX214" fmla="*/ 702289 w 5217319"/>
              <a:gd name="connsiteY214" fmla="*/ 746685 h 1046042"/>
              <a:gd name="connsiteX215" fmla="*/ 782584 w 5217319"/>
              <a:gd name="connsiteY215" fmla="*/ 838050 h 1046042"/>
              <a:gd name="connsiteX216" fmla="*/ 612767 w 5217319"/>
              <a:gd name="connsiteY216" fmla="*/ 838050 h 1046042"/>
              <a:gd name="connsiteX217" fmla="*/ 702289 w 5217319"/>
              <a:gd name="connsiteY217" fmla="*/ 701667 h 1046042"/>
              <a:gd name="connsiteX218" fmla="*/ 553688 w 5217319"/>
              <a:gd name="connsiteY218" fmla="*/ 876514 h 1046042"/>
              <a:gd name="connsiteX219" fmla="*/ 702289 w 5217319"/>
              <a:gd name="connsiteY219" fmla="*/ 1046043 h 1046042"/>
              <a:gd name="connsiteX220" fmla="*/ 837572 w 5217319"/>
              <a:gd name="connsiteY220" fmla="*/ 938152 h 1046042"/>
              <a:gd name="connsiteX221" fmla="*/ 787150 w 5217319"/>
              <a:gd name="connsiteY221" fmla="*/ 924951 h 1046042"/>
              <a:gd name="connsiteX222" fmla="*/ 707522 w 5217319"/>
              <a:gd name="connsiteY222" fmla="*/ 999790 h 1046042"/>
              <a:gd name="connsiteX223" fmla="*/ 610674 w 5217319"/>
              <a:gd name="connsiteY223" fmla="*/ 877274 h 1046042"/>
              <a:gd name="connsiteX224" fmla="*/ 838143 w 5217319"/>
              <a:gd name="connsiteY224" fmla="*/ 877274 h 1046042"/>
              <a:gd name="connsiteX225" fmla="*/ 838143 w 5217319"/>
              <a:gd name="connsiteY225" fmla="*/ 858754 h 1046042"/>
              <a:gd name="connsiteX226" fmla="*/ 702289 w 5217319"/>
              <a:gd name="connsiteY226" fmla="*/ 701667 h 1046042"/>
              <a:gd name="connsiteX227" fmla="*/ 1610832 w 5217319"/>
              <a:gd name="connsiteY227" fmla="*/ 838050 h 1046042"/>
              <a:gd name="connsiteX228" fmla="*/ 1700355 w 5217319"/>
              <a:gd name="connsiteY228" fmla="*/ 746685 h 1046042"/>
              <a:gd name="connsiteX229" fmla="*/ 1780649 w 5217319"/>
              <a:gd name="connsiteY229" fmla="*/ 838050 h 1046042"/>
              <a:gd name="connsiteX230" fmla="*/ 1610832 w 5217319"/>
              <a:gd name="connsiteY230" fmla="*/ 838050 h 1046042"/>
              <a:gd name="connsiteX231" fmla="*/ 1700355 w 5217319"/>
              <a:gd name="connsiteY231" fmla="*/ 701667 h 1046042"/>
              <a:gd name="connsiteX232" fmla="*/ 1551753 w 5217319"/>
              <a:gd name="connsiteY232" fmla="*/ 876514 h 1046042"/>
              <a:gd name="connsiteX233" fmla="*/ 1700355 w 5217319"/>
              <a:gd name="connsiteY233" fmla="*/ 1046043 h 1046042"/>
              <a:gd name="connsiteX234" fmla="*/ 1835637 w 5217319"/>
              <a:gd name="connsiteY234" fmla="*/ 938152 h 1046042"/>
              <a:gd name="connsiteX235" fmla="*/ 1785215 w 5217319"/>
              <a:gd name="connsiteY235" fmla="*/ 924951 h 1046042"/>
              <a:gd name="connsiteX236" fmla="*/ 1705587 w 5217319"/>
              <a:gd name="connsiteY236" fmla="*/ 999790 h 1046042"/>
              <a:gd name="connsiteX237" fmla="*/ 1608739 w 5217319"/>
              <a:gd name="connsiteY237" fmla="*/ 877274 h 1046042"/>
              <a:gd name="connsiteX238" fmla="*/ 1836208 w 5217319"/>
              <a:gd name="connsiteY238" fmla="*/ 877274 h 1046042"/>
              <a:gd name="connsiteX239" fmla="*/ 1836208 w 5217319"/>
              <a:gd name="connsiteY239" fmla="*/ 858754 h 1046042"/>
              <a:gd name="connsiteX240" fmla="*/ 1700355 w 5217319"/>
              <a:gd name="connsiteY240" fmla="*/ 701667 h 1046042"/>
              <a:gd name="connsiteX241" fmla="*/ 2044555 w 5217319"/>
              <a:gd name="connsiteY241" fmla="*/ 701667 h 1046042"/>
              <a:gd name="connsiteX242" fmla="*/ 1891957 w 5217319"/>
              <a:gd name="connsiteY242" fmla="*/ 877179 h 1046042"/>
              <a:gd name="connsiteX243" fmla="*/ 2041891 w 5217319"/>
              <a:gd name="connsiteY243" fmla="*/ 1046043 h 1046042"/>
              <a:gd name="connsiteX244" fmla="*/ 2177839 w 5217319"/>
              <a:gd name="connsiteY244" fmla="*/ 928180 h 1046042"/>
              <a:gd name="connsiteX245" fmla="*/ 2125420 w 5217319"/>
              <a:gd name="connsiteY245" fmla="*/ 915549 h 1046042"/>
              <a:gd name="connsiteX246" fmla="*/ 2045791 w 5217319"/>
              <a:gd name="connsiteY246" fmla="*/ 998936 h 1046042"/>
              <a:gd name="connsiteX247" fmla="*/ 1949609 w 5217319"/>
              <a:gd name="connsiteY247" fmla="*/ 873095 h 1046042"/>
              <a:gd name="connsiteX248" fmla="*/ 2043127 w 5217319"/>
              <a:gd name="connsiteY248" fmla="*/ 748584 h 1046042"/>
              <a:gd name="connsiteX249" fmla="*/ 2125420 w 5217319"/>
              <a:gd name="connsiteY249" fmla="*/ 828078 h 1046042"/>
              <a:gd name="connsiteX250" fmla="*/ 2177839 w 5217319"/>
              <a:gd name="connsiteY250" fmla="*/ 815446 h 1046042"/>
              <a:gd name="connsiteX251" fmla="*/ 2044555 w 5217319"/>
              <a:gd name="connsiteY251" fmla="*/ 701667 h 1046042"/>
              <a:gd name="connsiteX252" fmla="*/ 477580 w 5217319"/>
              <a:gd name="connsiteY252" fmla="*/ 575827 h 1046042"/>
              <a:gd name="connsiteX253" fmla="*/ 390055 w 5217319"/>
              <a:gd name="connsiteY253" fmla="*/ 575827 h 1046042"/>
              <a:gd name="connsiteX254" fmla="*/ 252775 w 5217319"/>
              <a:gd name="connsiteY254" fmla="*/ 949264 h 1046042"/>
              <a:gd name="connsiteX255" fmla="*/ 114828 w 5217319"/>
              <a:gd name="connsiteY255" fmla="*/ 575827 h 1046042"/>
              <a:gd name="connsiteX256" fmla="*/ 23213 w 5217319"/>
              <a:gd name="connsiteY256" fmla="*/ 575827 h 1046042"/>
              <a:gd name="connsiteX257" fmla="*/ 23213 w 5217319"/>
              <a:gd name="connsiteY257" fmla="*/ 1039300 h 1046042"/>
              <a:gd name="connsiteX258" fmla="*/ 80865 w 5217319"/>
              <a:gd name="connsiteY258" fmla="*/ 1039300 h 1046042"/>
              <a:gd name="connsiteX259" fmla="*/ 80865 w 5217319"/>
              <a:gd name="connsiteY259" fmla="*/ 640124 h 1046042"/>
              <a:gd name="connsiteX260" fmla="*/ 228801 w 5217319"/>
              <a:gd name="connsiteY260" fmla="*/ 1039395 h 1046042"/>
              <a:gd name="connsiteX261" fmla="*/ 273229 w 5217319"/>
              <a:gd name="connsiteY261" fmla="*/ 1039395 h 1046042"/>
              <a:gd name="connsiteX262" fmla="*/ 419832 w 5217319"/>
              <a:gd name="connsiteY262" fmla="*/ 639459 h 1046042"/>
              <a:gd name="connsiteX263" fmla="*/ 419832 w 5217319"/>
              <a:gd name="connsiteY263" fmla="*/ 1039395 h 1046042"/>
              <a:gd name="connsiteX264" fmla="*/ 477580 w 5217319"/>
              <a:gd name="connsiteY264" fmla="*/ 1039395 h 1046042"/>
              <a:gd name="connsiteX265" fmla="*/ 477580 w 5217319"/>
              <a:gd name="connsiteY265" fmla="*/ 575827 h 1046042"/>
              <a:gd name="connsiteX266" fmla="*/ 1042494 w 5217319"/>
              <a:gd name="connsiteY266" fmla="*/ 999031 h 1046042"/>
              <a:gd name="connsiteX267" fmla="*/ 951639 w 5217319"/>
              <a:gd name="connsiteY267" fmla="*/ 873855 h 1046042"/>
              <a:gd name="connsiteX268" fmla="*/ 1042494 w 5217319"/>
              <a:gd name="connsiteY268" fmla="*/ 748679 h 1046042"/>
              <a:gd name="connsiteX269" fmla="*/ 1133348 w 5217319"/>
              <a:gd name="connsiteY269" fmla="*/ 873855 h 1046042"/>
              <a:gd name="connsiteX270" fmla="*/ 1042494 w 5217319"/>
              <a:gd name="connsiteY270" fmla="*/ 999031 h 1046042"/>
              <a:gd name="connsiteX271" fmla="*/ 1187099 w 5217319"/>
              <a:gd name="connsiteY271" fmla="*/ 575827 h 1046042"/>
              <a:gd name="connsiteX272" fmla="*/ 1132111 w 5217319"/>
              <a:gd name="connsiteY272" fmla="*/ 575827 h 1046042"/>
              <a:gd name="connsiteX273" fmla="*/ 1132111 w 5217319"/>
              <a:gd name="connsiteY273" fmla="*/ 771853 h 1046042"/>
              <a:gd name="connsiteX274" fmla="*/ 1033265 w 5217319"/>
              <a:gd name="connsiteY274" fmla="*/ 701667 h 1046042"/>
              <a:gd name="connsiteX275" fmla="*/ 893987 w 5217319"/>
              <a:gd name="connsiteY275" fmla="*/ 875849 h 1046042"/>
              <a:gd name="connsiteX276" fmla="*/ 1028604 w 5217319"/>
              <a:gd name="connsiteY276" fmla="*/ 1046043 h 1046042"/>
              <a:gd name="connsiteX277" fmla="*/ 1132111 w 5217319"/>
              <a:gd name="connsiteY277" fmla="*/ 972533 h 1046042"/>
              <a:gd name="connsiteX278" fmla="*/ 1132111 w 5217319"/>
              <a:gd name="connsiteY278" fmla="*/ 997701 h 1046042"/>
              <a:gd name="connsiteX279" fmla="*/ 1135441 w 5217319"/>
              <a:gd name="connsiteY279" fmla="*/ 1039395 h 1046042"/>
              <a:gd name="connsiteX280" fmla="*/ 1191190 w 5217319"/>
              <a:gd name="connsiteY280" fmla="*/ 1039395 h 1046042"/>
              <a:gd name="connsiteX281" fmla="*/ 1187194 w 5217319"/>
              <a:gd name="connsiteY281" fmla="*/ 970538 h 1046042"/>
              <a:gd name="connsiteX282" fmla="*/ 1187194 w 5217319"/>
              <a:gd name="connsiteY282" fmla="*/ 575827 h 1046042"/>
              <a:gd name="connsiteX283" fmla="*/ 1604934 w 5217319"/>
              <a:gd name="connsiteY283" fmla="*/ 575827 h 1046042"/>
              <a:gd name="connsiteX284" fmla="*/ 1246749 w 5217319"/>
              <a:gd name="connsiteY284" fmla="*/ 575827 h 1046042"/>
              <a:gd name="connsiteX285" fmla="*/ 1246749 w 5217319"/>
              <a:gd name="connsiteY285" fmla="*/ 624169 h 1046042"/>
              <a:gd name="connsiteX286" fmla="*/ 1397349 w 5217319"/>
              <a:gd name="connsiteY286" fmla="*/ 624169 h 1046042"/>
              <a:gd name="connsiteX287" fmla="*/ 1397349 w 5217319"/>
              <a:gd name="connsiteY287" fmla="*/ 1039395 h 1046042"/>
              <a:gd name="connsiteX288" fmla="*/ 1455096 w 5217319"/>
              <a:gd name="connsiteY288" fmla="*/ 1039395 h 1046042"/>
              <a:gd name="connsiteX289" fmla="*/ 1455096 w 5217319"/>
              <a:gd name="connsiteY289" fmla="*/ 624169 h 1046042"/>
              <a:gd name="connsiteX290" fmla="*/ 1605029 w 5217319"/>
              <a:gd name="connsiteY290" fmla="*/ 624169 h 1046042"/>
              <a:gd name="connsiteX291" fmla="*/ 1605029 w 5217319"/>
              <a:gd name="connsiteY291" fmla="*/ 575827 h 1046042"/>
              <a:gd name="connsiteX292" fmla="*/ 2295902 w 5217319"/>
              <a:gd name="connsiteY292" fmla="*/ 575827 h 1046042"/>
              <a:gd name="connsiteX293" fmla="*/ 2240819 w 5217319"/>
              <a:gd name="connsiteY293" fmla="*/ 575827 h 1046042"/>
              <a:gd name="connsiteX294" fmla="*/ 2240819 w 5217319"/>
              <a:gd name="connsiteY294" fmla="*/ 1039300 h 1046042"/>
              <a:gd name="connsiteX295" fmla="*/ 2295902 w 5217319"/>
              <a:gd name="connsiteY295" fmla="*/ 1039300 h 1046042"/>
              <a:gd name="connsiteX296" fmla="*/ 2295902 w 5217319"/>
              <a:gd name="connsiteY296" fmla="*/ 821524 h 1046042"/>
              <a:gd name="connsiteX297" fmla="*/ 2368205 w 5217319"/>
              <a:gd name="connsiteY297" fmla="*/ 744026 h 1046042"/>
              <a:gd name="connsiteX298" fmla="*/ 2439842 w 5217319"/>
              <a:gd name="connsiteY298" fmla="*/ 821524 h 1046042"/>
              <a:gd name="connsiteX299" fmla="*/ 2439842 w 5217319"/>
              <a:gd name="connsiteY299" fmla="*/ 1039395 h 1046042"/>
              <a:gd name="connsiteX300" fmla="*/ 2494925 w 5217319"/>
              <a:gd name="connsiteY300" fmla="*/ 1039395 h 1046042"/>
              <a:gd name="connsiteX301" fmla="*/ 2494925 w 5217319"/>
              <a:gd name="connsiteY301" fmla="*/ 810317 h 1046042"/>
              <a:gd name="connsiteX302" fmla="*/ 2388088 w 5217319"/>
              <a:gd name="connsiteY302" fmla="*/ 701762 h 1046042"/>
              <a:gd name="connsiteX303" fmla="*/ 2295902 w 5217319"/>
              <a:gd name="connsiteY303" fmla="*/ 759411 h 1046042"/>
              <a:gd name="connsiteX304" fmla="*/ 2295902 w 5217319"/>
              <a:gd name="connsiteY304" fmla="*/ 575827 h 1046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</a:cxnLst>
            <a:rect l="l" t="t" r="r" b="b"/>
            <a:pathLst>
              <a:path w="5217319" h="1046042">
                <a:moveTo>
                  <a:pt x="515919" y="444383"/>
                </a:moveTo>
                <a:cubicBezTo>
                  <a:pt x="464831" y="444383"/>
                  <a:pt x="436291" y="396041"/>
                  <a:pt x="436291" y="308665"/>
                </a:cubicBezTo>
                <a:cubicBezTo>
                  <a:pt x="436291" y="219960"/>
                  <a:pt x="464831" y="172948"/>
                  <a:pt x="515919" y="172948"/>
                </a:cubicBezTo>
                <a:cubicBezTo>
                  <a:pt x="567007" y="172948"/>
                  <a:pt x="595547" y="220624"/>
                  <a:pt x="595547" y="308665"/>
                </a:cubicBezTo>
                <a:cubicBezTo>
                  <a:pt x="595547" y="397371"/>
                  <a:pt x="567007" y="444383"/>
                  <a:pt x="515919" y="444383"/>
                </a:cubicBezTo>
                <a:moveTo>
                  <a:pt x="515919" y="136478"/>
                </a:moveTo>
                <a:cubicBezTo>
                  <a:pt x="411746" y="136478"/>
                  <a:pt x="354094" y="213976"/>
                  <a:pt x="354094" y="308665"/>
                </a:cubicBezTo>
                <a:cubicBezTo>
                  <a:pt x="354094" y="403354"/>
                  <a:pt x="411841" y="480853"/>
                  <a:pt x="515919" y="480853"/>
                </a:cubicBezTo>
                <a:cubicBezTo>
                  <a:pt x="620092" y="480853"/>
                  <a:pt x="677744" y="403354"/>
                  <a:pt x="677744" y="308665"/>
                </a:cubicBezTo>
                <a:cubicBezTo>
                  <a:pt x="677840" y="213881"/>
                  <a:pt x="620092" y="136478"/>
                  <a:pt x="515919" y="136478"/>
                </a:cubicBezTo>
                <a:moveTo>
                  <a:pt x="1239519" y="136478"/>
                </a:moveTo>
                <a:cubicBezTo>
                  <a:pt x="1190429" y="136478"/>
                  <a:pt x="1163220" y="157657"/>
                  <a:pt x="1147999" y="184819"/>
                </a:cubicBezTo>
                <a:lnTo>
                  <a:pt x="1144003" y="184819"/>
                </a:lnTo>
                <a:lnTo>
                  <a:pt x="1144003" y="143126"/>
                </a:lnTo>
                <a:lnTo>
                  <a:pt x="1065707" y="143126"/>
                </a:lnTo>
                <a:lnTo>
                  <a:pt x="1065707" y="474205"/>
                </a:lnTo>
                <a:lnTo>
                  <a:pt x="1144003" y="474205"/>
                </a:lnTo>
                <a:lnTo>
                  <a:pt x="1144003" y="260229"/>
                </a:lnTo>
                <a:cubicBezTo>
                  <a:pt x="1144003" y="211222"/>
                  <a:pt x="1169214" y="182730"/>
                  <a:pt x="1209646" y="182730"/>
                </a:cubicBezTo>
                <a:cubicBezTo>
                  <a:pt x="1248747" y="182730"/>
                  <a:pt x="1266062" y="208563"/>
                  <a:pt x="1266062" y="247597"/>
                </a:cubicBezTo>
                <a:lnTo>
                  <a:pt x="1266062" y="474015"/>
                </a:lnTo>
                <a:lnTo>
                  <a:pt x="1344358" y="474015"/>
                </a:lnTo>
                <a:lnTo>
                  <a:pt x="1344358" y="247027"/>
                </a:lnTo>
                <a:cubicBezTo>
                  <a:pt x="1344263" y="178836"/>
                  <a:pt x="1308492" y="136478"/>
                  <a:pt x="1239519" y="136478"/>
                </a:cubicBezTo>
                <a:moveTo>
                  <a:pt x="1521976" y="136478"/>
                </a:moveTo>
                <a:cubicBezTo>
                  <a:pt x="1449673" y="136478"/>
                  <a:pt x="1395256" y="166964"/>
                  <a:pt x="1395256" y="231831"/>
                </a:cubicBezTo>
                <a:cubicBezTo>
                  <a:pt x="1395256" y="286821"/>
                  <a:pt x="1433024" y="316548"/>
                  <a:pt x="1475550" y="327185"/>
                </a:cubicBezTo>
                <a:lnTo>
                  <a:pt x="1541859" y="343711"/>
                </a:lnTo>
                <a:cubicBezTo>
                  <a:pt x="1576964" y="352353"/>
                  <a:pt x="1592947" y="364890"/>
                  <a:pt x="1592947" y="392717"/>
                </a:cubicBezTo>
                <a:cubicBezTo>
                  <a:pt x="1592947" y="426528"/>
                  <a:pt x="1569068" y="445713"/>
                  <a:pt x="1527303" y="445713"/>
                </a:cubicBezTo>
                <a:cubicBezTo>
                  <a:pt x="1482209" y="445713"/>
                  <a:pt x="1458996" y="423869"/>
                  <a:pt x="1451671" y="368879"/>
                </a:cubicBezTo>
                <a:lnTo>
                  <a:pt x="1381366" y="388728"/>
                </a:lnTo>
                <a:cubicBezTo>
                  <a:pt x="1385361" y="445713"/>
                  <a:pt x="1438447" y="480758"/>
                  <a:pt x="1518646" y="480758"/>
                </a:cubicBezTo>
                <a:cubicBezTo>
                  <a:pt x="1608168" y="480758"/>
                  <a:pt x="1656592" y="439064"/>
                  <a:pt x="1656592" y="372868"/>
                </a:cubicBezTo>
                <a:cubicBezTo>
                  <a:pt x="1656592" y="310660"/>
                  <a:pt x="1613496" y="284827"/>
                  <a:pt x="1568402" y="273525"/>
                </a:cubicBezTo>
                <a:lnTo>
                  <a:pt x="1504756" y="257664"/>
                </a:lnTo>
                <a:cubicBezTo>
                  <a:pt x="1472886" y="249686"/>
                  <a:pt x="1458996" y="235155"/>
                  <a:pt x="1458996" y="213976"/>
                </a:cubicBezTo>
                <a:cubicBezTo>
                  <a:pt x="1458996" y="187479"/>
                  <a:pt x="1481543" y="171618"/>
                  <a:pt x="1515411" y="171618"/>
                </a:cubicBezTo>
                <a:cubicBezTo>
                  <a:pt x="1555178" y="171618"/>
                  <a:pt x="1579723" y="193462"/>
                  <a:pt x="1583053" y="235155"/>
                </a:cubicBezTo>
                <a:lnTo>
                  <a:pt x="1649362" y="215306"/>
                </a:lnTo>
                <a:cubicBezTo>
                  <a:pt x="1641371" y="168864"/>
                  <a:pt x="1595611" y="136478"/>
                  <a:pt x="1521976" y="136478"/>
                </a:cubicBezTo>
                <a:moveTo>
                  <a:pt x="1850954" y="444383"/>
                </a:moveTo>
                <a:cubicBezTo>
                  <a:pt x="1799866" y="444383"/>
                  <a:pt x="1771326" y="396041"/>
                  <a:pt x="1771326" y="308665"/>
                </a:cubicBezTo>
                <a:cubicBezTo>
                  <a:pt x="1771326" y="219960"/>
                  <a:pt x="1799866" y="172948"/>
                  <a:pt x="1850954" y="172948"/>
                </a:cubicBezTo>
                <a:cubicBezTo>
                  <a:pt x="1902042" y="172948"/>
                  <a:pt x="1930582" y="220624"/>
                  <a:pt x="1930582" y="308665"/>
                </a:cubicBezTo>
                <a:cubicBezTo>
                  <a:pt x="1930487" y="397371"/>
                  <a:pt x="1902042" y="444383"/>
                  <a:pt x="1850954" y="444383"/>
                </a:cubicBezTo>
                <a:moveTo>
                  <a:pt x="1850954" y="136478"/>
                </a:moveTo>
                <a:cubicBezTo>
                  <a:pt x="1746781" y="136478"/>
                  <a:pt x="1689129" y="213976"/>
                  <a:pt x="1689129" y="308665"/>
                </a:cubicBezTo>
                <a:cubicBezTo>
                  <a:pt x="1689129" y="403354"/>
                  <a:pt x="1746876" y="480853"/>
                  <a:pt x="1850954" y="480853"/>
                </a:cubicBezTo>
                <a:cubicBezTo>
                  <a:pt x="1955127" y="480853"/>
                  <a:pt x="2012779" y="403354"/>
                  <a:pt x="2012779" y="308665"/>
                </a:cubicBezTo>
                <a:cubicBezTo>
                  <a:pt x="2012779" y="213881"/>
                  <a:pt x="1955032" y="136478"/>
                  <a:pt x="1850954" y="136478"/>
                </a:cubicBezTo>
                <a:moveTo>
                  <a:pt x="2232923" y="136478"/>
                </a:moveTo>
                <a:cubicBezTo>
                  <a:pt x="2183833" y="136478"/>
                  <a:pt x="2156624" y="157657"/>
                  <a:pt x="2141402" y="184819"/>
                </a:cubicBezTo>
                <a:lnTo>
                  <a:pt x="2137407" y="184819"/>
                </a:lnTo>
                <a:lnTo>
                  <a:pt x="2137407" y="143126"/>
                </a:lnTo>
                <a:lnTo>
                  <a:pt x="2059110" y="143126"/>
                </a:lnTo>
                <a:lnTo>
                  <a:pt x="2059110" y="474205"/>
                </a:lnTo>
                <a:lnTo>
                  <a:pt x="2137407" y="474205"/>
                </a:lnTo>
                <a:lnTo>
                  <a:pt x="2137407" y="260229"/>
                </a:lnTo>
                <a:cubicBezTo>
                  <a:pt x="2137407" y="211222"/>
                  <a:pt x="2162618" y="182730"/>
                  <a:pt x="2203050" y="182730"/>
                </a:cubicBezTo>
                <a:cubicBezTo>
                  <a:pt x="2242151" y="182730"/>
                  <a:pt x="2259465" y="208563"/>
                  <a:pt x="2259465" y="247597"/>
                </a:cubicBezTo>
                <a:lnTo>
                  <a:pt x="2259465" y="474015"/>
                </a:lnTo>
                <a:lnTo>
                  <a:pt x="2337762" y="474015"/>
                </a:lnTo>
                <a:lnTo>
                  <a:pt x="2337762" y="247027"/>
                </a:lnTo>
                <a:cubicBezTo>
                  <a:pt x="2337762" y="178836"/>
                  <a:pt x="2301896" y="136478"/>
                  <a:pt x="2232923" y="136478"/>
                </a:cubicBezTo>
                <a:moveTo>
                  <a:pt x="3395477" y="444383"/>
                </a:moveTo>
                <a:cubicBezTo>
                  <a:pt x="3344389" y="444383"/>
                  <a:pt x="3315849" y="396041"/>
                  <a:pt x="3315849" y="308665"/>
                </a:cubicBezTo>
                <a:cubicBezTo>
                  <a:pt x="3315849" y="219960"/>
                  <a:pt x="3344389" y="172948"/>
                  <a:pt x="3395477" y="172948"/>
                </a:cubicBezTo>
                <a:cubicBezTo>
                  <a:pt x="3446565" y="172948"/>
                  <a:pt x="3475105" y="220624"/>
                  <a:pt x="3475105" y="308665"/>
                </a:cubicBezTo>
                <a:cubicBezTo>
                  <a:pt x="3475105" y="397371"/>
                  <a:pt x="3446565" y="444383"/>
                  <a:pt x="3395477" y="444383"/>
                </a:cubicBezTo>
                <a:moveTo>
                  <a:pt x="3395477" y="136478"/>
                </a:moveTo>
                <a:cubicBezTo>
                  <a:pt x="3291304" y="136478"/>
                  <a:pt x="3233652" y="213976"/>
                  <a:pt x="3233652" y="308665"/>
                </a:cubicBezTo>
                <a:cubicBezTo>
                  <a:pt x="3233652" y="403354"/>
                  <a:pt x="3291399" y="480853"/>
                  <a:pt x="3395477" y="480853"/>
                </a:cubicBezTo>
                <a:cubicBezTo>
                  <a:pt x="3499650" y="480853"/>
                  <a:pt x="3557302" y="403354"/>
                  <a:pt x="3557302" y="308665"/>
                </a:cubicBezTo>
                <a:cubicBezTo>
                  <a:pt x="3557302" y="213881"/>
                  <a:pt x="3499650" y="136478"/>
                  <a:pt x="3395477" y="136478"/>
                </a:cubicBezTo>
                <a:moveTo>
                  <a:pt x="4118981" y="136478"/>
                </a:moveTo>
                <a:cubicBezTo>
                  <a:pt x="4069892" y="136478"/>
                  <a:pt x="4042683" y="157657"/>
                  <a:pt x="4027461" y="184819"/>
                </a:cubicBezTo>
                <a:lnTo>
                  <a:pt x="4023466" y="184819"/>
                </a:lnTo>
                <a:lnTo>
                  <a:pt x="4023466" y="143126"/>
                </a:lnTo>
                <a:lnTo>
                  <a:pt x="3945169" y="143126"/>
                </a:lnTo>
                <a:lnTo>
                  <a:pt x="3945169" y="474205"/>
                </a:lnTo>
                <a:lnTo>
                  <a:pt x="4023466" y="474205"/>
                </a:lnTo>
                <a:lnTo>
                  <a:pt x="4023466" y="260229"/>
                </a:lnTo>
                <a:cubicBezTo>
                  <a:pt x="4023466" y="211222"/>
                  <a:pt x="4048677" y="182730"/>
                  <a:pt x="4089109" y="182730"/>
                </a:cubicBezTo>
                <a:cubicBezTo>
                  <a:pt x="4128210" y="182730"/>
                  <a:pt x="4145524" y="208563"/>
                  <a:pt x="4145524" y="247597"/>
                </a:cubicBezTo>
                <a:lnTo>
                  <a:pt x="4145524" y="474015"/>
                </a:lnTo>
                <a:lnTo>
                  <a:pt x="4223821" y="474015"/>
                </a:lnTo>
                <a:lnTo>
                  <a:pt x="4223821" y="247027"/>
                </a:lnTo>
                <a:cubicBezTo>
                  <a:pt x="4223821" y="178836"/>
                  <a:pt x="4187955" y="136478"/>
                  <a:pt x="4118981" y="136478"/>
                </a:cubicBezTo>
                <a:moveTo>
                  <a:pt x="4401534" y="136478"/>
                </a:moveTo>
                <a:cubicBezTo>
                  <a:pt x="4329231" y="136478"/>
                  <a:pt x="4274813" y="166964"/>
                  <a:pt x="4274813" y="231831"/>
                </a:cubicBezTo>
                <a:cubicBezTo>
                  <a:pt x="4274813" y="286821"/>
                  <a:pt x="4312582" y="316548"/>
                  <a:pt x="4355108" y="327185"/>
                </a:cubicBezTo>
                <a:lnTo>
                  <a:pt x="4421417" y="343711"/>
                </a:lnTo>
                <a:cubicBezTo>
                  <a:pt x="4456522" y="352353"/>
                  <a:pt x="4472505" y="364890"/>
                  <a:pt x="4472505" y="392717"/>
                </a:cubicBezTo>
                <a:cubicBezTo>
                  <a:pt x="4472505" y="426528"/>
                  <a:pt x="4448626" y="445713"/>
                  <a:pt x="4406861" y="445713"/>
                </a:cubicBezTo>
                <a:cubicBezTo>
                  <a:pt x="4361767" y="445713"/>
                  <a:pt x="4338554" y="423869"/>
                  <a:pt x="4331229" y="368879"/>
                </a:cubicBezTo>
                <a:lnTo>
                  <a:pt x="4260924" y="388728"/>
                </a:lnTo>
                <a:cubicBezTo>
                  <a:pt x="4264919" y="445713"/>
                  <a:pt x="4318005" y="480758"/>
                  <a:pt x="4398204" y="480758"/>
                </a:cubicBezTo>
                <a:cubicBezTo>
                  <a:pt x="4487726" y="480758"/>
                  <a:pt x="4536150" y="439064"/>
                  <a:pt x="4536150" y="372868"/>
                </a:cubicBezTo>
                <a:cubicBezTo>
                  <a:pt x="4536150" y="310660"/>
                  <a:pt x="4493054" y="284827"/>
                  <a:pt x="4447960" y="273525"/>
                </a:cubicBezTo>
                <a:lnTo>
                  <a:pt x="4384314" y="257664"/>
                </a:lnTo>
                <a:cubicBezTo>
                  <a:pt x="4352444" y="249686"/>
                  <a:pt x="4338554" y="235155"/>
                  <a:pt x="4338554" y="213976"/>
                </a:cubicBezTo>
                <a:cubicBezTo>
                  <a:pt x="4338554" y="187479"/>
                  <a:pt x="4361101" y="171618"/>
                  <a:pt x="4394969" y="171618"/>
                </a:cubicBezTo>
                <a:cubicBezTo>
                  <a:pt x="4434736" y="171618"/>
                  <a:pt x="4459281" y="193462"/>
                  <a:pt x="4462610" y="235155"/>
                </a:cubicBezTo>
                <a:lnTo>
                  <a:pt x="4528920" y="215306"/>
                </a:lnTo>
                <a:cubicBezTo>
                  <a:pt x="4520929" y="168864"/>
                  <a:pt x="4475168" y="136478"/>
                  <a:pt x="4401534" y="136478"/>
                </a:cubicBezTo>
                <a:moveTo>
                  <a:pt x="4730417" y="444383"/>
                </a:moveTo>
                <a:cubicBezTo>
                  <a:pt x="4679329" y="444383"/>
                  <a:pt x="4650788" y="396041"/>
                  <a:pt x="4650788" y="308665"/>
                </a:cubicBezTo>
                <a:cubicBezTo>
                  <a:pt x="4650788" y="219960"/>
                  <a:pt x="4679329" y="172948"/>
                  <a:pt x="4730417" y="172948"/>
                </a:cubicBezTo>
                <a:cubicBezTo>
                  <a:pt x="4781504" y="172948"/>
                  <a:pt x="4810045" y="220624"/>
                  <a:pt x="4810045" y="308665"/>
                </a:cubicBezTo>
                <a:cubicBezTo>
                  <a:pt x="4810045" y="397371"/>
                  <a:pt x="4781504" y="444383"/>
                  <a:pt x="4730417" y="444383"/>
                </a:cubicBezTo>
                <a:moveTo>
                  <a:pt x="4730417" y="136478"/>
                </a:moveTo>
                <a:cubicBezTo>
                  <a:pt x="4626243" y="136478"/>
                  <a:pt x="4568591" y="213976"/>
                  <a:pt x="4568591" y="308665"/>
                </a:cubicBezTo>
                <a:cubicBezTo>
                  <a:pt x="4568591" y="403354"/>
                  <a:pt x="4626243" y="480853"/>
                  <a:pt x="4730417" y="480853"/>
                </a:cubicBezTo>
                <a:cubicBezTo>
                  <a:pt x="4834590" y="480853"/>
                  <a:pt x="4892242" y="403354"/>
                  <a:pt x="4892242" y="308665"/>
                </a:cubicBezTo>
                <a:cubicBezTo>
                  <a:pt x="4892242" y="213881"/>
                  <a:pt x="4834590" y="136478"/>
                  <a:pt x="4730417" y="136478"/>
                </a:cubicBezTo>
                <a:moveTo>
                  <a:pt x="5112481" y="136478"/>
                </a:moveTo>
                <a:cubicBezTo>
                  <a:pt x="5063390" y="136478"/>
                  <a:pt x="5036182" y="157657"/>
                  <a:pt x="5020960" y="184819"/>
                </a:cubicBezTo>
                <a:lnTo>
                  <a:pt x="5016964" y="184819"/>
                </a:lnTo>
                <a:lnTo>
                  <a:pt x="5016964" y="143126"/>
                </a:lnTo>
                <a:lnTo>
                  <a:pt x="4938668" y="143126"/>
                </a:lnTo>
                <a:lnTo>
                  <a:pt x="4938668" y="474205"/>
                </a:lnTo>
                <a:lnTo>
                  <a:pt x="5016964" y="474205"/>
                </a:lnTo>
                <a:lnTo>
                  <a:pt x="5016964" y="260229"/>
                </a:lnTo>
                <a:cubicBezTo>
                  <a:pt x="5016964" y="211222"/>
                  <a:pt x="5042175" y="182730"/>
                  <a:pt x="5082608" y="182730"/>
                </a:cubicBezTo>
                <a:cubicBezTo>
                  <a:pt x="5121708" y="182730"/>
                  <a:pt x="5139023" y="208563"/>
                  <a:pt x="5139023" y="247597"/>
                </a:cubicBezTo>
                <a:lnTo>
                  <a:pt x="5139023" y="474015"/>
                </a:lnTo>
                <a:lnTo>
                  <a:pt x="5217319" y="474015"/>
                </a:lnTo>
                <a:lnTo>
                  <a:pt x="5217319" y="247027"/>
                </a:lnTo>
                <a:cubicBezTo>
                  <a:pt x="5217225" y="178836"/>
                  <a:pt x="5181454" y="136478"/>
                  <a:pt x="5112481" y="136478"/>
                </a:cubicBezTo>
                <a:moveTo>
                  <a:pt x="307763" y="10637"/>
                </a:moveTo>
                <a:lnTo>
                  <a:pt x="225471" y="10637"/>
                </a:lnTo>
                <a:lnTo>
                  <a:pt x="225471" y="353018"/>
                </a:lnTo>
                <a:cubicBezTo>
                  <a:pt x="225471" y="408673"/>
                  <a:pt x="204256" y="441724"/>
                  <a:pt x="153834" y="441724"/>
                </a:cubicBezTo>
                <a:cubicBezTo>
                  <a:pt x="104078" y="441724"/>
                  <a:pt x="82197" y="406678"/>
                  <a:pt x="82197" y="346370"/>
                </a:cubicBezTo>
                <a:lnTo>
                  <a:pt x="82197" y="282832"/>
                </a:lnTo>
                <a:lnTo>
                  <a:pt x="0" y="303347"/>
                </a:lnTo>
                <a:lnTo>
                  <a:pt x="0" y="331839"/>
                </a:lnTo>
                <a:cubicBezTo>
                  <a:pt x="0" y="418550"/>
                  <a:pt x="43096" y="484842"/>
                  <a:pt x="153929" y="484842"/>
                </a:cubicBezTo>
                <a:cubicBezTo>
                  <a:pt x="264667" y="484842"/>
                  <a:pt x="307763" y="418645"/>
                  <a:pt x="307763" y="331839"/>
                </a:cubicBezTo>
                <a:lnTo>
                  <a:pt x="307763" y="10637"/>
                </a:lnTo>
                <a:moveTo>
                  <a:pt x="802467" y="10637"/>
                </a:moveTo>
                <a:lnTo>
                  <a:pt x="724171" y="10637"/>
                </a:lnTo>
                <a:lnTo>
                  <a:pt x="724171" y="474110"/>
                </a:lnTo>
                <a:lnTo>
                  <a:pt x="802467" y="474110"/>
                </a:lnTo>
                <a:lnTo>
                  <a:pt x="802467" y="260229"/>
                </a:lnTo>
                <a:cubicBezTo>
                  <a:pt x="802467" y="211222"/>
                  <a:pt x="827678" y="182730"/>
                  <a:pt x="868110" y="182730"/>
                </a:cubicBezTo>
                <a:cubicBezTo>
                  <a:pt x="907211" y="182730"/>
                  <a:pt x="924526" y="208563"/>
                  <a:pt x="924526" y="247597"/>
                </a:cubicBezTo>
                <a:lnTo>
                  <a:pt x="924526" y="474015"/>
                </a:lnTo>
                <a:lnTo>
                  <a:pt x="1002822" y="474015"/>
                </a:lnTo>
                <a:lnTo>
                  <a:pt x="1002822" y="247027"/>
                </a:lnTo>
                <a:cubicBezTo>
                  <a:pt x="1002822" y="178836"/>
                  <a:pt x="966956" y="136478"/>
                  <a:pt x="897983" y="136478"/>
                </a:cubicBezTo>
                <a:cubicBezTo>
                  <a:pt x="848893" y="136478"/>
                  <a:pt x="821684" y="157657"/>
                  <a:pt x="806463" y="184819"/>
                </a:cubicBezTo>
                <a:lnTo>
                  <a:pt x="802467" y="184819"/>
                </a:lnTo>
                <a:lnTo>
                  <a:pt x="802467" y="10637"/>
                </a:lnTo>
                <a:moveTo>
                  <a:pt x="3187225" y="10637"/>
                </a:moveTo>
                <a:lnTo>
                  <a:pt x="3105029" y="10637"/>
                </a:lnTo>
                <a:lnTo>
                  <a:pt x="3105029" y="353018"/>
                </a:lnTo>
                <a:cubicBezTo>
                  <a:pt x="3105029" y="408673"/>
                  <a:pt x="3083813" y="441724"/>
                  <a:pt x="3033392" y="441724"/>
                </a:cubicBezTo>
                <a:cubicBezTo>
                  <a:pt x="2983636" y="441724"/>
                  <a:pt x="2961755" y="406678"/>
                  <a:pt x="2961755" y="346370"/>
                </a:cubicBezTo>
                <a:lnTo>
                  <a:pt x="2961755" y="282832"/>
                </a:lnTo>
                <a:lnTo>
                  <a:pt x="2879558" y="303347"/>
                </a:lnTo>
                <a:lnTo>
                  <a:pt x="2879558" y="331839"/>
                </a:lnTo>
                <a:cubicBezTo>
                  <a:pt x="2879558" y="418550"/>
                  <a:pt x="2922654" y="484842"/>
                  <a:pt x="3033487" y="484842"/>
                </a:cubicBezTo>
                <a:cubicBezTo>
                  <a:pt x="3144320" y="484842"/>
                  <a:pt x="3187321" y="418645"/>
                  <a:pt x="3187321" y="331839"/>
                </a:cubicBezTo>
                <a:lnTo>
                  <a:pt x="3187321" y="10637"/>
                </a:lnTo>
                <a:moveTo>
                  <a:pt x="3681929" y="10637"/>
                </a:moveTo>
                <a:lnTo>
                  <a:pt x="3603633" y="10637"/>
                </a:lnTo>
                <a:lnTo>
                  <a:pt x="3603633" y="474110"/>
                </a:lnTo>
                <a:lnTo>
                  <a:pt x="3681929" y="474110"/>
                </a:lnTo>
                <a:lnTo>
                  <a:pt x="3681929" y="260229"/>
                </a:lnTo>
                <a:cubicBezTo>
                  <a:pt x="3681929" y="211222"/>
                  <a:pt x="3707141" y="182730"/>
                  <a:pt x="3747573" y="182730"/>
                </a:cubicBezTo>
                <a:cubicBezTo>
                  <a:pt x="3786674" y="182730"/>
                  <a:pt x="3803988" y="208563"/>
                  <a:pt x="3803988" y="247597"/>
                </a:cubicBezTo>
                <a:lnTo>
                  <a:pt x="3803988" y="474015"/>
                </a:lnTo>
                <a:lnTo>
                  <a:pt x="3882285" y="474015"/>
                </a:lnTo>
                <a:lnTo>
                  <a:pt x="3882285" y="247027"/>
                </a:lnTo>
                <a:cubicBezTo>
                  <a:pt x="3882285" y="178836"/>
                  <a:pt x="3846514" y="136478"/>
                  <a:pt x="3777445" y="136478"/>
                </a:cubicBezTo>
                <a:cubicBezTo>
                  <a:pt x="3728356" y="136478"/>
                  <a:pt x="3701147" y="157657"/>
                  <a:pt x="3685925" y="184819"/>
                </a:cubicBezTo>
                <a:lnTo>
                  <a:pt x="3681929" y="184819"/>
                </a:lnTo>
                <a:lnTo>
                  <a:pt x="3681929" y="10637"/>
                </a:lnTo>
                <a:moveTo>
                  <a:pt x="2595674" y="436405"/>
                </a:moveTo>
                <a:cubicBezTo>
                  <a:pt x="2532028" y="436405"/>
                  <a:pt x="2492832" y="384739"/>
                  <a:pt x="2492832" y="329749"/>
                </a:cubicBezTo>
                <a:cubicBezTo>
                  <a:pt x="2492832" y="295274"/>
                  <a:pt x="2508054" y="263553"/>
                  <a:pt x="2533265" y="245698"/>
                </a:cubicBezTo>
                <a:lnTo>
                  <a:pt x="2683198" y="409243"/>
                </a:lnTo>
                <a:cubicBezTo>
                  <a:pt x="2655419" y="425768"/>
                  <a:pt x="2624214" y="436405"/>
                  <a:pt x="2595674" y="436405"/>
                </a:cubicBezTo>
                <a:moveTo>
                  <a:pt x="2741611" y="354918"/>
                </a:moveTo>
                <a:lnTo>
                  <a:pt x="2611656" y="211887"/>
                </a:lnTo>
                <a:cubicBezTo>
                  <a:pt x="2634870" y="202579"/>
                  <a:pt x="2657417" y="199255"/>
                  <a:pt x="2675968" y="199255"/>
                </a:cubicBezTo>
                <a:cubicBezTo>
                  <a:pt x="2729719" y="199255"/>
                  <a:pt x="2762827" y="230407"/>
                  <a:pt x="2762827" y="283972"/>
                </a:cubicBezTo>
                <a:cubicBezTo>
                  <a:pt x="2762827" y="307905"/>
                  <a:pt x="2756167" y="332409"/>
                  <a:pt x="2741611" y="354918"/>
                </a:cubicBezTo>
                <a:moveTo>
                  <a:pt x="2593676" y="192702"/>
                </a:moveTo>
                <a:lnTo>
                  <a:pt x="2565135" y="160886"/>
                </a:lnTo>
                <a:cubicBezTo>
                  <a:pt x="2539925" y="133058"/>
                  <a:pt x="2532599" y="115868"/>
                  <a:pt x="2532599" y="95354"/>
                </a:cubicBezTo>
                <a:cubicBezTo>
                  <a:pt x="2532599" y="56984"/>
                  <a:pt x="2557144" y="35140"/>
                  <a:pt x="2595579" y="35140"/>
                </a:cubicBezTo>
                <a:cubicBezTo>
                  <a:pt x="2634679" y="35140"/>
                  <a:pt x="2657892" y="57649"/>
                  <a:pt x="2657892" y="98678"/>
                </a:cubicBezTo>
                <a:cubicBezTo>
                  <a:pt x="2657988" y="136478"/>
                  <a:pt x="2639436" y="172188"/>
                  <a:pt x="2593676" y="192702"/>
                </a:cubicBezTo>
                <a:moveTo>
                  <a:pt x="2597672" y="0"/>
                </a:moveTo>
                <a:cubicBezTo>
                  <a:pt x="2506151" y="0"/>
                  <a:pt x="2461057" y="51001"/>
                  <a:pt x="2461057" y="114539"/>
                </a:cubicBezTo>
                <a:cubicBezTo>
                  <a:pt x="2461057" y="148919"/>
                  <a:pt x="2475613" y="183395"/>
                  <a:pt x="2514143" y="225088"/>
                </a:cubicBezTo>
                <a:lnTo>
                  <a:pt x="2514809" y="226418"/>
                </a:lnTo>
                <a:cubicBezTo>
                  <a:pt x="2449831" y="257569"/>
                  <a:pt x="2419959" y="307905"/>
                  <a:pt x="2419959" y="359476"/>
                </a:cubicBezTo>
                <a:cubicBezTo>
                  <a:pt x="2419959" y="427668"/>
                  <a:pt x="2472378" y="484652"/>
                  <a:pt x="2553243" y="484652"/>
                </a:cubicBezTo>
                <a:cubicBezTo>
                  <a:pt x="2599670" y="484652"/>
                  <a:pt x="2654087" y="465467"/>
                  <a:pt x="2703177" y="430992"/>
                </a:cubicBezTo>
                <a:lnTo>
                  <a:pt x="2742943" y="474015"/>
                </a:lnTo>
                <a:lnTo>
                  <a:pt x="2847117" y="474015"/>
                </a:lnTo>
                <a:lnTo>
                  <a:pt x="2847117" y="470691"/>
                </a:lnTo>
                <a:lnTo>
                  <a:pt x="2762256" y="377331"/>
                </a:lnTo>
                <a:cubicBezTo>
                  <a:pt x="2798122" y="334973"/>
                  <a:pt x="2818671" y="288626"/>
                  <a:pt x="2818671" y="248167"/>
                </a:cubicBezTo>
                <a:cubicBezTo>
                  <a:pt x="2818671" y="197831"/>
                  <a:pt x="2784803" y="164115"/>
                  <a:pt x="2731812" y="164115"/>
                </a:cubicBezTo>
                <a:cubicBezTo>
                  <a:pt x="2703938" y="164115"/>
                  <a:pt x="2672733" y="172093"/>
                  <a:pt x="2652184" y="179976"/>
                </a:cubicBezTo>
                <a:lnTo>
                  <a:pt x="2650852" y="177316"/>
                </a:lnTo>
                <a:cubicBezTo>
                  <a:pt x="2701274" y="150154"/>
                  <a:pt x="2722489" y="124986"/>
                  <a:pt x="2722489" y="89940"/>
                </a:cubicBezTo>
                <a:cubicBezTo>
                  <a:pt x="2722394" y="39794"/>
                  <a:pt x="2677300" y="0"/>
                  <a:pt x="2597672" y="0"/>
                </a:cubicBezTo>
                <a:moveTo>
                  <a:pt x="612767" y="838050"/>
                </a:moveTo>
                <a:cubicBezTo>
                  <a:pt x="620092" y="779831"/>
                  <a:pt x="649870" y="746685"/>
                  <a:pt x="702289" y="746685"/>
                </a:cubicBezTo>
                <a:cubicBezTo>
                  <a:pt x="752045" y="746685"/>
                  <a:pt x="781252" y="776507"/>
                  <a:pt x="782584" y="838050"/>
                </a:cubicBezTo>
                <a:lnTo>
                  <a:pt x="612767" y="838050"/>
                </a:lnTo>
                <a:moveTo>
                  <a:pt x="702289" y="701667"/>
                </a:moveTo>
                <a:cubicBezTo>
                  <a:pt x="614765" y="701667"/>
                  <a:pt x="553688" y="763210"/>
                  <a:pt x="553688" y="876514"/>
                </a:cubicBezTo>
                <a:cubicBezTo>
                  <a:pt x="553688" y="985069"/>
                  <a:pt x="610103" y="1046043"/>
                  <a:pt x="702289" y="1046043"/>
                </a:cubicBezTo>
                <a:cubicBezTo>
                  <a:pt x="777922" y="1046043"/>
                  <a:pt x="825680" y="1003020"/>
                  <a:pt x="837572" y="938152"/>
                </a:cubicBezTo>
                <a:lnTo>
                  <a:pt x="787150" y="924951"/>
                </a:lnTo>
                <a:cubicBezTo>
                  <a:pt x="778493" y="980606"/>
                  <a:pt x="748715" y="999790"/>
                  <a:pt x="707522" y="999790"/>
                </a:cubicBezTo>
                <a:cubicBezTo>
                  <a:pt x="641878" y="999790"/>
                  <a:pt x="612672" y="951449"/>
                  <a:pt x="610674" y="877274"/>
                </a:cubicBezTo>
                <a:lnTo>
                  <a:pt x="838143" y="877274"/>
                </a:lnTo>
                <a:lnTo>
                  <a:pt x="838143" y="858754"/>
                </a:lnTo>
                <a:cubicBezTo>
                  <a:pt x="838333" y="742696"/>
                  <a:pt x="775258" y="701667"/>
                  <a:pt x="702289" y="701667"/>
                </a:cubicBezTo>
                <a:moveTo>
                  <a:pt x="1610832" y="838050"/>
                </a:moveTo>
                <a:cubicBezTo>
                  <a:pt x="1618158" y="779831"/>
                  <a:pt x="1647935" y="746685"/>
                  <a:pt x="1700355" y="746685"/>
                </a:cubicBezTo>
                <a:cubicBezTo>
                  <a:pt x="1750111" y="746685"/>
                  <a:pt x="1779317" y="776507"/>
                  <a:pt x="1780649" y="838050"/>
                </a:cubicBezTo>
                <a:lnTo>
                  <a:pt x="1610832" y="838050"/>
                </a:lnTo>
                <a:moveTo>
                  <a:pt x="1700355" y="701667"/>
                </a:moveTo>
                <a:cubicBezTo>
                  <a:pt x="1612830" y="701667"/>
                  <a:pt x="1551753" y="763210"/>
                  <a:pt x="1551753" y="876514"/>
                </a:cubicBezTo>
                <a:cubicBezTo>
                  <a:pt x="1551753" y="985069"/>
                  <a:pt x="1608168" y="1046043"/>
                  <a:pt x="1700355" y="1046043"/>
                </a:cubicBezTo>
                <a:cubicBezTo>
                  <a:pt x="1775987" y="1046043"/>
                  <a:pt x="1823745" y="1003020"/>
                  <a:pt x="1835637" y="938152"/>
                </a:cubicBezTo>
                <a:lnTo>
                  <a:pt x="1785215" y="924951"/>
                </a:lnTo>
                <a:cubicBezTo>
                  <a:pt x="1776558" y="980606"/>
                  <a:pt x="1746781" y="999790"/>
                  <a:pt x="1705587" y="999790"/>
                </a:cubicBezTo>
                <a:cubicBezTo>
                  <a:pt x="1639944" y="999790"/>
                  <a:pt x="1610737" y="951449"/>
                  <a:pt x="1608739" y="877274"/>
                </a:cubicBezTo>
                <a:lnTo>
                  <a:pt x="1836208" y="877274"/>
                </a:lnTo>
                <a:lnTo>
                  <a:pt x="1836208" y="858754"/>
                </a:lnTo>
                <a:cubicBezTo>
                  <a:pt x="1836398" y="742696"/>
                  <a:pt x="1773323" y="701667"/>
                  <a:pt x="1700355" y="701667"/>
                </a:cubicBezTo>
                <a:moveTo>
                  <a:pt x="2044555" y="701667"/>
                </a:moveTo>
                <a:cubicBezTo>
                  <a:pt x="1953700" y="701667"/>
                  <a:pt x="1891957" y="765205"/>
                  <a:pt x="1891957" y="877179"/>
                </a:cubicBezTo>
                <a:cubicBezTo>
                  <a:pt x="1891957" y="987064"/>
                  <a:pt x="1952273" y="1046043"/>
                  <a:pt x="2041891" y="1046043"/>
                </a:cubicBezTo>
                <a:cubicBezTo>
                  <a:pt x="2122851" y="1046043"/>
                  <a:pt x="2168611" y="996371"/>
                  <a:pt x="2177839" y="928180"/>
                </a:cubicBezTo>
                <a:lnTo>
                  <a:pt x="2125420" y="915549"/>
                </a:lnTo>
                <a:cubicBezTo>
                  <a:pt x="2116096" y="977756"/>
                  <a:pt x="2089554" y="998936"/>
                  <a:pt x="2045791" y="998936"/>
                </a:cubicBezTo>
                <a:cubicBezTo>
                  <a:pt x="1982146" y="998936"/>
                  <a:pt x="1949609" y="952588"/>
                  <a:pt x="1949609" y="873095"/>
                </a:cubicBezTo>
                <a:cubicBezTo>
                  <a:pt x="1949609" y="790278"/>
                  <a:pt x="1984144" y="748584"/>
                  <a:pt x="2043127" y="748584"/>
                </a:cubicBezTo>
                <a:cubicBezTo>
                  <a:pt x="2084892" y="748584"/>
                  <a:pt x="2115430" y="769099"/>
                  <a:pt x="2125420" y="828078"/>
                </a:cubicBezTo>
                <a:lnTo>
                  <a:pt x="2177839" y="815446"/>
                </a:lnTo>
                <a:cubicBezTo>
                  <a:pt x="2168611" y="748015"/>
                  <a:pt x="2122851" y="701667"/>
                  <a:pt x="2044555" y="701667"/>
                </a:cubicBezTo>
                <a:moveTo>
                  <a:pt x="477580" y="575827"/>
                </a:moveTo>
                <a:lnTo>
                  <a:pt x="390055" y="575827"/>
                </a:lnTo>
                <a:lnTo>
                  <a:pt x="252775" y="949264"/>
                </a:lnTo>
                <a:lnTo>
                  <a:pt x="114828" y="575827"/>
                </a:lnTo>
                <a:lnTo>
                  <a:pt x="23213" y="575827"/>
                </a:lnTo>
                <a:lnTo>
                  <a:pt x="23213" y="1039300"/>
                </a:lnTo>
                <a:lnTo>
                  <a:pt x="80865" y="1039300"/>
                </a:lnTo>
                <a:lnTo>
                  <a:pt x="80865" y="640124"/>
                </a:lnTo>
                <a:lnTo>
                  <a:pt x="228801" y="1039395"/>
                </a:lnTo>
                <a:lnTo>
                  <a:pt x="273229" y="1039395"/>
                </a:lnTo>
                <a:lnTo>
                  <a:pt x="419832" y="639459"/>
                </a:lnTo>
                <a:lnTo>
                  <a:pt x="419832" y="1039395"/>
                </a:lnTo>
                <a:lnTo>
                  <a:pt x="477580" y="1039395"/>
                </a:lnTo>
                <a:lnTo>
                  <a:pt x="477580" y="575827"/>
                </a:lnTo>
                <a:moveTo>
                  <a:pt x="1042494" y="999031"/>
                </a:moveTo>
                <a:cubicBezTo>
                  <a:pt x="988076" y="999031"/>
                  <a:pt x="951639" y="959996"/>
                  <a:pt x="951639" y="873855"/>
                </a:cubicBezTo>
                <a:cubicBezTo>
                  <a:pt x="951639" y="787144"/>
                  <a:pt x="988076" y="748679"/>
                  <a:pt x="1042494" y="748679"/>
                </a:cubicBezTo>
                <a:cubicBezTo>
                  <a:pt x="1096911" y="748679"/>
                  <a:pt x="1133348" y="787049"/>
                  <a:pt x="1133348" y="873855"/>
                </a:cubicBezTo>
                <a:cubicBezTo>
                  <a:pt x="1133348" y="959901"/>
                  <a:pt x="1096911" y="999031"/>
                  <a:pt x="1042494" y="999031"/>
                </a:cubicBezTo>
                <a:moveTo>
                  <a:pt x="1187099" y="575827"/>
                </a:moveTo>
                <a:lnTo>
                  <a:pt x="1132111" y="575827"/>
                </a:lnTo>
                <a:lnTo>
                  <a:pt x="1132111" y="771853"/>
                </a:lnTo>
                <a:cubicBezTo>
                  <a:pt x="1120124" y="735383"/>
                  <a:pt x="1091013" y="701667"/>
                  <a:pt x="1033265" y="701667"/>
                </a:cubicBezTo>
                <a:cubicBezTo>
                  <a:pt x="958965" y="701667"/>
                  <a:pt x="893987" y="759981"/>
                  <a:pt x="893987" y="875849"/>
                </a:cubicBezTo>
                <a:cubicBezTo>
                  <a:pt x="893987" y="993047"/>
                  <a:pt x="958965" y="1046043"/>
                  <a:pt x="1028604" y="1046043"/>
                </a:cubicBezTo>
                <a:cubicBezTo>
                  <a:pt x="1081023" y="1046043"/>
                  <a:pt x="1119458" y="1015556"/>
                  <a:pt x="1132111" y="972533"/>
                </a:cubicBezTo>
                <a:lnTo>
                  <a:pt x="1132111" y="997701"/>
                </a:lnTo>
                <a:cubicBezTo>
                  <a:pt x="1132111" y="1012897"/>
                  <a:pt x="1133443" y="1029517"/>
                  <a:pt x="1135441" y="1039395"/>
                </a:cubicBezTo>
                <a:lnTo>
                  <a:pt x="1191190" y="1039395"/>
                </a:lnTo>
                <a:cubicBezTo>
                  <a:pt x="1188526" y="1023534"/>
                  <a:pt x="1187194" y="1000360"/>
                  <a:pt x="1187194" y="970538"/>
                </a:cubicBezTo>
                <a:lnTo>
                  <a:pt x="1187194" y="575827"/>
                </a:lnTo>
                <a:moveTo>
                  <a:pt x="1604934" y="575827"/>
                </a:moveTo>
                <a:lnTo>
                  <a:pt x="1246749" y="575827"/>
                </a:lnTo>
                <a:lnTo>
                  <a:pt x="1246749" y="624169"/>
                </a:lnTo>
                <a:lnTo>
                  <a:pt x="1397349" y="624169"/>
                </a:lnTo>
                <a:lnTo>
                  <a:pt x="1397349" y="1039395"/>
                </a:lnTo>
                <a:lnTo>
                  <a:pt x="1455096" y="1039395"/>
                </a:lnTo>
                <a:lnTo>
                  <a:pt x="1455096" y="624169"/>
                </a:lnTo>
                <a:lnTo>
                  <a:pt x="1605029" y="624169"/>
                </a:lnTo>
                <a:lnTo>
                  <a:pt x="1605029" y="575827"/>
                </a:lnTo>
                <a:moveTo>
                  <a:pt x="2295902" y="575827"/>
                </a:moveTo>
                <a:lnTo>
                  <a:pt x="2240819" y="575827"/>
                </a:lnTo>
                <a:lnTo>
                  <a:pt x="2240819" y="1039300"/>
                </a:lnTo>
                <a:lnTo>
                  <a:pt x="2295902" y="1039300"/>
                </a:lnTo>
                <a:lnTo>
                  <a:pt x="2295902" y="821524"/>
                </a:lnTo>
                <a:cubicBezTo>
                  <a:pt x="2295902" y="775177"/>
                  <a:pt x="2319115" y="744026"/>
                  <a:pt x="2368205" y="744026"/>
                </a:cubicBezTo>
                <a:cubicBezTo>
                  <a:pt x="2416629" y="744026"/>
                  <a:pt x="2439842" y="775177"/>
                  <a:pt x="2439842" y="821524"/>
                </a:cubicBezTo>
                <a:lnTo>
                  <a:pt x="2439842" y="1039395"/>
                </a:lnTo>
                <a:lnTo>
                  <a:pt x="2494925" y="1039395"/>
                </a:lnTo>
                <a:lnTo>
                  <a:pt x="2494925" y="810317"/>
                </a:lnTo>
                <a:cubicBezTo>
                  <a:pt x="2494925" y="748110"/>
                  <a:pt x="2456491" y="701762"/>
                  <a:pt x="2388088" y="701762"/>
                </a:cubicBezTo>
                <a:cubicBezTo>
                  <a:pt x="2342328" y="701762"/>
                  <a:pt x="2308460" y="722277"/>
                  <a:pt x="2295902" y="759411"/>
                </a:cubicBezTo>
                <a:lnTo>
                  <a:pt x="2295902" y="575827"/>
                </a:lnTo>
              </a:path>
            </a:pathLst>
          </a:custGeom>
          <a:solidFill>
            <a:srgbClr val="EB1700"/>
          </a:solidFill>
          <a:ln w="95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750"/>
          </a:p>
        </p:txBody>
      </p:sp>
      <p:sp>
        <p:nvSpPr>
          <p:cNvPr id="8" name="Footer Placeholder 3"/>
          <p:cNvSpPr txBox="1"/>
          <p:nvPr userDrawn="1"/>
        </p:nvSpPr>
        <p:spPr>
          <a:xfrm>
            <a:off x="347415" y="10978931"/>
            <a:ext cx="6864853" cy="12003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110000"/>
              </a:lnSpc>
              <a:spcBef>
                <a:spcPts val="880"/>
              </a:spcBef>
              <a:spcAft>
                <a:spcPts val="880"/>
              </a:spcAft>
              <a:defRPr sz="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780" dirty="0"/>
              <a:t>009798-241115  </a:t>
            </a:r>
            <a:r>
              <a:rPr lang="zh-CN" altLang="en-US" sz="780" dirty="0"/>
              <a:t>专业内容，仅供医疗专业人士参考，严禁翻印及传播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hf hdr="0" dt="0"/>
  <p:txStyles>
    <p:titleStyle>
      <a:lvl1pPr algn="l" defTabSz="1193800" rtl="0" eaLnBrk="1" latinLnBrk="0" hangingPunct="1">
        <a:lnSpc>
          <a:spcPct val="85000"/>
        </a:lnSpc>
        <a:spcBef>
          <a:spcPts val="785"/>
        </a:spcBef>
        <a:spcAft>
          <a:spcPts val="785"/>
        </a:spcAft>
        <a:buNone/>
        <a:defRPr sz="3205" b="0" i="0" kern="1200" spc="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1193800" rtl="0" eaLnBrk="1" latinLnBrk="0" hangingPunct="1">
        <a:lnSpc>
          <a:spcPct val="110000"/>
        </a:lnSpc>
        <a:spcBef>
          <a:spcPts val="785"/>
        </a:spcBef>
        <a:spcAft>
          <a:spcPts val="785"/>
        </a:spcAft>
        <a:buFont typeface="Arial" panose="020B0604020202090204" pitchFamily="34" charset="0"/>
        <a:buNone/>
        <a:defRPr sz="1425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372745" indent="-372745" algn="l" defTabSz="1193800" rtl="0" eaLnBrk="1" latinLnBrk="0" hangingPunct="1">
        <a:lnSpc>
          <a:spcPct val="110000"/>
        </a:lnSpc>
        <a:spcBef>
          <a:spcPts val="0"/>
        </a:spcBef>
        <a:spcAft>
          <a:spcPts val="785"/>
        </a:spcAft>
        <a:buFont typeface="Arial" panose="020B0604020202090204" pitchFamily="34" charset="0"/>
        <a:buChar char="•"/>
        <a:defRPr sz="1425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746125" indent="-372745" algn="l" defTabSz="1193800" rtl="0" eaLnBrk="1" latinLnBrk="0" hangingPunct="1">
        <a:lnSpc>
          <a:spcPct val="110000"/>
        </a:lnSpc>
        <a:spcBef>
          <a:spcPts val="0"/>
        </a:spcBef>
        <a:spcAft>
          <a:spcPts val="785"/>
        </a:spcAft>
        <a:buFont typeface="Arial" panose="020B0604020202090204" pitchFamily="34" charset="0"/>
        <a:buChar char="•"/>
        <a:defRPr sz="1245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118235" indent="-372745" algn="l" defTabSz="1193800" rtl="0" eaLnBrk="1" latinLnBrk="0" hangingPunct="1">
        <a:lnSpc>
          <a:spcPct val="110000"/>
        </a:lnSpc>
        <a:spcBef>
          <a:spcPts val="0"/>
        </a:spcBef>
        <a:spcAft>
          <a:spcPts val="785"/>
        </a:spcAft>
        <a:buFont typeface="Arial" panose="020B0604020202090204" pitchFamily="34" charset="0"/>
        <a:buChar char="•"/>
        <a:defRPr sz="1245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1193800" rtl="0" eaLnBrk="1" latinLnBrk="0" hangingPunct="1">
        <a:lnSpc>
          <a:spcPct val="110000"/>
        </a:lnSpc>
        <a:spcBef>
          <a:spcPts val="785"/>
        </a:spcBef>
        <a:spcAft>
          <a:spcPts val="785"/>
        </a:spcAft>
        <a:buFont typeface="Arial" panose="020B0604020202090204" pitchFamily="34" charset="0"/>
        <a:buNone/>
        <a:defRPr sz="8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1193800" rtl="0" eaLnBrk="1" latinLnBrk="0" hangingPunct="1">
        <a:lnSpc>
          <a:spcPct val="90000"/>
        </a:lnSpc>
        <a:spcBef>
          <a:spcPts val="785"/>
        </a:spcBef>
        <a:spcAft>
          <a:spcPts val="785"/>
        </a:spcAft>
        <a:buFont typeface="Arial" panose="020B0604020202090204" pitchFamily="34" charset="0"/>
        <a:buNone/>
        <a:defRPr lang="en-GB" sz="235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1193800" rtl="0" eaLnBrk="1" latinLnBrk="0" hangingPunct="1">
        <a:lnSpc>
          <a:spcPct val="90000"/>
        </a:lnSpc>
        <a:spcBef>
          <a:spcPts val="785"/>
        </a:spcBef>
        <a:spcAft>
          <a:spcPts val="785"/>
        </a:spcAft>
        <a:buFont typeface="Arial" panose="020B0604020202090204" pitchFamily="34" charset="0"/>
        <a:buNone/>
        <a:defRPr lang="en-GB" sz="235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1193800" rtl="0" eaLnBrk="1" latinLnBrk="0" hangingPunct="1">
        <a:lnSpc>
          <a:spcPct val="90000"/>
        </a:lnSpc>
        <a:spcBef>
          <a:spcPts val="785"/>
        </a:spcBef>
        <a:spcAft>
          <a:spcPts val="785"/>
        </a:spcAft>
        <a:buFont typeface="Arial" panose="020B0604020202090204" pitchFamily="34" charset="0"/>
        <a:buNone/>
        <a:defRPr lang="en-GB" sz="2350" b="0" i="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1193800" rtl="0" eaLnBrk="1" latinLnBrk="0" hangingPunct="1">
        <a:lnSpc>
          <a:spcPct val="90000"/>
        </a:lnSpc>
        <a:spcBef>
          <a:spcPts val="785"/>
        </a:spcBef>
        <a:spcAft>
          <a:spcPts val="785"/>
        </a:spcAft>
        <a:buFont typeface="Arial" panose="020B0604020202090204" pitchFamily="34" charset="0"/>
        <a:buNone/>
        <a:defRPr sz="2350" b="0" i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93800" rtl="0" eaLnBrk="1" latinLnBrk="0" hangingPunct="1">
        <a:defRPr sz="2350" kern="1200">
          <a:solidFill>
            <a:schemeClr val="tx1"/>
          </a:solidFill>
          <a:latin typeface="+mn-lt"/>
          <a:ea typeface="+mn-ea"/>
          <a:cs typeface="+mn-cs"/>
        </a:defRPr>
      </a:lvl1pPr>
      <a:lvl2pPr marL="596900" algn="l" defTabSz="1193800" rtl="0" eaLnBrk="1" latinLnBrk="0" hangingPunct="1">
        <a:defRPr sz="2350" kern="1200">
          <a:solidFill>
            <a:schemeClr val="tx1"/>
          </a:solidFill>
          <a:latin typeface="+mn-lt"/>
          <a:ea typeface="+mn-ea"/>
          <a:cs typeface="+mn-cs"/>
        </a:defRPr>
      </a:lvl2pPr>
      <a:lvl3pPr marL="1193800" algn="l" defTabSz="1193800" rtl="0" eaLnBrk="1" latinLnBrk="0" hangingPunct="1">
        <a:defRPr sz="2350" kern="1200">
          <a:solidFill>
            <a:schemeClr val="tx1"/>
          </a:solidFill>
          <a:latin typeface="+mn-lt"/>
          <a:ea typeface="+mn-ea"/>
          <a:cs typeface="+mn-cs"/>
        </a:defRPr>
      </a:lvl3pPr>
      <a:lvl4pPr marL="1790065" algn="l" defTabSz="1193800" rtl="0" eaLnBrk="1" latinLnBrk="0" hangingPunct="1">
        <a:defRPr sz="2350" kern="1200">
          <a:solidFill>
            <a:schemeClr val="tx1"/>
          </a:solidFill>
          <a:latin typeface="+mn-lt"/>
          <a:ea typeface="+mn-ea"/>
          <a:cs typeface="+mn-cs"/>
        </a:defRPr>
      </a:lvl4pPr>
      <a:lvl5pPr marL="2386965" algn="l" defTabSz="1193800" rtl="0" eaLnBrk="1" latinLnBrk="0" hangingPunct="1">
        <a:defRPr sz="2350" kern="1200">
          <a:solidFill>
            <a:schemeClr val="tx1"/>
          </a:solidFill>
          <a:latin typeface="+mn-lt"/>
          <a:ea typeface="+mn-ea"/>
          <a:cs typeface="+mn-cs"/>
        </a:defRPr>
      </a:lvl5pPr>
      <a:lvl6pPr marL="2983865" algn="l" defTabSz="1193800" rtl="0" eaLnBrk="1" latinLnBrk="0" hangingPunct="1">
        <a:defRPr sz="2350" kern="1200">
          <a:solidFill>
            <a:schemeClr val="tx1"/>
          </a:solidFill>
          <a:latin typeface="+mn-lt"/>
          <a:ea typeface="+mn-ea"/>
          <a:cs typeface="+mn-cs"/>
        </a:defRPr>
      </a:lvl6pPr>
      <a:lvl7pPr marL="3580765" algn="l" defTabSz="1193800" rtl="0" eaLnBrk="1" latinLnBrk="0" hangingPunct="1">
        <a:defRPr sz="2350" kern="1200">
          <a:solidFill>
            <a:schemeClr val="tx1"/>
          </a:solidFill>
          <a:latin typeface="+mn-lt"/>
          <a:ea typeface="+mn-ea"/>
          <a:cs typeface="+mn-cs"/>
        </a:defRPr>
      </a:lvl7pPr>
      <a:lvl8pPr marL="4177665" algn="l" defTabSz="1193800" rtl="0" eaLnBrk="1" latinLnBrk="0" hangingPunct="1">
        <a:defRPr sz="2350" kern="1200">
          <a:solidFill>
            <a:schemeClr val="tx1"/>
          </a:solidFill>
          <a:latin typeface="+mn-lt"/>
          <a:ea typeface="+mn-ea"/>
          <a:cs typeface="+mn-cs"/>
        </a:defRPr>
      </a:lvl8pPr>
      <a:lvl9pPr marL="4773930" algn="l" defTabSz="1193800" rtl="0" eaLnBrk="1" latinLnBrk="0" hangingPunct="1">
        <a:defRPr sz="2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224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hf hdr="0" dt="0"/>
  <p:txStyles>
    <p:titleStyle>
      <a:lvl1pPr algn="l" defTabSz="1304289" rtl="0" eaLnBrk="1" latinLnBrk="0" hangingPunct="1">
        <a:lnSpc>
          <a:spcPct val="85000"/>
        </a:lnSpc>
        <a:spcBef>
          <a:spcPts val="855"/>
        </a:spcBef>
        <a:spcAft>
          <a:spcPts val="855"/>
        </a:spcAft>
        <a:buNone/>
        <a:defRPr sz="3500" b="0" i="0" kern="1200" spc="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1304289" rtl="0" eaLnBrk="1" latinLnBrk="0" hangingPunct="1">
        <a:lnSpc>
          <a:spcPct val="110000"/>
        </a:lnSpc>
        <a:spcBef>
          <a:spcPts val="855"/>
        </a:spcBef>
        <a:spcAft>
          <a:spcPts val="855"/>
        </a:spcAft>
        <a:buFont typeface="Arial" panose="020B0604020202090204" pitchFamily="34" charset="0"/>
        <a:buNone/>
        <a:defRPr sz="1555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07670" indent="-407670" algn="l" defTabSz="1304289" rtl="0" eaLnBrk="1" latinLnBrk="0" hangingPunct="1">
        <a:lnSpc>
          <a:spcPct val="110000"/>
        </a:lnSpc>
        <a:spcBef>
          <a:spcPts val="0"/>
        </a:spcBef>
        <a:spcAft>
          <a:spcPts val="855"/>
        </a:spcAft>
        <a:buFont typeface="Arial" panose="020B0604020202090204" pitchFamily="34" charset="0"/>
        <a:buChar char="•"/>
        <a:defRPr sz="1555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815339" indent="-407670" algn="l" defTabSz="1304289" rtl="0" eaLnBrk="1" latinLnBrk="0" hangingPunct="1">
        <a:lnSpc>
          <a:spcPct val="110000"/>
        </a:lnSpc>
        <a:spcBef>
          <a:spcPts val="0"/>
        </a:spcBef>
        <a:spcAft>
          <a:spcPts val="855"/>
        </a:spcAft>
        <a:buFont typeface="Arial" panose="020B0604020202090204" pitchFamily="34" charset="0"/>
        <a:buChar char="•"/>
        <a:defRPr sz="136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222374" indent="-407670" algn="l" defTabSz="1304289" rtl="0" eaLnBrk="1" latinLnBrk="0" hangingPunct="1">
        <a:lnSpc>
          <a:spcPct val="110000"/>
        </a:lnSpc>
        <a:spcBef>
          <a:spcPts val="0"/>
        </a:spcBef>
        <a:spcAft>
          <a:spcPts val="855"/>
        </a:spcAft>
        <a:buFont typeface="Arial" panose="020B0604020202090204" pitchFamily="34" charset="0"/>
        <a:buChar char="•"/>
        <a:defRPr sz="136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1304289" rtl="0" eaLnBrk="1" latinLnBrk="0" hangingPunct="1">
        <a:lnSpc>
          <a:spcPct val="110000"/>
        </a:lnSpc>
        <a:spcBef>
          <a:spcPts val="855"/>
        </a:spcBef>
        <a:spcAft>
          <a:spcPts val="855"/>
        </a:spcAft>
        <a:buFont typeface="Arial" panose="020B0604020202090204" pitchFamily="34" charset="0"/>
        <a:buNone/>
        <a:defRPr sz="875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1304289" rtl="0" eaLnBrk="1" latinLnBrk="0" hangingPunct="1">
        <a:lnSpc>
          <a:spcPct val="90000"/>
        </a:lnSpc>
        <a:spcBef>
          <a:spcPts val="855"/>
        </a:spcBef>
        <a:spcAft>
          <a:spcPts val="855"/>
        </a:spcAft>
        <a:buFont typeface="Arial" panose="020B0604020202090204" pitchFamily="34" charset="0"/>
        <a:buNone/>
        <a:defRPr lang="en-GB" sz="257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1304289" rtl="0" eaLnBrk="1" latinLnBrk="0" hangingPunct="1">
        <a:lnSpc>
          <a:spcPct val="90000"/>
        </a:lnSpc>
        <a:spcBef>
          <a:spcPts val="855"/>
        </a:spcBef>
        <a:spcAft>
          <a:spcPts val="855"/>
        </a:spcAft>
        <a:buFont typeface="Arial" panose="020B0604020202090204" pitchFamily="34" charset="0"/>
        <a:buNone/>
        <a:defRPr lang="en-GB" sz="257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1304289" rtl="0" eaLnBrk="1" latinLnBrk="0" hangingPunct="1">
        <a:lnSpc>
          <a:spcPct val="90000"/>
        </a:lnSpc>
        <a:spcBef>
          <a:spcPts val="855"/>
        </a:spcBef>
        <a:spcAft>
          <a:spcPts val="855"/>
        </a:spcAft>
        <a:buFont typeface="Arial" panose="020B0604020202090204" pitchFamily="34" charset="0"/>
        <a:buNone/>
        <a:defRPr lang="en-GB" sz="2570" b="0" i="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1304289" rtl="0" eaLnBrk="1" latinLnBrk="0" hangingPunct="1">
        <a:lnSpc>
          <a:spcPct val="90000"/>
        </a:lnSpc>
        <a:spcBef>
          <a:spcPts val="855"/>
        </a:spcBef>
        <a:spcAft>
          <a:spcPts val="855"/>
        </a:spcAft>
        <a:buFont typeface="Arial" panose="020B0604020202090204" pitchFamily="34" charset="0"/>
        <a:buNone/>
        <a:defRPr sz="2570" b="0" i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4289" rtl="0" eaLnBrk="1" latinLnBrk="0" hangingPunct="1">
        <a:defRPr sz="2570" kern="1200">
          <a:solidFill>
            <a:schemeClr val="tx1"/>
          </a:solidFill>
          <a:latin typeface="+mn-lt"/>
          <a:ea typeface="+mn-ea"/>
          <a:cs typeface="+mn-cs"/>
        </a:defRPr>
      </a:lvl1pPr>
      <a:lvl2pPr marL="652144" algn="l" defTabSz="1304289" rtl="0" eaLnBrk="1" latinLnBrk="0" hangingPunct="1">
        <a:defRPr sz="2570" kern="1200">
          <a:solidFill>
            <a:schemeClr val="tx1"/>
          </a:solidFill>
          <a:latin typeface="+mn-lt"/>
          <a:ea typeface="+mn-ea"/>
          <a:cs typeface="+mn-cs"/>
        </a:defRPr>
      </a:lvl2pPr>
      <a:lvl3pPr marL="1304289" algn="l" defTabSz="1304289" rtl="0" eaLnBrk="1" latinLnBrk="0" hangingPunct="1">
        <a:defRPr sz="2570" kern="1200">
          <a:solidFill>
            <a:schemeClr val="tx1"/>
          </a:solidFill>
          <a:latin typeface="+mn-lt"/>
          <a:ea typeface="+mn-ea"/>
          <a:cs typeface="+mn-cs"/>
        </a:defRPr>
      </a:lvl3pPr>
      <a:lvl4pPr marL="1956433" algn="l" defTabSz="1304289" rtl="0" eaLnBrk="1" latinLnBrk="0" hangingPunct="1">
        <a:defRPr sz="2570" kern="1200">
          <a:solidFill>
            <a:schemeClr val="tx1"/>
          </a:solidFill>
          <a:latin typeface="+mn-lt"/>
          <a:ea typeface="+mn-ea"/>
          <a:cs typeface="+mn-cs"/>
        </a:defRPr>
      </a:lvl4pPr>
      <a:lvl5pPr marL="2608578" algn="l" defTabSz="1304289" rtl="0" eaLnBrk="1" latinLnBrk="0" hangingPunct="1">
        <a:defRPr sz="2570" kern="1200">
          <a:solidFill>
            <a:schemeClr val="tx1"/>
          </a:solidFill>
          <a:latin typeface="+mn-lt"/>
          <a:ea typeface="+mn-ea"/>
          <a:cs typeface="+mn-cs"/>
        </a:defRPr>
      </a:lvl5pPr>
      <a:lvl6pPr marL="3260721" algn="l" defTabSz="1304289" rtl="0" eaLnBrk="1" latinLnBrk="0" hangingPunct="1">
        <a:defRPr sz="2570" kern="1200">
          <a:solidFill>
            <a:schemeClr val="tx1"/>
          </a:solidFill>
          <a:latin typeface="+mn-lt"/>
          <a:ea typeface="+mn-ea"/>
          <a:cs typeface="+mn-cs"/>
        </a:defRPr>
      </a:lvl6pPr>
      <a:lvl7pPr marL="3913501" algn="l" defTabSz="1304289" rtl="0" eaLnBrk="1" latinLnBrk="0" hangingPunct="1">
        <a:defRPr sz="2570" kern="1200">
          <a:solidFill>
            <a:schemeClr val="tx1"/>
          </a:solidFill>
          <a:latin typeface="+mn-lt"/>
          <a:ea typeface="+mn-ea"/>
          <a:cs typeface="+mn-cs"/>
        </a:defRPr>
      </a:lvl7pPr>
      <a:lvl8pPr marL="4565645" algn="l" defTabSz="1304289" rtl="0" eaLnBrk="1" latinLnBrk="0" hangingPunct="1">
        <a:defRPr sz="2570" kern="1200">
          <a:solidFill>
            <a:schemeClr val="tx1"/>
          </a:solidFill>
          <a:latin typeface="+mn-lt"/>
          <a:ea typeface="+mn-ea"/>
          <a:cs typeface="+mn-cs"/>
        </a:defRPr>
      </a:lvl8pPr>
      <a:lvl9pPr marL="5217790" algn="l" defTabSz="1304289" rtl="0" eaLnBrk="1" latinLnBrk="0" hangingPunct="1">
        <a:defRPr sz="25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367">
          <p15:clr>
            <a:srgbClr val="F26B43"/>
          </p15:clr>
        </p15:guide>
        <p15:guide id="2" pos="238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C8BFD-B065-7921-A310-9BD51FFD0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92462FE-DF98-94A0-E096-7D9E9E67E9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2265" y="1645465"/>
            <a:ext cx="6834505" cy="106452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The Biophysics of Radiofrequency Ablation and Factors Affecting Lesion Size</a:t>
            </a: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射频消融的生物物理学原理及消融灶尺寸的影响因素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8AF109-FBE0-AF83-308F-90EBE57E594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6715" y="10346316"/>
            <a:ext cx="6834187" cy="246221"/>
          </a:xfrm>
        </p:spPr>
        <p:txBody>
          <a:bodyPr/>
          <a:lstStyle/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800" b="1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参考文献：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Bates AP, et</a:t>
            </a:r>
            <a:r>
              <a:rPr lang="zh-CN" altLang="en-US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 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al. The Biophysics of Radiofrequency Ablation and Factors Affecting Lesion Size. </a:t>
            </a:r>
            <a:r>
              <a:rPr lang="en-US" altLang="zh-CN" sz="800" dirty="0" err="1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Arrhythm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 </a:t>
            </a:r>
            <a:r>
              <a:rPr lang="en-US" altLang="zh-CN" sz="800" dirty="0" err="1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Electrophysiol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 Rev. 2026 Mar 3;15:e08.</a:t>
            </a:r>
            <a:endParaRPr lang="en-US" altLang="zh-CN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CA2D508-5090-6AEB-61A0-3E7F4D0B154D}"/>
              </a:ext>
            </a:extLst>
          </p:cNvPr>
          <p:cNvSpPr txBox="1"/>
          <p:nvPr/>
        </p:nvSpPr>
        <p:spPr>
          <a:xfrm>
            <a:off x="362584" y="3606303"/>
            <a:ext cx="6834186" cy="218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400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摘要：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在介入电生理领域，射频消融依然是主流治疗手段。射频消融生物物理的原理在于：利用射频电流产生热量，使局部心肌组织发生不可逆损伤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。组织温度需超过 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50°C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，并持续约 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60 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秒以形成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消融灶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消融灶受多个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因素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影响，包括电流大小、电极阻抗、消融持续时间，以及心肌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组织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的导热特性。通过调节这些因素，可以改变消融灶的尺寸，从而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优化心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律失常的治疗。</a:t>
            </a:r>
          </a:p>
        </p:txBody>
      </p:sp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87E35897-F0A2-EC2E-02DD-B4DFBCF3B3B3}"/>
              </a:ext>
            </a:extLst>
          </p:cNvPr>
          <p:cNvSpPr txBox="1">
            <a:spLocks/>
          </p:cNvSpPr>
          <p:nvPr/>
        </p:nvSpPr>
        <p:spPr>
          <a:xfrm>
            <a:off x="362584" y="297560"/>
            <a:ext cx="6834505" cy="40722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1304289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  <a:defRPr sz="2000" b="1" i="0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0" indent="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None/>
              <a:defRPr sz="1555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5339" indent="-40767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Char char="•"/>
              <a:defRPr sz="13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22374" indent="-40767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Char char="•"/>
              <a:defRPr sz="13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1304289" rtl="0" eaLnBrk="1" latinLnBrk="0" hangingPunct="1">
              <a:lnSpc>
                <a:spcPct val="11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sz="875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sz="257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PFA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原理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——PFA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与既往热能源有何不同？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1FE6A6B-929A-C57B-F27B-F099778E8E8E}"/>
              </a:ext>
            </a:extLst>
          </p:cNvPr>
          <p:cNvSpPr/>
          <p:nvPr/>
        </p:nvSpPr>
        <p:spPr>
          <a:xfrm>
            <a:off x="5745892" y="71269"/>
            <a:ext cx="2224216" cy="1267035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72000" rIns="0" bIns="72000" rtlCol="0" anchor="ctr"/>
          <a:lstStyle/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作者：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Bates AP,</a:t>
            </a: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 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et al</a:t>
            </a: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发表日期：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2026-03-03</a:t>
            </a: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研究类型：综述</a:t>
            </a:r>
            <a:endParaRPr lang="en-US" altLang="zh-CN" sz="12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 R" pitchFamily="18" charset="-122"/>
            </a:endParaRP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期刊：</a:t>
            </a:r>
            <a:r>
              <a:rPr lang="en-US" altLang="zh-CN" sz="1200" dirty="0" err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Arrhythm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 </a:t>
            </a:r>
            <a:r>
              <a:rPr lang="en-US" altLang="zh-CN" sz="1200" dirty="0" err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Electrophysiol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 Rev</a:t>
            </a:r>
          </a:p>
          <a:p>
            <a:pPr defTabSz="1279525">
              <a:spcAft>
                <a:spcPts val="600"/>
              </a:spcAft>
              <a:defRPr/>
            </a:pP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IF</a:t>
            </a: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3.3</a:t>
            </a:r>
          </a:p>
        </p:txBody>
      </p:sp>
      <p:sp>
        <p:nvSpPr>
          <p:cNvPr id="15" name="矩形: 圆角 484">
            <a:extLst>
              <a:ext uri="{FF2B5EF4-FFF2-40B4-BE49-F238E27FC236}">
                <a16:creationId xmlns:a16="http://schemas.microsoft.com/office/drawing/2014/main" id="{77637848-42FA-8AF7-E6F5-AA28C42AA0E9}"/>
              </a:ext>
            </a:extLst>
          </p:cNvPr>
          <p:cNvSpPr/>
          <p:nvPr/>
        </p:nvSpPr>
        <p:spPr>
          <a:xfrm>
            <a:off x="3160747" y="8417609"/>
            <a:ext cx="1039829" cy="824761"/>
          </a:xfrm>
          <a:prstGeom prst="roundRect">
            <a:avLst>
              <a:gd name="adj" fmla="val 422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点击查看原文链接</a:t>
            </a:r>
            <a:endParaRPr kumimoji="1" lang="zh-CN" altLang="en-US" sz="14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1982718-916E-45BC-7757-071FF596AFB7}"/>
              </a:ext>
            </a:extLst>
          </p:cNvPr>
          <p:cNvSpPr txBox="1"/>
          <p:nvPr/>
        </p:nvSpPr>
        <p:spPr>
          <a:xfrm>
            <a:off x="896361" y="9333654"/>
            <a:ext cx="57669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https://</a:t>
            </a:r>
            <a:r>
              <a:rPr lang="en-US" altLang="zh-CN" sz="1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pmc.ncbi.nlm.nih.gov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/articles/PMC12983142/pdf/aer-15-e08.pdf</a:t>
            </a:r>
            <a:endParaRPr lang="zh-CN" alt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A187D95-434D-B073-651D-B87C3066C112}"/>
              </a:ext>
            </a:extLst>
          </p:cNvPr>
          <p:cNvSpPr txBox="1"/>
          <p:nvPr/>
        </p:nvSpPr>
        <p:spPr>
          <a:xfrm>
            <a:off x="1659972" y="9978033"/>
            <a:ext cx="57236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*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版权问题暂不提供直接下载，如有学术交流需要，请联系内部人员</a:t>
            </a:r>
          </a:p>
        </p:txBody>
      </p:sp>
    </p:spTree>
    <p:extLst>
      <p:ext uri="{BB962C8B-B14F-4D97-AF65-F5344CB8AC3E}">
        <p14:creationId xmlns:p14="http://schemas.microsoft.com/office/powerpoint/2010/main" val="4249127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AA409-B952-2497-5BA7-5E41E03FB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57048F1-1A5A-11C6-BA8B-884F1B099E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4426" y="1853965"/>
            <a:ext cx="7197410" cy="69512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Latest Advances and Ongoing Challenges in Pulsed Field Ablation</a:t>
            </a: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脉冲电场消融的最新进展和持续挑战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162FB49-46FB-73EF-116F-66DA8BDDF6D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6715" y="10346316"/>
            <a:ext cx="6834187" cy="246221"/>
          </a:xfrm>
        </p:spPr>
        <p:txBody>
          <a:bodyPr/>
          <a:lstStyle/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800" b="1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参考文献：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Vázquez-Calvo </a:t>
            </a:r>
            <a:r>
              <a:rPr lang="en-US" altLang="zh-CN" sz="800" dirty="0" err="1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S,et</a:t>
            </a:r>
            <a:r>
              <a:rPr lang="zh-CN" altLang="en-US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 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al. Latest Advances and Ongoing Challenges in Pulsed Field Ablation. </a:t>
            </a:r>
            <a:r>
              <a:rPr lang="en-US" altLang="zh-CN" sz="800" dirty="0" err="1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Arrhythm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 </a:t>
            </a:r>
            <a:r>
              <a:rPr lang="en-US" altLang="zh-CN" sz="800" dirty="0" err="1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Electrophysiol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 Rev. 2026 Feb 24;15:e06.</a:t>
            </a:r>
            <a:endParaRPr lang="en-US" altLang="zh-CN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B0D356B-2302-1203-8D44-BCE40BCB1CAB}"/>
              </a:ext>
            </a:extLst>
          </p:cNvPr>
          <p:cNvSpPr txBox="1"/>
          <p:nvPr/>
        </p:nvSpPr>
        <p:spPr>
          <a:xfrm>
            <a:off x="362743" y="3232397"/>
            <a:ext cx="6834186" cy="1750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400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摘要：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脉冲电场消融具有组织选择性和良好的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安全性，是一种新兴的心脏心律失常消融策略。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PFA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用于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肺静脉隔离，即刻成功率高，并发症发生率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低。为提高消融深度和持久性，需要不断改进和优化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PFA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导管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设计、脉冲参数和能量组合等，脉冲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电场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消融有望成为未来心脏消融领域极具前景的基石。</a:t>
            </a:r>
            <a:endParaRPr lang="en-US" altLang="zh-CN" sz="14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1A3BC170-D208-E99D-DC9E-19E3463F1845}"/>
              </a:ext>
            </a:extLst>
          </p:cNvPr>
          <p:cNvSpPr txBox="1">
            <a:spLocks/>
          </p:cNvSpPr>
          <p:nvPr/>
        </p:nvSpPr>
        <p:spPr>
          <a:xfrm>
            <a:off x="362584" y="297560"/>
            <a:ext cx="6834505" cy="40722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1304289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  <a:defRPr sz="2000" b="1" i="0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0" indent="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None/>
              <a:defRPr sz="1555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5339" indent="-40767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Char char="•"/>
              <a:defRPr sz="13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22374" indent="-40767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Char char="•"/>
              <a:defRPr sz="13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1304289" rtl="0" eaLnBrk="1" latinLnBrk="0" hangingPunct="1">
              <a:lnSpc>
                <a:spcPct val="11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sz="875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sz="257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PFA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原理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——PFA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与既往热能源有何不同？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DE88283-DF97-1637-EC5D-4B48711C50EC}"/>
              </a:ext>
            </a:extLst>
          </p:cNvPr>
          <p:cNvSpPr/>
          <p:nvPr/>
        </p:nvSpPr>
        <p:spPr>
          <a:xfrm>
            <a:off x="5141844" y="97182"/>
            <a:ext cx="2417832" cy="1267035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72000" rIns="0" bIns="72000" rtlCol="0" anchor="ctr"/>
          <a:lstStyle/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作者：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 Vázquez-Calvo S, et al</a:t>
            </a: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发表日期：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2026-02-24</a:t>
            </a: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研究类型：综述</a:t>
            </a:r>
            <a:endParaRPr lang="en-US" altLang="zh-CN" sz="12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 R" pitchFamily="18" charset="-122"/>
            </a:endParaRP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期刊：</a:t>
            </a:r>
            <a:r>
              <a:rPr lang="en-US" altLang="zh-CN" sz="1200" dirty="0" err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Arrhythm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 </a:t>
            </a:r>
            <a:r>
              <a:rPr lang="en-US" altLang="zh-CN" sz="1200" dirty="0" err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Electrophysiol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 Rev</a:t>
            </a:r>
          </a:p>
          <a:p>
            <a:pPr defTabSz="1279525">
              <a:spcAft>
                <a:spcPts val="600"/>
              </a:spcAft>
              <a:defRPr/>
            </a:pP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IF</a:t>
            </a: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3.3</a:t>
            </a:r>
          </a:p>
        </p:txBody>
      </p:sp>
      <p:sp>
        <p:nvSpPr>
          <p:cNvPr id="15" name="矩形: 圆角 484">
            <a:extLst>
              <a:ext uri="{FF2B5EF4-FFF2-40B4-BE49-F238E27FC236}">
                <a16:creationId xmlns:a16="http://schemas.microsoft.com/office/drawing/2014/main" id="{698FDE3E-2952-BF6F-5F77-D83F76513091}"/>
              </a:ext>
            </a:extLst>
          </p:cNvPr>
          <p:cNvSpPr/>
          <p:nvPr/>
        </p:nvSpPr>
        <p:spPr>
          <a:xfrm>
            <a:off x="3160747" y="8417609"/>
            <a:ext cx="1039829" cy="824761"/>
          </a:xfrm>
          <a:prstGeom prst="roundRect">
            <a:avLst>
              <a:gd name="adj" fmla="val 422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点击查看原文链接</a:t>
            </a:r>
            <a:endParaRPr kumimoji="1" lang="zh-CN" altLang="en-US" sz="14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117B8B6-BADA-5658-B573-A309705C3AB2}"/>
              </a:ext>
            </a:extLst>
          </p:cNvPr>
          <p:cNvSpPr txBox="1"/>
          <p:nvPr/>
        </p:nvSpPr>
        <p:spPr>
          <a:xfrm>
            <a:off x="709492" y="9355115"/>
            <a:ext cx="64872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https://</a:t>
            </a:r>
            <a:r>
              <a:rPr lang="en-US" altLang="zh-CN" sz="1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pmc.ncbi.nlm.nih.gov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/articles/PMC12983143/pdf/aer-15-e06.pdf</a:t>
            </a:r>
            <a:endParaRPr lang="zh-CN" alt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F37ADF8-9B40-E24C-B8CC-C62F94A6B2FA}"/>
              </a:ext>
            </a:extLst>
          </p:cNvPr>
          <p:cNvSpPr txBox="1"/>
          <p:nvPr/>
        </p:nvSpPr>
        <p:spPr>
          <a:xfrm>
            <a:off x="1659972" y="9978033"/>
            <a:ext cx="57236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*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版权问题暂不提供直接下载，如有学术交流需要，请联系内部人员</a:t>
            </a:r>
          </a:p>
        </p:txBody>
      </p:sp>
    </p:spTree>
    <p:extLst>
      <p:ext uri="{BB962C8B-B14F-4D97-AF65-F5344CB8AC3E}">
        <p14:creationId xmlns:p14="http://schemas.microsoft.com/office/powerpoint/2010/main" val="558524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301C4-3A52-4D58-CF47-1ECEF8843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44F03AD-5646-C40F-7260-FE48EE5927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4426" y="1564595"/>
            <a:ext cx="7197410" cy="106445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Advent of Pulsed Field Ablation for Atrial Fibrillation: State-of-the-Art Review</a:t>
            </a: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脉冲电场消融治疗心房颤动：前沿综述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431B47-6696-4787-D893-8112AB9E26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6715" y="10346316"/>
            <a:ext cx="6834187" cy="246221"/>
          </a:xfrm>
        </p:spPr>
        <p:txBody>
          <a:bodyPr/>
          <a:lstStyle/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800" b="1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参考文献：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Ha FJ,</a:t>
            </a:r>
            <a:r>
              <a:rPr lang="zh-CN" altLang="en-US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 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et</a:t>
            </a:r>
            <a:r>
              <a:rPr lang="zh-CN" altLang="en-US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 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al. Advent of Pulsed Field Ablation for Atrial Fibrillation: State-of-the-Art Review. Rev Cardiovasc Med. 2025 Dec 22;26(12):47497.</a:t>
            </a:r>
            <a:endParaRPr lang="en-US" altLang="zh-CN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FA1450B-C5A9-029D-317E-B7C19FC933DE}"/>
              </a:ext>
            </a:extLst>
          </p:cNvPr>
          <p:cNvSpPr txBox="1"/>
          <p:nvPr/>
        </p:nvSpPr>
        <p:spPr>
          <a:xfrm>
            <a:off x="362743" y="3232397"/>
            <a:ext cx="6834186" cy="3474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400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摘要：</a:t>
            </a:r>
            <a:endParaRPr lang="en-US" altLang="zh-CN" sz="1400" b="1" dirty="0"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脉冲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电场消融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(PFA)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是治疗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房颤的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新型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消融技术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，具有心肌组织选择性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，有助于避免损伤周围的非心脏结构。近期临床试验表明，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PFA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在预防心律失常复发方面不劣于传统消融（射频和冷冻球囊消融）。目前，大型注册研究数据表明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PFA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具有可接受的安全性。然而，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PFA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也伴随相关并发症风险，包括卒中、冠状动脉痉挛和血管内溶血。鉴于该技术的安全性、有效性以及优化手术流程，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PFA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的出现可能会降低房颤消融的患者选择门槛。本综述概述了 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PFA 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的生物物理学、导管设计、临床试验和注册试验数据、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PFA 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相关并发症，以及在房颤治疗领域未来的发展方向。</a:t>
            </a:r>
          </a:p>
        </p:txBody>
      </p:sp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0B91E893-125D-2EF1-E7F9-40CDF61B5C42}"/>
              </a:ext>
            </a:extLst>
          </p:cNvPr>
          <p:cNvSpPr txBox="1">
            <a:spLocks/>
          </p:cNvSpPr>
          <p:nvPr/>
        </p:nvSpPr>
        <p:spPr>
          <a:xfrm>
            <a:off x="362584" y="297560"/>
            <a:ext cx="6834505" cy="40722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1304289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  <a:defRPr sz="2000" b="1" i="0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0" indent="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None/>
              <a:defRPr sz="1555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5339" indent="-40767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Char char="•"/>
              <a:defRPr sz="13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22374" indent="-40767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Char char="•"/>
              <a:defRPr sz="13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1304289" rtl="0" eaLnBrk="1" latinLnBrk="0" hangingPunct="1">
              <a:lnSpc>
                <a:spcPct val="11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sz="875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sz="257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PFA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原理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——PFA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与既往热能源有何不同？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75350F6-DDDF-49B5-6181-0E0A60EE1989}"/>
              </a:ext>
            </a:extLst>
          </p:cNvPr>
          <p:cNvSpPr/>
          <p:nvPr/>
        </p:nvSpPr>
        <p:spPr>
          <a:xfrm>
            <a:off x="5429928" y="97182"/>
            <a:ext cx="2129747" cy="1267035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72000" rIns="0" bIns="72000" rtlCol="0" anchor="ctr"/>
          <a:lstStyle/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作者：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 Ha FJ, et al</a:t>
            </a: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发表日期：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2025-12-22</a:t>
            </a: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研究类型：综述</a:t>
            </a:r>
            <a:endParaRPr lang="en-US" altLang="zh-CN" sz="12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 R" pitchFamily="18" charset="-122"/>
            </a:endParaRP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期刊：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 Rev Cardiovasc Med</a:t>
            </a:r>
          </a:p>
          <a:p>
            <a:pPr defTabSz="1279525">
              <a:spcAft>
                <a:spcPts val="600"/>
              </a:spcAft>
              <a:defRPr/>
            </a:pP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IF</a:t>
            </a: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1.3</a:t>
            </a:r>
          </a:p>
        </p:txBody>
      </p:sp>
      <p:sp>
        <p:nvSpPr>
          <p:cNvPr id="15" name="矩形: 圆角 484">
            <a:extLst>
              <a:ext uri="{FF2B5EF4-FFF2-40B4-BE49-F238E27FC236}">
                <a16:creationId xmlns:a16="http://schemas.microsoft.com/office/drawing/2014/main" id="{F22ED12C-BDFE-30DB-F66E-9D48F6739BA9}"/>
              </a:ext>
            </a:extLst>
          </p:cNvPr>
          <p:cNvSpPr/>
          <p:nvPr/>
        </p:nvSpPr>
        <p:spPr>
          <a:xfrm>
            <a:off x="3160747" y="8417609"/>
            <a:ext cx="1039829" cy="824761"/>
          </a:xfrm>
          <a:prstGeom prst="roundRect">
            <a:avLst>
              <a:gd name="adj" fmla="val 422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点击查看原文链接</a:t>
            </a:r>
            <a:endParaRPr kumimoji="1" lang="zh-CN" altLang="en-US" sz="14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6ED1430-C893-66DF-C644-87AC00958965}"/>
              </a:ext>
            </a:extLst>
          </p:cNvPr>
          <p:cNvSpPr txBox="1"/>
          <p:nvPr/>
        </p:nvSpPr>
        <p:spPr>
          <a:xfrm>
            <a:off x="709492" y="9355115"/>
            <a:ext cx="64872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https://</a:t>
            </a:r>
            <a:r>
              <a:rPr lang="en-US" altLang="zh-CN" sz="1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pmc.ncbi.nlm.nih.gov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/articles/PMC12781022/pdf/2153-8174-26-12-47497.pdf</a:t>
            </a:r>
            <a:endParaRPr lang="zh-CN" alt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376800F-2038-773B-2822-60617C9806D1}"/>
              </a:ext>
            </a:extLst>
          </p:cNvPr>
          <p:cNvSpPr txBox="1"/>
          <p:nvPr/>
        </p:nvSpPr>
        <p:spPr>
          <a:xfrm>
            <a:off x="1659972" y="9978033"/>
            <a:ext cx="57236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*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版权问题暂不提供直接下载，如有学术交流需要，请联系内部人员</a:t>
            </a:r>
          </a:p>
        </p:txBody>
      </p:sp>
    </p:spTree>
    <p:extLst>
      <p:ext uri="{BB962C8B-B14F-4D97-AF65-F5344CB8AC3E}">
        <p14:creationId xmlns:p14="http://schemas.microsoft.com/office/powerpoint/2010/main" val="2689786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554CA-4758-26F4-879C-A25095D80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EF50757-3199-FA84-0266-6241C6F01F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2265" y="1588590"/>
            <a:ext cx="6834505" cy="106445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Pulsed field ablation: Disrupting technology in cardiac electrophysiology</a:t>
            </a: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脉冲电场消融：心脏电生理学领域的颠覆性技术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BBBF8B-DA18-59B4-9837-B89696131D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6715" y="10346316"/>
            <a:ext cx="6834187" cy="246221"/>
          </a:xfrm>
        </p:spPr>
        <p:txBody>
          <a:bodyPr/>
          <a:lstStyle/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800" b="1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参考文献：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Miklavčič </a:t>
            </a:r>
            <a:r>
              <a:rPr lang="en-US" altLang="zh-CN" sz="800" dirty="0" err="1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D,et</a:t>
            </a:r>
            <a:r>
              <a:rPr lang="zh-CN" altLang="en-US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 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al. Pulsed field ablation: Disrupting technology in cardiac electrophysiology. Heart Rhythm. 2026 Mar;23(3):581-592.</a:t>
            </a:r>
            <a:endParaRPr lang="en-US" altLang="zh-CN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7DA2772-D18A-107C-78CB-CCDFE9DB145F}"/>
              </a:ext>
            </a:extLst>
          </p:cNvPr>
          <p:cNvSpPr txBox="1"/>
          <p:nvPr/>
        </p:nvSpPr>
        <p:spPr>
          <a:xfrm>
            <a:off x="362584" y="3606303"/>
            <a:ext cx="6834186" cy="3043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400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摘要：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本综述从生物物理学的基本原理出发，聚焦于细胞膜、细胞及组织水平的电穿孔机制，旨在为临床观察到的疗效提供机制层面的解释。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本文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分析了脉冲电场消融非热损伤、组织选择性的优势与局限，梳理了相关不良事件，并强调有必要对不同厂商系统之间的效果进行标准化比较。结合其他生物医学领域数十年的电穿孔研究经验，研究认为，深入理解其科学原理是优化脉冲电场消融技术、改善长期疗效并保持其良好安全性的关键。此外，本文还探讨了目前尚待解决的问题，以及该技术在房颤与室性消融临床实践中的未来发展方向。</a:t>
            </a:r>
          </a:p>
        </p:txBody>
      </p:sp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22ED5B93-6002-CE3E-BAC3-9AEA40F89691}"/>
              </a:ext>
            </a:extLst>
          </p:cNvPr>
          <p:cNvSpPr txBox="1">
            <a:spLocks/>
          </p:cNvSpPr>
          <p:nvPr/>
        </p:nvSpPr>
        <p:spPr>
          <a:xfrm>
            <a:off x="362584" y="297560"/>
            <a:ext cx="6834505" cy="40722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1304289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  <a:defRPr sz="2000" b="1" i="0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0" indent="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None/>
              <a:defRPr sz="1555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5339" indent="-40767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Char char="•"/>
              <a:defRPr sz="13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22374" indent="-40767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Char char="•"/>
              <a:defRPr sz="13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1304289" rtl="0" eaLnBrk="1" latinLnBrk="0" hangingPunct="1">
              <a:lnSpc>
                <a:spcPct val="11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sz="875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sz="257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PFA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原理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——PFA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与既往热能源有何不同？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21888E7-89BE-A92B-B797-89C4A2E16781}"/>
              </a:ext>
            </a:extLst>
          </p:cNvPr>
          <p:cNvSpPr/>
          <p:nvPr/>
        </p:nvSpPr>
        <p:spPr>
          <a:xfrm>
            <a:off x="5745892" y="71269"/>
            <a:ext cx="2224216" cy="1267035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72000" rIns="0" bIns="72000" rtlCol="0" anchor="ctr"/>
          <a:lstStyle/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作者：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Miklavčič </a:t>
            </a:r>
            <a:r>
              <a:rPr lang="en-US" altLang="zh-CN" sz="1200" dirty="0" err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D,et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 al</a:t>
            </a: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发表日期：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2025-12-15</a:t>
            </a: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研究类型：综述</a:t>
            </a:r>
            <a:endParaRPr lang="en-US" altLang="zh-CN" sz="12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 R" pitchFamily="18" charset="-122"/>
            </a:endParaRP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期刊：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Heart Rhythm</a:t>
            </a:r>
          </a:p>
          <a:p>
            <a:pPr defTabSz="1279525">
              <a:spcAft>
                <a:spcPts val="600"/>
              </a:spcAft>
              <a:defRPr/>
            </a:pP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IF</a:t>
            </a: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5.8</a:t>
            </a:r>
          </a:p>
        </p:txBody>
      </p:sp>
      <p:sp>
        <p:nvSpPr>
          <p:cNvPr id="15" name="矩形: 圆角 484">
            <a:extLst>
              <a:ext uri="{FF2B5EF4-FFF2-40B4-BE49-F238E27FC236}">
                <a16:creationId xmlns:a16="http://schemas.microsoft.com/office/drawing/2014/main" id="{50FD89B8-E407-EC41-2EEC-BA426F306760}"/>
              </a:ext>
            </a:extLst>
          </p:cNvPr>
          <p:cNvSpPr/>
          <p:nvPr/>
        </p:nvSpPr>
        <p:spPr>
          <a:xfrm>
            <a:off x="3160747" y="8417609"/>
            <a:ext cx="1039829" cy="824761"/>
          </a:xfrm>
          <a:prstGeom prst="roundRect">
            <a:avLst>
              <a:gd name="adj" fmla="val 422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点击查看原文链接</a:t>
            </a:r>
            <a:endParaRPr kumimoji="1" lang="zh-CN" altLang="en-US" sz="14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CE9E590-4A95-1960-4E28-3272AE5D41AD}"/>
              </a:ext>
            </a:extLst>
          </p:cNvPr>
          <p:cNvSpPr txBox="1"/>
          <p:nvPr/>
        </p:nvSpPr>
        <p:spPr>
          <a:xfrm>
            <a:off x="709492" y="9355115"/>
            <a:ext cx="64872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https://</a:t>
            </a:r>
            <a:r>
              <a:rPr lang="en-US" altLang="zh-CN" sz="1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www.heartrhythmjournal.com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/article/S1547-5271(25)03160-1/</a:t>
            </a:r>
            <a:r>
              <a:rPr lang="en-US" altLang="zh-CN" sz="1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fulltext</a:t>
            </a:r>
            <a:endParaRPr lang="zh-CN" alt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0506840-0DFF-5485-6D04-8DF1F72887EC}"/>
              </a:ext>
            </a:extLst>
          </p:cNvPr>
          <p:cNvSpPr txBox="1"/>
          <p:nvPr/>
        </p:nvSpPr>
        <p:spPr>
          <a:xfrm>
            <a:off x="1659972" y="9978033"/>
            <a:ext cx="57236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*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版权问题暂不提供直接下载，如有学术交流需要，请联系内部人员</a:t>
            </a:r>
          </a:p>
        </p:txBody>
      </p:sp>
    </p:spTree>
    <p:extLst>
      <p:ext uri="{BB962C8B-B14F-4D97-AF65-F5344CB8AC3E}">
        <p14:creationId xmlns:p14="http://schemas.microsoft.com/office/powerpoint/2010/main" val="4291672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73C0A-ACA6-3377-12FD-7E8C98D4B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8D97DD0-05FC-77F9-9295-A7448F0910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4426" y="1749261"/>
            <a:ext cx="7197410" cy="69512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Pulsed field ablation: focused on atrial fibrillation ablation</a:t>
            </a: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脉冲电场消融：聚焦于心房颤动消融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8A74D5F-C003-A207-B2F9-CA08D1347C3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6715" y="10469426"/>
            <a:ext cx="6834187" cy="123111"/>
          </a:xfrm>
        </p:spPr>
        <p:txBody>
          <a:bodyPr/>
          <a:lstStyle/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800" b="1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参考文献：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Kim HJ,</a:t>
            </a:r>
            <a:r>
              <a:rPr lang="zh-CN" altLang="en-US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 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et</a:t>
            </a:r>
            <a:r>
              <a:rPr lang="zh-CN" altLang="en-US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 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al. Pulsed field ablation: focused on atrial fibrillation ablation. Korean J Intern Med. 2026 Mar;41(2):197-209. </a:t>
            </a:r>
            <a:endParaRPr lang="en-US" altLang="zh-CN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CCA1F4C-8B7D-E273-03F8-B21095F4CADC}"/>
              </a:ext>
            </a:extLst>
          </p:cNvPr>
          <p:cNvSpPr txBox="1"/>
          <p:nvPr/>
        </p:nvSpPr>
        <p:spPr>
          <a:xfrm>
            <a:off x="362743" y="3232397"/>
            <a:ext cx="6834186" cy="3043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400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摘要：</a:t>
            </a:r>
            <a:endParaRPr lang="en-US" altLang="zh-CN" sz="1400" b="1" dirty="0"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房颤是常见的持续性快速性心律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失常，患病率其日益增长，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医疗负担不断加重。对抗心律失常药物无效或不耐受，或存在左心室收缩功能减退的房颤患者可采用导管消融治疗。根据能量来源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分类，导管消融包括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射频消融（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RFA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）、冷冻消融、激光消融以及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新型的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脉冲电场消融（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PFA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）。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PFA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具有组织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选择性，与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RFA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和冷冻消融等热消融相比，对周围组织的损伤更小，极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具治疗前景。本文将总结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PFA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的生物物理原理和临床应用，并重点介绍其与传统热消融术相比的安全性和有效性。</a:t>
            </a:r>
          </a:p>
        </p:txBody>
      </p:sp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E09F6FC0-31E8-0177-2199-88A2E77649EF}"/>
              </a:ext>
            </a:extLst>
          </p:cNvPr>
          <p:cNvSpPr txBox="1">
            <a:spLocks/>
          </p:cNvSpPr>
          <p:nvPr/>
        </p:nvSpPr>
        <p:spPr>
          <a:xfrm>
            <a:off x="362584" y="297560"/>
            <a:ext cx="6834505" cy="40722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1304289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  <a:defRPr sz="2000" b="1" i="0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0" indent="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None/>
              <a:defRPr sz="1555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5339" indent="-40767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Char char="•"/>
              <a:defRPr sz="13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22374" indent="-40767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Char char="•"/>
              <a:defRPr sz="13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1304289" rtl="0" eaLnBrk="1" latinLnBrk="0" hangingPunct="1">
              <a:lnSpc>
                <a:spcPct val="11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sz="875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sz="257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PFA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原理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——PFA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与既往热能源有何不同？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14CE97C-84E3-F755-7C66-3BD18F6F048F}"/>
              </a:ext>
            </a:extLst>
          </p:cNvPr>
          <p:cNvSpPr/>
          <p:nvPr/>
        </p:nvSpPr>
        <p:spPr>
          <a:xfrm>
            <a:off x="5429928" y="97182"/>
            <a:ext cx="2129747" cy="1267035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72000" rIns="0" bIns="72000" rtlCol="0" anchor="ctr"/>
          <a:lstStyle/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作者：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 Kim HJ, et al</a:t>
            </a: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发表日期：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2025-12-04</a:t>
            </a: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研究类型：综述</a:t>
            </a:r>
            <a:endParaRPr lang="en-US" altLang="zh-CN" sz="12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 R" pitchFamily="18" charset="-122"/>
            </a:endParaRP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期刊：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Korean J Intern Med</a:t>
            </a:r>
          </a:p>
          <a:p>
            <a:pPr defTabSz="1279525">
              <a:spcAft>
                <a:spcPts val="600"/>
              </a:spcAft>
              <a:defRPr/>
            </a:pP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IF</a:t>
            </a: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2.4</a:t>
            </a:r>
          </a:p>
        </p:txBody>
      </p:sp>
      <p:sp>
        <p:nvSpPr>
          <p:cNvPr id="15" name="矩形: 圆角 484">
            <a:extLst>
              <a:ext uri="{FF2B5EF4-FFF2-40B4-BE49-F238E27FC236}">
                <a16:creationId xmlns:a16="http://schemas.microsoft.com/office/drawing/2014/main" id="{D39B9C36-2B1D-3E91-2BF0-FA0459CDEF81}"/>
              </a:ext>
            </a:extLst>
          </p:cNvPr>
          <p:cNvSpPr/>
          <p:nvPr/>
        </p:nvSpPr>
        <p:spPr>
          <a:xfrm>
            <a:off x="3160747" y="8417609"/>
            <a:ext cx="1039829" cy="824761"/>
          </a:xfrm>
          <a:prstGeom prst="roundRect">
            <a:avLst>
              <a:gd name="adj" fmla="val 422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点击查看原文链接</a:t>
            </a:r>
            <a:endParaRPr kumimoji="1" lang="zh-CN" altLang="en-US" sz="14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5E8F75E-C3F7-1CB7-2530-A27BE1B9CE01}"/>
              </a:ext>
            </a:extLst>
          </p:cNvPr>
          <p:cNvSpPr txBox="1"/>
          <p:nvPr/>
        </p:nvSpPr>
        <p:spPr>
          <a:xfrm>
            <a:off x="709492" y="9355115"/>
            <a:ext cx="64872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https://</a:t>
            </a:r>
            <a:r>
              <a:rPr lang="en-US" altLang="zh-CN" sz="1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pmc.ncbi.nlm.nih.gov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/articles/PMC12999255/pdf/kjim-2025-193.pdf</a:t>
            </a:r>
            <a:endParaRPr lang="zh-CN" alt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742C79B-FDD7-531B-EBA4-44AA2FFDEC6C}"/>
              </a:ext>
            </a:extLst>
          </p:cNvPr>
          <p:cNvSpPr txBox="1"/>
          <p:nvPr/>
        </p:nvSpPr>
        <p:spPr>
          <a:xfrm>
            <a:off x="1659972" y="9978033"/>
            <a:ext cx="57236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*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版权问题暂不提供直接下载，如有学术交流需要，请联系内部人员</a:t>
            </a:r>
          </a:p>
        </p:txBody>
      </p:sp>
    </p:spTree>
    <p:extLst>
      <p:ext uri="{BB962C8B-B14F-4D97-AF65-F5344CB8AC3E}">
        <p14:creationId xmlns:p14="http://schemas.microsoft.com/office/powerpoint/2010/main" val="166230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29B48-3D1D-051C-1AC3-670C4887C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7164C9AF-BB75-DD6F-B72E-C66DB6DB75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4426" y="1742171"/>
            <a:ext cx="7197410" cy="106452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Evaluation of variable inter-pulse delay and timing on pulsed field ablation lesion characteristics</a:t>
            </a: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评估脉冲电场消融中不同脉冲间隔和时序对损伤特征的影响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5B78E5-69E4-9E6C-8AA1-6DD31F77E5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2742" y="10422718"/>
            <a:ext cx="6834187" cy="246221"/>
          </a:xfrm>
        </p:spPr>
        <p:txBody>
          <a:bodyPr/>
          <a:lstStyle/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800" b="1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参考文献：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Steiger NA,</a:t>
            </a:r>
            <a:r>
              <a:rPr lang="zh-CN" altLang="en-US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 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et</a:t>
            </a:r>
            <a:r>
              <a:rPr lang="zh-CN" altLang="en-US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 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al. Evaluation of variable inter-pulse delay and timing on pulsed field ablation lesion characteristics. J </a:t>
            </a:r>
            <a:r>
              <a:rPr lang="en-US" altLang="zh-CN" sz="800" dirty="0" err="1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Interv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 Card </a:t>
            </a:r>
            <a:r>
              <a:rPr lang="en-US" altLang="zh-CN" sz="800" dirty="0" err="1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Electrophysiol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. 2025 Oct 22.</a:t>
            </a:r>
            <a:endParaRPr lang="en-US" altLang="zh-CN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62E4FEF-A079-AD85-68EA-274BA7E005DF}"/>
              </a:ext>
            </a:extLst>
          </p:cNvPr>
          <p:cNvSpPr txBox="1"/>
          <p:nvPr/>
        </p:nvSpPr>
        <p:spPr>
          <a:xfrm>
            <a:off x="362742" y="2935662"/>
            <a:ext cx="6834186" cy="4767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400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摘要：</a:t>
            </a:r>
            <a:endParaRPr lang="en-US" altLang="zh-CN" sz="1400" b="1" dirty="0"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400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目的：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基于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体外电穿孔模型，探讨脉冲时间周期属性对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PFA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消融灶特征的影响。</a:t>
            </a:r>
          </a:p>
          <a:p>
            <a:pPr>
              <a:lnSpc>
                <a:spcPct val="200000"/>
              </a:lnSpc>
            </a:pPr>
            <a:r>
              <a:rPr lang="zh-CN" altLang="en-US" sz="1400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方法：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使用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3.5 mm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电极导管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与可编程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PFA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消融仪连接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，对马铃薯切片进行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单极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PFA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。设置的脉冲参数包括：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1–3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个双相脉冲串、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1–50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个周期、频率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50 kHz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、脉冲间隔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200–1310 </a:t>
            </a:r>
            <a:r>
              <a:rPr lang="en-US" altLang="zh-CN" sz="14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ms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，以及放电间隔介于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5–20 s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的重复放电。实验还设置了不同的输出电压。消融后对切片进行染色、测量。</a:t>
            </a:r>
          </a:p>
          <a:p>
            <a:pPr>
              <a:lnSpc>
                <a:spcPct val="200000"/>
              </a:lnSpc>
            </a:pPr>
            <a:r>
              <a:rPr lang="zh-CN" altLang="en-US" sz="1400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结果：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增加周期数和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PFA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放电次数可使消融灶体积增大，但尽管总能量增加，仍会出现平台效应。脉冲间隔与消融深度呈线性相关，而放电间隔对损伤灶大小无显著影响。</a:t>
            </a:r>
          </a:p>
          <a:p>
            <a:pPr>
              <a:lnSpc>
                <a:spcPct val="200000"/>
              </a:lnSpc>
            </a:pPr>
            <a:r>
              <a:rPr lang="zh-CN" altLang="en-US" sz="1400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结论：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在总能量不变的前提下，延长脉冲间隔即可增加消融深度，其效果与增加周期数或放电次数相当。因此，调节脉冲间隔可在不提高总能量的前提下控制消融深度，从而降低高能量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PFA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脉冲带来的潜在风险。</a:t>
            </a:r>
          </a:p>
        </p:txBody>
      </p:sp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D57C1B27-2FD2-740C-0B92-FE14C2476559}"/>
              </a:ext>
            </a:extLst>
          </p:cNvPr>
          <p:cNvSpPr txBox="1">
            <a:spLocks/>
          </p:cNvSpPr>
          <p:nvPr/>
        </p:nvSpPr>
        <p:spPr>
          <a:xfrm>
            <a:off x="362584" y="297560"/>
            <a:ext cx="6834505" cy="40722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1304289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  <a:defRPr sz="2000" b="1" i="0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0" indent="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None/>
              <a:defRPr sz="1555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5339" indent="-40767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Char char="•"/>
              <a:defRPr sz="13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22374" indent="-40767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Char char="•"/>
              <a:defRPr sz="13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1304289" rtl="0" eaLnBrk="1" latinLnBrk="0" hangingPunct="1">
              <a:lnSpc>
                <a:spcPct val="11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sz="875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sz="257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PFA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原理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——PFA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与既往热能源有何不同？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AB6A659-08C7-7517-EE2C-32E462A75DE3}"/>
              </a:ext>
            </a:extLst>
          </p:cNvPr>
          <p:cNvSpPr/>
          <p:nvPr/>
        </p:nvSpPr>
        <p:spPr>
          <a:xfrm>
            <a:off x="5408342" y="71269"/>
            <a:ext cx="2151334" cy="1267035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72000" rIns="0" bIns="72000" rtlCol="0" anchor="ctr"/>
          <a:lstStyle/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作者：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Steiger </a:t>
            </a:r>
            <a:r>
              <a:rPr lang="en-US" altLang="zh-CN" sz="1200" dirty="0" err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NA,et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 al</a:t>
            </a: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发表日期：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2025-10-22</a:t>
            </a: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研究类型：土豆模型</a:t>
            </a:r>
            <a:endParaRPr lang="en-US" altLang="zh-CN" sz="12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 R" pitchFamily="18" charset="-122"/>
            </a:endParaRP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期刊：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J </a:t>
            </a:r>
            <a:r>
              <a:rPr lang="en-US" altLang="zh-CN" sz="1200" dirty="0" err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Interv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 Card </a:t>
            </a:r>
            <a:r>
              <a:rPr lang="en-US" altLang="zh-CN" sz="1200" dirty="0" err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Electrophysiol</a:t>
            </a:r>
            <a:endParaRPr lang="en-US" altLang="zh-CN" sz="12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 R" pitchFamily="18" charset="-122"/>
              <a:sym typeface="+mn-ea"/>
            </a:endParaRPr>
          </a:p>
          <a:p>
            <a:pPr defTabSz="1279525">
              <a:spcAft>
                <a:spcPts val="600"/>
              </a:spcAft>
              <a:defRPr/>
            </a:pP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IF</a:t>
            </a: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2.6</a:t>
            </a:r>
          </a:p>
        </p:txBody>
      </p:sp>
      <p:sp>
        <p:nvSpPr>
          <p:cNvPr id="15" name="矩形: 圆角 484">
            <a:extLst>
              <a:ext uri="{FF2B5EF4-FFF2-40B4-BE49-F238E27FC236}">
                <a16:creationId xmlns:a16="http://schemas.microsoft.com/office/drawing/2014/main" id="{9AF20540-E43A-54B2-1795-EEE0D5BC6450}"/>
              </a:ext>
            </a:extLst>
          </p:cNvPr>
          <p:cNvSpPr/>
          <p:nvPr/>
        </p:nvSpPr>
        <p:spPr>
          <a:xfrm>
            <a:off x="3160747" y="8417609"/>
            <a:ext cx="1039829" cy="824761"/>
          </a:xfrm>
          <a:prstGeom prst="roundRect">
            <a:avLst>
              <a:gd name="adj" fmla="val 422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点击查看原文链接</a:t>
            </a:r>
            <a:endParaRPr kumimoji="1" lang="zh-CN" altLang="en-US" sz="14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2533C9D-1017-0AB6-6F65-178107D6FDD2}"/>
              </a:ext>
            </a:extLst>
          </p:cNvPr>
          <p:cNvSpPr txBox="1"/>
          <p:nvPr/>
        </p:nvSpPr>
        <p:spPr>
          <a:xfrm>
            <a:off x="709492" y="9355115"/>
            <a:ext cx="64872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https://</a:t>
            </a:r>
            <a:r>
              <a:rPr lang="en-US" altLang="zh-CN" sz="1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link.springer.com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/article/10.1007/s10840-025-02142-4</a:t>
            </a:r>
            <a:endParaRPr lang="zh-CN" alt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4561AE9-6CBA-2A9B-70F0-5FE2BF9D6ACF}"/>
              </a:ext>
            </a:extLst>
          </p:cNvPr>
          <p:cNvSpPr txBox="1"/>
          <p:nvPr/>
        </p:nvSpPr>
        <p:spPr>
          <a:xfrm>
            <a:off x="1659972" y="9978033"/>
            <a:ext cx="57236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*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版权问题暂不提供直接下载，如有学术交流需要，请联系内部人员</a:t>
            </a:r>
          </a:p>
        </p:txBody>
      </p:sp>
    </p:spTree>
    <p:extLst>
      <p:ext uri="{BB962C8B-B14F-4D97-AF65-F5344CB8AC3E}">
        <p14:creationId xmlns:p14="http://schemas.microsoft.com/office/powerpoint/2010/main" val="3668865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2CF62-04D9-24CB-43BA-6B7A29D00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BC39758-5D85-449B-EB98-1DD038F1A7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4426" y="1623283"/>
            <a:ext cx="7197410" cy="106452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Complexity and Perplexity of Pulsed Field Ablation: An Engineering Perspective</a:t>
            </a: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脉冲电场消融的复杂性和难点：工程学视角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04C04A-26F4-6806-F685-466B7BB4570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6715" y="10346316"/>
            <a:ext cx="6834187" cy="246221"/>
          </a:xfrm>
        </p:spPr>
        <p:txBody>
          <a:bodyPr/>
          <a:lstStyle/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800" b="1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参考文献：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Kos B,</a:t>
            </a:r>
            <a:r>
              <a:rPr lang="zh-CN" altLang="en-US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 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et</a:t>
            </a:r>
            <a:r>
              <a:rPr lang="zh-CN" altLang="en-US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 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al. Complexity and Perplexity of Pulsed Field Ablation: An Engineering Perspective. </a:t>
            </a:r>
            <a:r>
              <a:rPr lang="en-US" altLang="zh-CN" sz="800" dirty="0" err="1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Arrhythm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 </a:t>
            </a:r>
            <a:r>
              <a:rPr lang="en-US" altLang="zh-CN" sz="800" dirty="0" err="1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Electrophysiol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 Rev. 2025 Oct 13;14:e24.</a:t>
            </a:r>
            <a:endParaRPr lang="en-US" altLang="zh-CN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F603658-2D85-6F72-05F3-ADEC8EC883CE}"/>
              </a:ext>
            </a:extLst>
          </p:cNvPr>
          <p:cNvSpPr txBox="1"/>
          <p:nvPr/>
        </p:nvSpPr>
        <p:spPr>
          <a:xfrm>
            <a:off x="362743" y="3232397"/>
            <a:ext cx="6834186" cy="3043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400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摘要：</a:t>
            </a:r>
            <a:endParaRPr lang="en-US" altLang="zh-CN" sz="1400" b="1" dirty="0"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PFA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是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一种非热、选择性的心脏消融技术，具有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广阔前景，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但也存在一些担忧，尤其在波形设计方面仍存在未解的问题。为深入理解安全、高效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PFA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系统设计与开发中的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挑战，本文从细胞膜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膜、细胞及组织三个层面阐述了电穿孔的基本机制并讨论了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PFA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系统中三个相互依赖的核心组成部分：波形、导管和消融仪。文中回顾了不同波形参数对治疗效果的影响，并重点分析了三者搭配不当对设计安全高效的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PFA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系统可能产生的后果。</a:t>
            </a:r>
          </a:p>
        </p:txBody>
      </p:sp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FB5AE405-4110-A323-5082-834FCA64760D}"/>
              </a:ext>
            </a:extLst>
          </p:cNvPr>
          <p:cNvSpPr txBox="1">
            <a:spLocks/>
          </p:cNvSpPr>
          <p:nvPr/>
        </p:nvSpPr>
        <p:spPr>
          <a:xfrm>
            <a:off x="362584" y="297560"/>
            <a:ext cx="6834505" cy="40722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1304289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  <a:defRPr sz="2000" b="1" i="0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0" indent="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None/>
              <a:defRPr sz="1555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5339" indent="-40767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Char char="•"/>
              <a:defRPr sz="13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22374" indent="-40767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Char char="•"/>
              <a:defRPr sz="13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1304289" rtl="0" eaLnBrk="1" latinLnBrk="0" hangingPunct="1">
              <a:lnSpc>
                <a:spcPct val="11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sz="875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sz="257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PFA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原理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——PFA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与既往热能源有何不同？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0146558-E3DD-D4B9-30F5-DBE597B63F67}"/>
              </a:ext>
            </a:extLst>
          </p:cNvPr>
          <p:cNvSpPr/>
          <p:nvPr/>
        </p:nvSpPr>
        <p:spPr>
          <a:xfrm>
            <a:off x="5745892" y="71269"/>
            <a:ext cx="1813783" cy="1267035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72000" rIns="0" bIns="72000" rtlCol="0" anchor="ctr"/>
          <a:lstStyle/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作者：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Kos </a:t>
            </a:r>
            <a:r>
              <a:rPr lang="en-US" altLang="zh-CN" sz="1200" dirty="0" err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B,et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 al</a:t>
            </a: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发表日期：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2025-10-13</a:t>
            </a: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研究类型：综述</a:t>
            </a:r>
            <a:endParaRPr lang="en-US" altLang="zh-CN" sz="12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 R" pitchFamily="18" charset="-122"/>
            </a:endParaRP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期刊：</a:t>
            </a:r>
            <a:r>
              <a:rPr lang="en-US" altLang="zh-CN" sz="1200" dirty="0" err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Arrhythm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 </a:t>
            </a:r>
            <a:r>
              <a:rPr lang="en-US" altLang="zh-CN" sz="1200" dirty="0" err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Electrophysiol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 Rev</a:t>
            </a:r>
          </a:p>
          <a:p>
            <a:pPr defTabSz="1279525">
              <a:spcAft>
                <a:spcPts val="600"/>
              </a:spcAft>
              <a:defRPr/>
            </a:pP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IF</a:t>
            </a: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3.3</a:t>
            </a:r>
          </a:p>
        </p:txBody>
      </p:sp>
      <p:sp>
        <p:nvSpPr>
          <p:cNvPr id="15" name="矩形: 圆角 484">
            <a:extLst>
              <a:ext uri="{FF2B5EF4-FFF2-40B4-BE49-F238E27FC236}">
                <a16:creationId xmlns:a16="http://schemas.microsoft.com/office/drawing/2014/main" id="{DB8349AA-38A9-0DFB-9268-A2A098EABAE0}"/>
              </a:ext>
            </a:extLst>
          </p:cNvPr>
          <p:cNvSpPr/>
          <p:nvPr/>
        </p:nvSpPr>
        <p:spPr>
          <a:xfrm>
            <a:off x="3160747" y="8417609"/>
            <a:ext cx="1039829" cy="824761"/>
          </a:xfrm>
          <a:prstGeom prst="roundRect">
            <a:avLst>
              <a:gd name="adj" fmla="val 422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点击查看原文链接</a:t>
            </a:r>
            <a:endParaRPr kumimoji="1" lang="zh-CN" altLang="en-US" sz="14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ADEA088-C4C2-4F5A-9C9D-B56A3AB23E6F}"/>
              </a:ext>
            </a:extLst>
          </p:cNvPr>
          <p:cNvSpPr txBox="1"/>
          <p:nvPr/>
        </p:nvSpPr>
        <p:spPr>
          <a:xfrm>
            <a:off x="709492" y="9355115"/>
            <a:ext cx="64872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https://</a:t>
            </a:r>
            <a:r>
              <a:rPr lang="en-US" altLang="zh-CN" sz="1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pmc.ncbi.nlm.nih.gov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/articles/PMC12590401/pdf/aer-14-e24.pdf</a:t>
            </a:r>
            <a:endParaRPr lang="zh-CN" alt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02215EA-0327-2423-470E-C1E10FAC5158}"/>
              </a:ext>
            </a:extLst>
          </p:cNvPr>
          <p:cNvSpPr txBox="1"/>
          <p:nvPr/>
        </p:nvSpPr>
        <p:spPr>
          <a:xfrm>
            <a:off x="1659972" y="9978033"/>
            <a:ext cx="57236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*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版权问题暂不提供直接下载，如有学术交流需要，请联系内部人员</a:t>
            </a:r>
          </a:p>
        </p:txBody>
      </p:sp>
    </p:spTree>
    <p:extLst>
      <p:ext uri="{BB962C8B-B14F-4D97-AF65-F5344CB8AC3E}">
        <p14:creationId xmlns:p14="http://schemas.microsoft.com/office/powerpoint/2010/main" val="908215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AB0AC-A6AF-738F-A526-DCE410285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2ADB4AE-4FD8-7027-CDF8-87E6A42289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2265" y="1588590"/>
            <a:ext cx="7197410" cy="106445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Biophysics and Clinical Effectiveness of Irreversible Electroporation for Catheter Ablation of Atrial Fibrillation</a:t>
            </a: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不可逆电穿孔导管消融治疗房颤的生物物理学和临床疗效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1A6A3D-0733-A3FD-7619-8D93BD067E4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6715" y="10346316"/>
            <a:ext cx="6834187" cy="246221"/>
          </a:xfrm>
        </p:spPr>
        <p:txBody>
          <a:bodyPr/>
          <a:lstStyle/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800" b="1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参考文献：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Eberl AS, et</a:t>
            </a:r>
            <a:r>
              <a:rPr lang="zh-CN" altLang="en-US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 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al. Biophysics and Clinical Effectiveness of Irreversible Electroporation for Catheter Ablation of Atrial Fibrillation. J Cardiovasc Dev Dis. 2025 Jun 7;12(6):218. </a:t>
            </a:r>
            <a:endParaRPr lang="en-US" altLang="zh-CN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F264E3D-BBF1-E14C-8652-B06C6C64F39E}"/>
              </a:ext>
            </a:extLst>
          </p:cNvPr>
          <p:cNvSpPr txBox="1"/>
          <p:nvPr/>
        </p:nvSpPr>
        <p:spPr>
          <a:xfrm>
            <a:off x="362584" y="3606303"/>
            <a:ext cx="6834186" cy="3043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400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摘要：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深入探究电穿孔（即运用脉冲电场实现组织消融的机制原理）所涉及的生物物理学知识，对于推动这一新兴技术持续发展具有至关重要的意义。本综述系统梳理了近年来相关领域的关键文献，对当前的研究进展与未来发展趋势进行了全面概括。研究阐述了脉冲电场消融（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PFA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）在细胞层面、物理层面以及技术层面的基础理论，并分析了其潜在应用优势与现存局限性。进一步深化对这些生物物理机制的理解，明确产生持久损伤灶所需的关键参数，将有助于优化临床治疗效果，并推动该技术领域的创新发展。</a:t>
            </a:r>
          </a:p>
        </p:txBody>
      </p:sp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1219E557-4D2E-D57C-6F9D-72361EE7CFCF}"/>
              </a:ext>
            </a:extLst>
          </p:cNvPr>
          <p:cNvSpPr txBox="1">
            <a:spLocks/>
          </p:cNvSpPr>
          <p:nvPr/>
        </p:nvSpPr>
        <p:spPr>
          <a:xfrm>
            <a:off x="362584" y="297560"/>
            <a:ext cx="6834505" cy="40722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1304289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  <a:defRPr sz="2000" b="1" i="0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0" indent="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None/>
              <a:defRPr sz="1555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5339" indent="-40767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Char char="•"/>
              <a:defRPr sz="13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22374" indent="-40767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Char char="•"/>
              <a:defRPr sz="13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1304289" rtl="0" eaLnBrk="1" latinLnBrk="0" hangingPunct="1">
              <a:lnSpc>
                <a:spcPct val="11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sz="875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sz="257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PFA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原理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——PFA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与既往热能源有何不同？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5FB1B5C-A123-ED91-337A-C540B84F94B3}"/>
              </a:ext>
            </a:extLst>
          </p:cNvPr>
          <p:cNvSpPr/>
          <p:nvPr/>
        </p:nvSpPr>
        <p:spPr>
          <a:xfrm>
            <a:off x="5745892" y="71269"/>
            <a:ext cx="1813783" cy="1267035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72000" rIns="0" bIns="72000" rtlCol="0" anchor="ctr"/>
          <a:lstStyle/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作者：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Eberl AS, et al</a:t>
            </a: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发表日期：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2025-06-07</a:t>
            </a: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研究类型：综述</a:t>
            </a:r>
            <a:endParaRPr lang="en-US" altLang="zh-CN" sz="12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 R" pitchFamily="18" charset="-122"/>
            </a:endParaRP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期刊：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J Cardiovasc Dev Dis</a:t>
            </a:r>
          </a:p>
          <a:p>
            <a:pPr defTabSz="1279525">
              <a:spcAft>
                <a:spcPts val="600"/>
              </a:spcAft>
              <a:defRPr/>
            </a:pP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IF</a:t>
            </a: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2.3</a:t>
            </a:r>
          </a:p>
        </p:txBody>
      </p:sp>
      <p:sp>
        <p:nvSpPr>
          <p:cNvPr id="15" name="矩形: 圆角 484">
            <a:extLst>
              <a:ext uri="{FF2B5EF4-FFF2-40B4-BE49-F238E27FC236}">
                <a16:creationId xmlns:a16="http://schemas.microsoft.com/office/drawing/2014/main" id="{EBAB8C52-035D-DF49-67D0-CDC2F8AE5725}"/>
              </a:ext>
            </a:extLst>
          </p:cNvPr>
          <p:cNvSpPr/>
          <p:nvPr/>
        </p:nvSpPr>
        <p:spPr>
          <a:xfrm>
            <a:off x="3160747" y="8417609"/>
            <a:ext cx="1039829" cy="824761"/>
          </a:xfrm>
          <a:prstGeom prst="roundRect">
            <a:avLst>
              <a:gd name="adj" fmla="val 422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点击查看原文链接</a:t>
            </a:r>
            <a:endParaRPr kumimoji="1" lang="zh-CN" altLang="en-US" sz="14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5E96AF1-6E6E-81E6-6CBB-EAEE71250DB5}"/>
              </a:ext>
            </a:extLst>
          </p:cNvPr>
          <p:cNvSpPr txBox="1"/>
          <p:nvPr/>
        </p:nvSpPr>
        <p:spPr>
          <a:xfrm>
            <a:off x="709492" y="9355115"/>
            <a:ext cx="64872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https://</a:t>
            </a:r>
            <a:r>
              <a:rPr lang="en-US" altLang="zh-CN" sz="1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pmc.ncbi.nlm.nih.gov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/articles/PMC12194562/pdf/jcdd-12-00218.pdf</a:t>
            </a:r>
            <a:endParaRPr lang="zh-CN" alt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1E52C76-3165-B4E4-4EA4-88BBAC8C52EA}"/>
              </a:ext>
            </a:extLst>
          </p:cNvPr>
          <p:cNvSpPr txBox="1"/>
          <p:nvPr/>
        </p:nvSpPr>
        <p:spPr>
          <a:xfrm>
            <a:off x="1659972" y="9978033"/>
            <a:ext cx="57236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*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版权问题暂不提供直接下载，如有学术交流需要，请联系内部人员</a:t>
            </a:r>
          </a:p>
        </p:txBody>
      </p:sp>
    </p:spTree>
    <p:extLst>
      <p:ext uri="{BB962C8B-B14F-4D97-AF65-F5344CB8AC3E}">
        <p14:creationId xmlns:p14="http://schemas.microsoft.com/office/powerpoint/2010/main" val="1931469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5FCFC-B639-F7CC-B649-CC437ABCE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6772EAB-EBF1-CC1A-1B01-310C0313CF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4426" y="1807981"/>
            <a:ext cx="7197410" cy="69512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Pulsed Field Ablation: A Review of Preclinical and Clinical Studies</a:t>
            </a: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脉冲电场消融：临床前和临床研究综述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AD73BD1-027B-DB19-8751-E2FB938070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6715" y="10346316"/>
            <a:ext cx="6834187" cy="246221"/>
          </a:xfrm>
        </p:spPr>
        <p:txBody>
          <a:bodyPr/>
          <a:lstStyle/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800" b="1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参考文献：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Sullivan AP, Aguilar M, Laksman Z. Pulsed Field Ablation: A Review of Preclinical and Clinical Studies. Bioengineering (Basel). 2025 Mar 22;12(4):329.</a:t>
            </a:r>
            <a:endParaRPr lang="en-US" altLang="zh-CN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B4D50F5-9CEB-525B-C5F4-ADF14E4BAD8D}"/>
              </a:ext>
            </a:extLst>
          </p:cNvPr>
          <p:cNvSpPr txBox="1"/>
          <p:nvPr/>
        </p:nvSpPr>
        <p:spPr>
          <a:xfrm>
            <a:off x="362584" y="3606303"/>
            <a:ext cx="6834186" cy="3043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400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摘要：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脉冲电场消融（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PFA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）是一项新兴技术，利用超短高压电脉冲在细胞膜形成纳米孔，通过不可逆电穿孔（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IRE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）诱导细胞凋亡。该技术组织选择性高，可降低对邻近重要结构的附带损伤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风险。初步研究表明，在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心电生理领域，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PFA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在即刻肺静脉隔离及损伤持久性上效果良好，无复发性心房心律失常情况与传统热消融相当。虽需更多大规模研究验证长期疗效和安全性，但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PFA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有望成部分心脏消融适应症的首选能量源。本综述梳理现有临床前及临床数据，概述了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IRE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原理、生物特性及其在心脏电生理的应用。</a:t>
            </a:r>
          </a:p>
        </p:txBody>
      </p:sp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0AA63154-CAB1-0750-6F89-45CC1E94F246}"/>
              </a:ext>
            </a:extLst>
          </p:cNvPr>
          <p:cNvSpPr txBox="1">
            <a:spLocks/>
          </p:cNvSpPr>
          <p:nvPr/>
        </p:nvSpPr>
        <p:spPr>
          <a:xfrm>
            <a:off x="362584" y="297560"/>
            <a:ext cx="6834505" cy="40722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1304289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  <a:defRPr sz="2000" b="1" i="0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0" indent="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None/>
              <a:defRPr sz="1555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5339" indent="-40767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Char char="•"/>
              <a:defRPr sz="13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22374" indent="-40767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Char char="•"/>
              <a:defRPr sz="13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1304289" rtl="0" eaLnBrk="1" latinLnBrk="0" hangingPunct="1">
              <a:lnSpc>
                <a:spcPct val="11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sz="875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sz="257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PFA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原理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——PFA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与既往热能源有何不同？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BB3BD95-6C25-AD6F-2AF2-CFF650BB6FA7}"/>
              </a:ext>
            </a:extLst>
          </p:cNvPr>
          <p:cNvSpPr/>
          <p:nvPr/>
        </p:nvSpPr>
        <p:spPr>
          <a:xfrm>
            <a:off x="5745892" y="71269"/>
            <a:ext cx="1813783" cy="1267035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72000" rIns="0" bIns="72000" rtlCol="0" anchor="ctr"/>
          <a:lstStyle/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作者：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Sullivan AP,</a:t>
            </a: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 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et al</a:t>
            </a: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发表日期：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2025-03-22</a:t>
            </a: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研究类型：综述</a:t>
            </a:r>
            <a:endParaRPr lang="en-US" altLang="zh-CN" sz="12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 R" pitchFamily="18" charset="-122"/>
            </a:endParaRP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期刊：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Bioengineering (Basel)</a:t>
            </a:r>
          </a:p>
          <a:p>
            <a:pPr defTabSz="1279525">
              <a:spcAft>
                <a:spcPts val="600"/>
              </a:spcAft>
              <a:defRPr/>
            </a:pP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IF</a:t>
            </a: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3.7</a:t>
            </a:r>
          </a:p>
        </p:txBody>
      </p:sp>
      <p:sp>
        <p:nvSpPr>
          <p:cNvPr id="15" name="矩形: 圆角 484">
            <a:extLst>
              <a:ext uri="{FF2B5EF4-FFF2-40B4-BE49-F238E27FC236}">
                <a16:creationId xmlns:a16="http://schemas.microsoft.com/office/drawing/2014/main" id="{13BAF6A6-DD8E-13E6-640C-5F8A59C167E4}"/>
              </a:ext>
            </a:extLst>
          </p:cNvPr>
          <p:cNvSpPr/>
          <p:nvPr/>
        </p:nvSpPr>
        <p:spPr>
          <a:xfrm>
            <a:off x="3160747" y="8417609"/>
            <a:ext cx="1039829" cy="824761"/>
          </a:xfrm>
          <a:prstGeom prst="roundRect">
            <a:avLst>
              <a:gd name="adj" fmla="val 422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点击查看原文链接</a:t>
            </a:r>
            <a:endParaRPr kumimoji="1" lang="zh-CN" altLang="en-US" sz="14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D0994B9-3006-F0F4-C03A-78FF5F47CE08}"/>
              </a:ext>
            </a:extLst>
          </p:cNvPr>
          <p:cNvSpPr txBox="1"/>
          <p:nvPr/>
        </p:nvSpPr>
        <p:spPr>
          <a:xfrm>
            <a:off x="709492" y="9355115"/>
            <a:ext cx="64872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https://</a:t>
            </a:r>
            <a:r>
              <a:rPr lang="en-US" altLang="zh-CN" sz="1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pmc.ncbi.nlm.nih.gov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/articles/PMC12024434/pdf/bioengineering-12-00329.pdf</a:t>
            </a:r>
            <a:endParaRPr lang="zh-CN" alt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6ABE80-032C-0305-3360-F312E8DCEF97}"/>
              </a:ext>
            </a:extLst>
          </p:cNvPr>
          <p:cNvSpPr txBox="1"/>
          <p:nvPr/>
        </p:nvSpPr>
        <p:spPr>
          <a:xfrm>
            <a:off x="1659972" y="9978033"/>
            <a:ext cx="57236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*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版权问题暂不提供直接下载，如有学术交流需要，请联系内部人员</a:t>
            </a:r>
          </a:p>
        </p:txBody>
      </p:sp>
    </p:spTree>
    <p:extLst>
      <p:ext uri="{BB962C8B-B14F-4D97-AF65-F5344CB8AC3E}">
        <p14:creationId xmlns:p14="http://schemas.microsoft.com/office/powerpoint/2010/main" val="3637307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C23C7C26-64C7-4EFD-4594-5D5007725A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2265" y="1645497"/>
            <a:ext cx="6834505" cy="106445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Pulsed field ablation in medicine: irreversible electroporation and </a:t>
            </a:r>
            <a:r>
              <a:rPr lang="en-US" altLang="zh-CN" sz="16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electropermeabilization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theory and applications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脉冲电场消融在医学领域中的应用：不可逆电穿孔和电透化的理论及应用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2FFC962-27EF-0FDB-5AAF-976A1B943C4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6715" y="10346316"/>
            <a:ext cx="6834187" cy="246221"/>
          </a:xfrm>
        </p:spPr>
        <p:txBody>
          <a:bodyPr/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800" b="1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参考文献：</a:t>
            </a:r>
            <a:r>
              <a:rPr lang="en-US" altLang="zh-CN" sz="800" b="1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 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Jacobs </a:t>
            </a:r>
            <a:r>
              <a:rPr lang="en-US" altLang="zh-CN" sz="800" dirty="0" err="1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EJ,et</a:t>
            </a:r>
            <a:r>
              <a:rPr lang="zh-CN" altLang="en-US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 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al. Pulsed field ablation in medicine: irreversible electroporation and </a:t>
            </a:r>
            <a:r>
              <a:rPr lang="en-US" altLang="zh-CN" sz="800" dirty="0" err="1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electropermeabilization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 theory and applications. </a:t>
            </a:r>
            <a:r>
              <a:rPr lang="en-US" altLang="zh-CN" sz="800" dirty="0" err="1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Radiol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 Oncol. 2025 Feb 27;59(1):1-22. </a:t>
            </a:r>
            <a:endParaRPr lang="en-US" altLang="zh-CN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E3047EB-7720-D4B8-13C8-34CC11F34446}"/>
              </a:ext>
            </a:extLst>
          </p:cNvPr>
          <p:cNvSpPr txBox="1"/>
          <p:nvPr/>
        </p:nvSpPr>
        <p:spPr>
          <a:xfrm>
            <a:off x="523060" y="3269630"/>
            <a:ext cx="6834186" cy="3043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400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摘要：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脉冲电场消融（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PFA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）包括不可逆电穿孔（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IRE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）和高频不可逆电穿孔（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H-FIRE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），通过高压、低能量的脉冲电场实现软组织的非热消融。该技术通过增加细胞膜通透性，破坏细胞稳态，从而诱导细胞凋亡。该技术具有非热损伤特点，既能选择性杀伤靶细胞，又能最大限度保护周围蛋白结构，因此适用于靠近敏感解剖结构的区域，而这些部位传统热消融或手术切除往往存在较高风险。本文综述了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PFA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的理论基础，详细阐述了脉冲电场诱导细胞膜失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稳与组织选择性的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机制，总结了临床效果，并讨论了其在肿瘤学和心脏病学领域的应用意义。</a:t>
            </a:r>
          </a:p>
        </p:txBody>
      </p:sp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2C2BE27C-D689-DA71-0F40-59899956FACB}"/>
              </a:ext>
            </a:extLst>
          </p:cNvPr>
          <p:cNvSpPr txBox="1">
            <a:spLocks/>
          </p:cNvSpPr>
          <p:nvPr/>
        </p:nvSpPr>
        <p:spPr>
          <a:xfrm>
            <a:off x="362584" y="297560"/>
            <a:ext cx="6834505" cy="40722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1304289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  <a:defRPr sz="2000" b="1" i="0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0" indent="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None/>
              <a:defRPr sz="1555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5339" indent="-40767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Char char="•"/>
              <a:defRPr sz="13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22374" indent="-40767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Char char="•"/>
              <a:defRPr sz="13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1304289" rtl="0" eaLnBrk="1" latinLnBrk="0" hangingPunct="1">
              <a:lnSpc>
                <a:spcPct val="11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sz="875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sz="257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PFA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原理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——PFA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与既往热能源有何不同？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矩形: 圆角 484">
            <a:extLst>
              <a:ext uri="{FF2B5EF4-FFF2-40B4-BE49-F238E27FC236}">
                <a16:creationId xmlns:a16="http://schemas.microsoft.com/office/drawing/2014/main" id="{3DD07E8D-A3F3-D7D2-73AF-66A426AB7300}"/>
              </a:ext>
            </a:extLst>
          </p:cNvPr>
          <p:cNvSpPr/>
          <p:nvPr/>
        </p:nvSpPr>
        <p:spPr>
          <a:xfrm>
            <a:off x="3160747" y="8486880"/>
            <a:ext cx="1039829" cy="824761"/>
          </a:xfrm>
          <a:prstGeom prst="roundRect">
            <a:avLst>
              <a:gd name="adj" fmla="val 422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点击查看原文链接</a:t>
            </a:r>
            <a:endParaRPr kumimoji="1" lang="zh-CN" altLang="en-US" sz="14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3D6711E-9A27-B0E3-8D7B-1B32A8DC7ED6}"/>
              </a:ext>
            </a:extLst>
          </p:cNvPr>
          <p:cNvSpPr/>
          <p:nvPr/>
        </p:nvSpPr>
        <p:spPr>
          <a:xfrm>
            <a:off x="5642972" y="89631"/>
            <a:ext cx="2224216" cy="1267035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72000" rIns="0" bIns="72000" rtlCol="0" anchor="ctr"/>
          <a:lstStyle/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作者：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Jacobs EJ</a:t>
            </a: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，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et al</a:t>
            </a: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发表日期：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2025-02-27</a:t>
            </a: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研究类型：综述</a:t>
            </a:r>
            <a:endParaRPr lang="en-US" altLang="zh-CN" sz="12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 R" pitchFamily="18" charset="-122"/>
            </a:endParaRP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期刊：</a:t>
            </a:r>
            <a:r>
              <a:rPr lang="en-US" altLang="zh-CN" sz="1200" dirty="0" err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Radiol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 Oncol</a:t>
            </a:r>
          </a:p>
          <a:p>
            <a:pPr defTabSz="1279525">
              <a:spcAft>
                <a:spcPts val="600"/>
              </a:spcAft>
              <a:defRPr/>
            </a:pP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IF</a:t>
            </a: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2.2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43665EE-11EE-442C-F4FC-56FCD1C2E5D2}"/>
              </a:ext>
            </a:extLst>
          </p:cNvPr>
          <p:cNvSpPr txBox="1"/>
          <p:nvPr/>
        </p:nvSpPr>
        <p:spPr>
          <a:xfrm>
            <a:off x="830992" y="9505813"/>
            <a:ext cx="64596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https://pmc.ncbi.nlm.nih.gov/articles/PMC11867574/pdf/raon-59-1-raon-2025-0011.pdf</a:t>
            </a:r>
          </a:p>
        </p:txBody>
      </p:sp>
    </p:spTree>
    <p:extLst>
      <p:ext uri="{BB962C8B-B14F-4D97-AF65-F5344CB8AC3E}">
        <p14:creationId xmlns:p14="http://schemas.microsoft.com/office/powerpoint/2010/main" val="24821211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9BB12-553A-F356-AEA4-74FF211F7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89ED7BC-3B50-4AF7-9E06-7FF38B3E79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4426" y="1623283"/>
            <a:ext cx="7197410" cy="106452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Effect of Sequential, Colocalized Radiofrequency and Pulsed Field Ablation on Cardiac Lesion Size and Histology</a:t>
            </a: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序贯、同一部位进行射频与脉冲电场消融对心脏损伤尺寸及组织学的影响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CA5407-B80C-D049-4960-C612ABD7A21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6715" y="10346316"/>
            <a:ext cx="6834187" cy="246221"/>
          </a:xfrm>
        </p:spPr>
        <p:txBody>
          <a:bodyPr/>
          <a:lstStyle/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800" b="1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参考文献：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Verma A, et</a:t>
            </a:r>
            <a:r>
              <a:rPr lang="zh-CN" altLang="en-US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 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al. Effect of Sequential, Colocalized Radiofrequency and Pulsed Field Ablation on Cardiac Lesion Size and Histology. Circ </a:t>
            </a:r>
            <a:r>
              <a:rPr lang="en-US" altLang="zh-CN" sz="800" dirty="0" err="1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Arrhythm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 </a:t>
            </a:r>
            <a:r>
              <a:rPr lang="en-US" altLang="zh-CN" sz="800" dirty="0" err="1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Electrophysiol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. 2025 Feb;18(2):e013143.</a:t>
            </a:r>
            <a:endParaRPr lang="en-US" altLang="zh-CN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5FF3919-A2D5-6001-61CC-1F2A81E2AB6F}"/>
              </a:ext>
            </a:extLst>
          </p:cNvPr>
          <p:cNvSpPr txBox="1"/>
          <p:nvPr/>
        </p:nvSpPr>
        <p:spPr>
          <a:xfrm>
            <a:off x="362743" y="2754434"/>
            <a:ext cx="6921284" cy="5321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400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摘要：</a:t>
            </a:r>
            <a:endParaRPr lang="en-US" altLang="zh-CN" sz="1400" b="1" dirty="0"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背景：射频与脉冲电场（</a:t>
            </a:r>
            <a:r>
              <a:rPr lang="en-US" altLang="zh-CN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PF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）序贯联合消融，有望在保留脉冲消融优势的同时增加消融深度。本研究旨在评估二者在同一部位序贯应用后的消融灶尺寸。</a:t>
            </a:r>
          </a:p>
          <a:p>
            <a:pPr>
              <a:lnSpc>
                <a:spcPct val="200000"/>
              </a:lnSpc>
            </a:pP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方法：一项临床前研究，在猪（</a:t>
            </a:r>
            <a:r>
              <a:rPr lang="en-US" altLang="zh-CN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n=4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）左右心室进行消融。使用</a:t>
            </a:r>
            <a:r>
              <a:rPr lang="en-US" altLang="zh-CN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3.5 mm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力感应灌注导管，连接可同时输出射频与脉冲的消融仪设备。</a:t>
            </a:r>
            <a:r>
              <a:rPr lang="en-US" altLang="zh-CN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PF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采用单极双相脉冲（</a:t>
            </a:r>
            <a:r>
              <a:rPr lang="en-US" altLang="zh-CN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PF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指数</a:t>
            </a:r>
            <a:r>
              <a:rPr lang="en-US" altLang="zh-CN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300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，灌注</a:t>
            </a:r>
            <a:r>
              <a:rPr lang="en-US" altLang="zh-CN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4 mL/min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）；射频为</a:t>
            </a:r>
            <a:r>
              <a:rPr lang="en-US" altLang="zh-CN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50 W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10 s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（灌注</a:t>
            </a:r>
            <a:r>
              <a:rPr lang="en-US" altLang="zh-CN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15 mL/min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）。共四种消融方式：射频→</a:t>
            </a:r>
            <a:r>
              <a:rPr lang="en-US" altLang="zh-CN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PF(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同一部位</a:t>
            </a:r>
            <a:r>
              <a:rPr lang="en-US" altLang="zh-CN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PF→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射频</a:t>
            </a:r>
            <a:r>
              <a:rPr lang="en-US" altLang="zh-CN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同一部位</a:t>
            </a:r>
            <a:r>
              <a:rPr lang="en-US" altLang="zh-CN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、单用</a:t>
            </a:r>
            <a:r>
              <a:rPr lang="en-US" altLang="zh-CN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PF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、单用射频。术后</a:t>
            </a:r>
            <a:r>
              <a:rPr lang="en-US" altLang="zh-CN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小时取材评估。</a:t>
            </a:r>
          </a:p>
          <a:p>
            <a:pPr>
              <a:lnSpc>
                <a:spcPct val="200000"/>
              </a:lnSpc>
            </a:pP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结果：共分析</a:t>
            </a:r>
            <a:r>
              <a:rPr lang="en-US" altLang="zh-CN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45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个消融灶。单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用射频消融灶深度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为</a:t>
            </a:r>
            <a:r>
              <a:rPr lang="en-US" altLang="zh-CN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4.9±0.8 mm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；单用</a:t>
            </a:r>
            <a:r>
              <a:rPr lang="en-US" altLang="zh-CN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PF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消融灶深度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和宽度分别为</a:t>
            </a:r>
            <a:r>
              <a:rPr lang="en-US" altLang="zh-CN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3.5±0.6 mm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5.1±1.8 mm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。联合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治疗的消融灶深度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显著大于单用</a:t>
            </a:r>
            <a:r>
              <a:rPr lang="en-US" altLang="zh-CN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PF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（射频→</a:t>
            </a:r>
            <a:r>
              <a:rPr lang="en-US" altLang="zh-CN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PF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为</a:t>
            </a:r>
            <a:r>
              <a:rPr lang="en-US" altLang="zh-CN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6.2±1.8 mm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PF→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射频为</a:t>
            </a:r>
            <a:r>
              <a:rPr lang="en-US" altLang="zh-CN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5.7±1.3 mm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，均</a:t>
            </a:r>
            <a:r>
              <a:rPr lang="en-US" altLang="zh-CN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P&lt;0.0001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）；消融灶宽度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也显著大于单用</a:t>
            </a:r>
            <a:r>
              <a:rPr lang="en-US" altLang="zh-CN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PF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（射频→</a:t>
            </a:r>
            <a:r>
              <a:rPr lang="en-US" altLang="zh-CN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PF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为</a:t>
            </a:r>
            <a:r>
              <a:rPr lang="en-US" altLang="zh-CN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8.6±1.8 mm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PF→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射频为</a:t>
            </a:r>
            <a:r>
              <a:rPr lang="en-US" altLang="zh-CN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8.9±2.1 mm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，均</a:t>
            </a:r>
            <a:r>
              <a:rPr lang="en-US" altLang="zh-CN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P&lt;0.0001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）。组织学显示，两种联合方式均表现为中心热坏死区，周围环绕出血性过渡带和</a:t>
            </a:r>
            <a:r>
              <a:rPr lang="en-US" altLang="zh-CN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PF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消融区。</a:t>
            </a:r>
          </a:p>
          <a:p>
            <a:pPr>
              <a:lnSpc>
                <a:spcPct val="200000"/>
              </a:lnSpc>
            </a:pP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结论：较单独射频或</a:t>
            </a:r>
            <a:r>
              <a:rPr lang="en-US" altLang="zh-CN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PF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消融，射频与脉冲电场联合应用</a:t>
            </a:r>
            <a:r>
              <a:rPr lang="en-US" altLang="zh-CN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无论顺序如何</a:t>
            </a:r>
            <a:r>
              <a:rPr lang="en-US" altLang="zh-CN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zh-CN" altLang="en-US" sz="12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均可显著增大消融灶尺寸。</a:t>
            </a:r>
          </a:p>
          <a:p>
            <a:pPr>
              <a:lnSpc>
                <a:spcPct val="200000"/>
              </a:lnSpc>
            </a:pPr>
            <a:endParaRPr lang="en-US" altLang="zh-CN" sz="1400" b="1" dirty="0"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87DF158A-D2F7-31BE-39BD-B983DCE6F291}"/>
              </a:ext>
            </a:extLst>
          </p:cNvPr>
          <p:cNvSpPr txBox="1">
            <a:spLocks/>
          </p:cNvSpPr>
          <p:nvPr/>
        </p:nvSpPr>
        <p:spPr>
          <a:xfrm>
            <a:off x="362584" y="297560"/>
            <a:ext cx="6834505" cy="40722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1304289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  <a:defRPr sz="2000" b="1" i="0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0" indent="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None/>
              <a:defRPr sz="1555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5339" indent="-40767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Char char="•"/>
              <a:defRPr sz="13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22374" indent="-40767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Char char="•"/>
              <a:defRPr sz="13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1304289" rtl="0" eaLnBrk="1" latinLnBrk="0" hangingPunct="1">
              <a:lnSpc>
                <a:spcPct val="11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sz="875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sz="257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PFA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原理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——PFA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与既往热能源有何不同？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230D72B-0CE9-9F06-5FF9-B47E22B57323}"/>
              </a:ext>
            </a:extLst>
          </p:cNvPr>
          <p:cNvSpPr/>
          <p:nvPr/>
        </p:nvSpPr>
        <p:spPr>
          <a:xfrm>
            <a:off x="5408342" y="71269"/>
            <a:ext cx="2151334" cy="1267035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72000" rIns="0" bIns="72000" rtlCol="0" anchor="ctr"/>
          <a:lstStyle/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作者：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Verma A, et al</a:t>
            </a: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发表日期：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2025-01-24</a:t>
            </a: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研究类型：动物实验</a:t>
            </a:r>
            <a:endParaRPr lang="en-US" altLang="zh-CN" sz="12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 R" pitchFamily="18" charset="-122"/>
            </a:endParaRP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期刊：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Circ </a:t>
            </a:r>
            <a:r>
              <a:rPr lang="en-US" altLang="zh-CN" sz="1200" dirty="0" err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Arrhythm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 </a:t>
            </a:r>
            <a:r>
              <a:rPr lang="en-US" altLang="zh-CN" sz="1200" dirty="0" err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Electrophysiol</a:t>
            </a:r>
            <a:endParaRPr lang="en-US" altLang="zh-CN" sz="12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 R" pitchFamily="18" charset="-122"/>
              <a:sym typeface="+mn-ea"/>
            </a:endParaRPr>
          </a:p>
          <a:p>
            <a:pPr defTabSz="1279525">
              <a:spcAft>
                <a:spcPts val="600"/>
              </a:spcAft>
              <a:defRPr/>
            </a:pP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IF</a:t>
            </a: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9.8</a:t>
            </a:r>
          </a:p>
        </p:txBody>
      </p:sp>
      <p:sp>
        <p:nvSpPr>
          <p:cNvPr id="15" name="矩形: 圆角 484">
            <a:extLst>
              <a:ext uri="{FF2B5EF4-FFF2-40B4-BE49-F238E27FC236}">
                <a16:creationId xmlns:a16="http://schemas.microsoft.com/office/drawing/2014/main" id="{791B4DC0-5965-CF26-40BD-3611A16DE60E}"/>
              </a:ext>
            </a:extLst>
          </p:cNvPr>
          <p:cNvSpPr/>
          <p:nvPr/>
        </p:nvSpPr>
        <p:spPr>
          <a:xfrm>
            <a:off x="3160747" y="8417609"/>
            <a:ext cx="1039829" cy="824761"/>
          </a:xfrm>
          <a:prstGeom prst="roundRect">
            <a:avLst>
              <a:gd name="adj" fmla="val 422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点击查看原文链接</a:t>
            </a:r>
            <a:endParaRPr kumimoji="1" lang="zh-CN" altLang="en-US" sz="14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7CBBAC6-6B45-C9A2-0A4F-CA1B4D908BB6}"/>
              </a:ext>
            </a:extLst>
          </p:cNvPr>
          <p:cNvSpPr txBox="1"/>
          <p:nvPr/>
        </p:nvSpPr>
        <p:spPr>
          <a:xfrm>
            <a:off x="709492" y="9355115"/>
            <a:ext cx="64872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https://</a:t>
            </a:r>
            <a:r>
              <a:rPr lang="en-US" altLang="zh-CN" sz="1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pmc.ncbi.nlm.nih.gov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/articles/PMC11837966/pdf/hae-18-e013143.pdf</a:t>
            </a:r>
            <a:endParaRPr lang="zh-CN" alt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0F0A89F-BF8B-460E-CF89-106EF5CD02D2}"/>
              </a:ext>
            </a:extLst>
          </p:cNvPr>
          <p:cNvSpPr txBox="1"/>
          <p:nvPr/>
        </p:nvSpPr>
        <p:spPr>
          <a:xfrm>
            <a:off x="1659972" y="9978033"/>
            <a:ext cx="57236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*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版权问题暂不提供直接下载，如有学术交流需要，请联系内部人员</a:t>
            </a:r>
          </a:p>
        </p:txBody>
      </p:sp>
    </p:spTree>
    <p:extLst>
      <p:ext uri="{BB962C8B-B14F-4D97-AF65-F5344CB8AC3E}">
        <p14:creationId xmlns:p14="http://schemas.microsoft.com/office/powerpoint/2010/main" val="5368837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284AF-7FBA-65E2-F2BF-0C2D7DC06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1C4290E-170F-4D9A-A49F-027A4E6963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4426" y="1736780"/>
            <a:ext cx="7197410" cy="69512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Pulsed Field Ablation: A Comprehensive Update</a:t>
            </a: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脉冲电场消融：全面进展更新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6E1D70-022F-45C2-3BC1-C280673F02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6715" y="10469426"/>
            <a:ext cx="6834187" cy="123111"/>
          </a:xfrm>
        </p:spPr>
        <p:txBody>
          <a:bodyPr/>
          <a:lstStyle/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800" b="1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参考文献：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Ezzeddine FM,</a:t>
            </a:r>
            <a:r>
              <a:rPr lang="zh-CN" altLang="en-US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 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et</a:t>
            </a:r>
            <a:r>
              <a:rPr lang="zh-CN" altLang="en-US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 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al. Pulsed Field Ablation: A Comprehensive Update. J Clin Med. 2024 Sep 1;13(17):5191.</a:t>
            </a:r>
            <a:endParaRPr lang="en-US" altLang="zh-CN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2720E23-6449-1175-7796-2B07D06410E4}"/>
              </a:ext>
            </a:extLst>
          </p:cNvPr>
          <p:cNvSpPr txBox="1"/>
          <p:nvPr/>
        </p:nvSpPr>
        <p:spPr>
          <a:xfrm>
            <a:off x="362743" y="3232397"/>
            <a:ext cx="6834186" cy="218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400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摘要：</a:t>
            </a:r>
            <a:endParaRPr lang="en-US" altLang="zh-CN" sz="1400" b="1" dirty="0"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PFA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作为一种创新的能量消融方式，无需依赖热效应即可实现组织消融，从而明显减少对周围组织的附带损伤。本综述将深入探讨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PFA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在房性和室性心律失常治疗中的作用机制、安全性、有效性及临床应用情况，并系统梳理了关于这一新兴技术的已发表临床前及临床研究结果。</a:t>
            </a:r>
          </a:p>
        </p:txBody>
      </p:sp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B91B8A32-7040-AD66-17D4-7A153F6BCE83}"/>
              </a:ext>
            </a:extLst>
          </p:cNvPr>
          <p:cNvSpPr txBox="1">
            <a:spLocks/>
          </p:cNvSpPr>
          <p:nvPr/>
        </p:nvSpPr>
        <p:spPr>
          <a:xfrm>
            <a:off x="362584" y="297560"/>
            <a:ext cx="6834505" cy="40722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1304289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  <a:defRPr sz="2000" b="1" i="0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0" indent="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None/>
              <a:defRPr sz="1555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5339" indent="-40767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Char char="•"/>
              <a:defRPr sz="13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22374" indent="-40767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Char char="•"/>
              <a:defRPr sz="13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1304289" rtl="0" eaLnBrk="1" latinLnBrk="0" hangingPunct="1">
              <a:lnSpc>
                <a:spcPct val="11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sz="875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sz="257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PFA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原理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——PFA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与既往热能源有何不同？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ED3EAB7-4990-F291-D60D-5EBCB7F89E14}"/>
              </a:ext>
            </a:extLst>
          </p:cNvPr>
          <p:cNvSpPr/>
          <p:nvPr/>
        </p:nvSpPr>
        <p:spPr>
          <a:xfrm>
            <a:off x="5429928" y="97182"/>
            <a:ext cx="2129747" cy="1267035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72000" rIns="0" bIns="72000" rtlCol="0" anchor="ctr"/>
          <a:lstStyle/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作者：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Ezzeddine </a:t>
            </a:r>
            <a:r>
              <a:rPr lang="en-US" altLang="zh-CN" sz="1200" dirty="0" err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FM,et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 al</a:t>
            </a: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发表日期：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2024-09-01</a:t>
            </a: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研究类型：综述</a:t>
            </a:r>
            <a:endParaRPr lang="en-US" altLang="zh-CN" sz="12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 R" pitchFamily="18" charset="-122"/>
            </a:endParaRP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期刊：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J Clin Med</a:t>
            </a:r>
          </a:p>
          <a:p>
            <a:pPr defTabSz="1279525">
              <a:spcAft>
                <a:spcPts val="600"/>
              </a:spcAft>
              <a:defRPr/>
            </a:pP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IF</a:t>
            </a: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2.9</a:t>
            </a:r>
          </a:p>
        </p:txBody>
      </p:sp>
      <p:sp>
        <p:nvSpPr>
          <p:cNvPr id="15" name="矩形: 圆角 484">
            <a:extLst>
              <a:ext uri="{FF2B5EF4-FFF2-40B4-BE49-F238E27FC236}">
                <a16:creationId xmlns:a16="http://schemas.microsoft.com/office/drawing/2014/main" id="{858D603D-3F79-9DD9-E383-BE81E057E8C9}"/>
              </a:ext>
            </a:extLst>
          </p:cNvPr>
          <p:cNvSpPr/>
          <p:nvPr/>
        </p:nvSpPr>
        <p:spPr>
          <a:xfrm>
            <a:off x="3160747" y="8417609"/>
            <a:ext cx="1039829" cy="824761"/>
          </a:xfrm>
          <a:prstGeom prst="roundRect">
            <a:avLst>
              <a:gd name="adj" fmla="val 422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点击查看原文链接</a:t>
            </a:r>
            <a:endParaRPr kumimoji="1" lang="zh-CN" altLang="en-US" sz="14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77515FD-BD00-1B7D-C02B-3951D8A0276C}"/>
              </a:ext>
            </a:extLst>
          </p:cNvPr>
          <p:cNvSpPr txBox="1"/>
          <p:nvPr/>
        </p:nvSpPr>
        <p:spPr>
          <a:xfrm>
            <a:off x="709492" y="9355115"/>
            <a:ext cx="64872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https://</a:t>
            </a:r>
            <a:r>
              <a:rPr lang="en-US" altLang="zh-CN" sz="1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pmc.ncbi.nlm.nih.gov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/articles/PMC11396515/pdf/jcm-13-05191.pdf</a:t>
            </a:r>
            <a:endParaRPr lang="zh-CN" alt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29DEC9B-114B-1473-A23F-27EBFA747D80}"/>
              </a:ext>
            </a:extLst>
          </p:cNvPr>
          <p:cNvSpPr txBox="1"/>
          <p:nvPr/>
        </p:nvSpPr>
        <p:spPr>
          <a:xfrm>
            <a:off x="1659972" y="9978033"/>
            <a:ext cx="57236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*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版权问题暂不提供直接下载，如有学术交流需要，请联系内部人员</a:t>
            </a:r>
          </a:p>
        </p:txBody>
      </p:sp>
    </p:spTree>
    <p:extLst>
      <p:ext uri="{BB962C8B-B14F-4D97-AF65-F5344CB8AC3E}">
        <p14:creationId xmlns:p14="http://schemas.microsoft.com/office/powerpoint/2010/main" val="39021362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14323-F645-AF1B-6D7C-B1BBF5B1E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0FAA7DF-C20D-DFF0-F601-99ED78F443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4426" y="1564595"/>
            <a:ext cx="7197410" cy="106445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State-of-the-art pulsed field ablation for cardiac arrhythmias: ongoing evolution and future perspective</a:t>
            </a: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脉冲电场消融治疗心律失常：技术演进与未来趋势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AEFFAB-B2B8-C638-8BCA-13999D4CD2E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6715" y="10346316"/>
            <a:ext cx="6834187" cy="246221"/>
          </a:xfrm>
        </p:spPr>
        <p:txBody>
          <a:bodyPr/>
          <a:lstStyle/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800" b="1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参考文献：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Chun KJ,</a:t>
            </a:r>
            <a:r>
              <a:rPr lang="zh-CN" altLang="en-US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 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et</a:t>
            </a:r>
            <a:r>
              <a:rPr lang="zh-CN" altLang="en-US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 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al. State-of-the-art pulsed field ablation for cardiac arrhythmias: ongoing evolution and future perspective. </a:t>
            </a:r>
            <a:r>
              <a:rPr lang="en-US" altLang="zh-CN" sz="800" dirty="0" err="1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Europace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. 2024 Jun 3;26(6):euae134. </a:t>
            </a:r>
            <a:endParaRPr lang="en-US" altLang="zh-CN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DAF0BBD-5BB4-2A47-C6CB-35C4EECA4BAB}"/>
              </a:ext>
            </a:extLst>
          </p:cNvPr>
          <p:cNvSpPr txBox="1"/>
          <p:nvPr/>
        </p:nvSpPr>
        <p:spPr>
          <a:xfrm>
            <a:off x="362743" y="3232397"/>
            <a:ext cx="6834186" cy="3474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400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摘要：</a:t>
            </a:r>
            <a:endParaRPr lang="en-US" altLang="zh-CN" sz="1400" b="1" dirty="0"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脉冲电场消融（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PFA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）是心脏电生理领域的前沿技术，通过脉冲电场诱导心肌细胞不可逆电穿孔实现靶向消融，为心律失常治疗提供了创新方案。与传统射频或冷冻消融不同，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PFA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通过脉冲电场诱导不可逆电穿孔，实现靶向组织消融。本综述系统总结了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PFA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的生物物理原理与临床应用，重点阐述了其相较于传统消融方法的潜在优势。临床研究表明，现有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PFA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设备具有可预测的手术效果和较低的热损伤风险。总体而言，这些技术突破推动了现代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PFA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导管的快速发展，未来进一步创新有望显著改善患者诊疗体验。</a:t>
            </a:r>
          </a:p>
        </p:txBody>
      </p:sp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A60D4826-AE1E-D9C6-F49C-909879F90364}"/>
              </a:ext>
            </a:extLst>
          </p:cNvPr>
          <p:cNvSpPr txBox="1">
            <a:spLocks/>
          </p:cNvSpPr>
          <p:nvPr/>
        </p:nvSpPr>
        <p:spPr>
          <a:xfrm>
            <a:off x="362584" y="297560"/>
            <a:ext cx="6834505" cy="40722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1304289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  <a:defRPr sz="2000" b="1" i="0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0" indent="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None/>
              <a:defRPr sz="1555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5339" indent="-40767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Char char="•"/>
              <a:defRPr sz="13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22374" indent="-40767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Char char="•"/>
              <a:defRPr sz="13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1304289" rtl="0" eaLnBrk="1" latinLnBrk="0" hangingPunct="1">
              <a:lnSpc>
                <a:spcPct val="11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sz="875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sz="257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PFA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原理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——PFA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与既往热能源有何不同？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143FCEE-D2BD-E1C3-6A14-EC35B545D3E6}"/>
              </a:ext>
            </a:extLst>
          </p:cNvPr>
          <p:cNvSpPr/>
          <p:nvPr/>
        </p:nvSpPr>
        <p:spPr>
          <a:xfrm>
            <a:off x="5429928" y="97182"/>
            <a:ext cx="2129747" cy="1267035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72000" rIns="0" bIns="72000" rtlCol="0" anchor="ctr"/>
          <a:lstStyle/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作者：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 Chun KJ, et al</a:t>
            </a: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发表日期：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2024-07-03</a:t>
            </a: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研究类型：综述</a:t>
            </a:r>
            <a:endParaRPr lang="en-US" altLang="zh-CN" sz="12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 R" pitchFamily="18" charset="-122"/>
            </a:endParaRP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期刊：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 </a:t>
            </a:r>
            <a:r>
              <a:rPr lang="en-US" altLang="zh-CN" sz="1200" dirty="0" err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Europace</a:t>
            </a:r>
            <a:endParaRPr lang="en-US" altLang="zh-CN" sz="12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 R" pitchFamily="18" charset="-122"/>
              <a:sym typeface="+mn-ea"/>
            </a:endParaRPr>
          </a:p>
          <a:p>
            <a:pPr defTabSz="1279525">
              <a:spcAft>
                <a:spcPts val="600"/>
              </a:spcAft>
              <a:defRPr/>
            </a:pP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IF</a:t>
            </a: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7.5</a:t>
            </a:r>
          </a:p>
        </p:txBody>
      </p:sp>
      <p:sp>
        <p:nvSpPr>
          <p:cNvPr id="15" name="矩形: 圆角 484">
            <a:extLst>
              <a:ext uri="{FF2B5EF4-FFF2-40B4-BE49-F238E27FC236}">
                <a16:creationId xmlns:a16="http://schemas.microsoft.com/office/drawing/2014/main" id="{624F9507-6E33-76B5-FDFA-EE5EF46CE3E3}"/>
              </a:ext>
            </a:extLst>
          </p:cNvPr>
          <p:cNvSpPr/>
          <p:nvPr/>
        </p:nvSpPr>
        <p:spPr>
          <a:xfrm>
            <a:off x="3160747" y="8417609"/>
            <a:ext cx="1039829" cy="824761"/>
          </a:xfrm>
          <a:prstGeom prst="roundRect">
            <a:avLst>
              <a:gd name="adj" fmla="val 422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点击查看原文链接</a:t>
            </a:r>
            <a:endParaRPr kumimoji="1" lang="zh-CN" altLang="en-US" sz="14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3D53854-B549-5771-925C-8D5BBF8EC352}"/>
              </a:ext>
            </a:extLst>
          </p:cNvPr>
          <p:cNvSpPr txBox="1"/>
          <p:nvPr/>
        </p:nvSpPr>
        <p:spPr>
          <a:xfrm>
            <a:off x="709492" y="9355115"/>
            <a:ext cx="64872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https://</a:t>
            </a:r>
            <a:r>
              <a:rPr lang="en-US" altLang="zh-CN" sz="1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pmc.ncbi.nlm.nih.gov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/articles/PMC11160504/pdf/euae134.pdf</a:t>
            </a:r>
            <a:endParaRPr lang="zh-CN" alt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4C9207F-2093-5830-8D8A-E1865E40E3EB}"/>
              </a:ext>
            </a:extLst>
          </p:cNvPr>
          <p:cNvSpPr txBox="1"/>
          <p:nvPr/>
        </p:nvSpPr>
        <p:spPr>
          <a:xfrm>
            <a:off x="1659972" y="9978033"/>
            <a:ext cx="57236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*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版权问题暂不提供直接下载，如有学术交流需要，请联系内部人员</a:t>
            </a:r>
          </a:p>
        </p:txBody>
      </p:sp>
    </p:spTree>
    <p:extLst>
      <p:ext uri="{BB962C8B-B14F-4D97-AF65-F5344CB8AC3E}">
        <p14:creationId xmlns:p14="http://schemas.microsoft.com/office/powerpoint/2010/main" val="8998556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EBA2D-0096-DB12-E23D-2641E51D4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9B9421C-436C-D217-EAE9-A998C53935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2265" y="1588590"/>
            <a:ext cx="7197410" cy="106445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Cardiac ablation with pulsed electric fields: principles and biophysics</a:t>
            </a: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脉冲电场心脏消融：原理与生物物理学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4EAB7-D607-EA31-21CF-6E9A469957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6715" y="10469426"/>
            <a:ext cx="6834187" cy="123111"/>
          </a:xfrm>
        </p:spPr>
        <p:txBody>
          <a:bodyPr/>
          <a:lstStyle/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800" b="1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参考文献：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Sugrue </a:t>
            </a:r>
            <a:r>
              <a:rPr lang="en-US" altLang="zh-CN" sz="800" dirty="0" err="1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A,et</a:t>
            </a:r>
            <a:r>
              <a:rPr lang="zh-CN" altLang="en-US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 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al. Cardiac ablation with pulsed electric fields: principles and biophysics. </a:t>
            </a:r>
            <a:r>
              <a:rPr lang="en-US" altLang="zh-CN" sz="800" dirty="0" err="1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Europace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. 2022 Sep 1;24(8):1213-1222. </a:t>
            </a:r>
            <a:endParaRPr lang="en-US" altLang="zh-CN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F8B6A07-49AE-D060-07DB-75CD80E25F14}"/>
              </a:ext>
            </a:extLst>
          </p:cNvPr>
          <p:cNvSpPr txBox="1"/>
          <p:nvPr/>
        </p:nvSpPr>
        <p:spPr>
          <a:xfrm>
            <a:off x="362584" y="3606303"/>
            <a:ext cx="6834186" cy="2612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400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摘要：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脉冲电场（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PEF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）已成为一种理想的心脏消融技术。目前，大量临床研究表明，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PEF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在房性及室性心律失常的消融治疗领域显示出较大潜力。由于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PEF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技术相对新颖，目前对其原理及生物物理机制的理解仍十分有限。需注意的是，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PEF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的生物物理学及原理与传统消融方式（如射频消融和冷冻球囊消融）截然不同。鉴于此，本综述旨在系统阐述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PEF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消融的基本原理与生物物理学机制，以推动相关学术研究，并助力消融参数的优化，从而在提高手术成功率的同时，最大程度降低风险。</a:t>
            </a:r>
          </a:p>
        </p:txBody>
      </p:sp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200FF5DD-4C61-6FAD-106E-74AA43F7D41A}"/>
              </a:ext>
            </a:extLst>
          </p:cNvPr>
          <p:cNvSpPr txBox="1">
            <a:spLocks/>
          </p:cNvSpPr>
          <p:nvPr/>
        </p:nvSpPr>
        <p:spPr>
          <a:xfrm>
            <a:off x="362584" y="297560"/>
            <a:ext cx="6834505" cy="40722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1304289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  <a:defRPr sz="2000" b="1" i="0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0" indent="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None/>
              <a:defRPr sz="1555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5339" indent="-40767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Char char="•"/>
              <a:defRPr sz="13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22374" indent="-40767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Char char="•"/>
              <a:defRPr sz="13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1304289" rtl="0" eaLnBrk="1" latinLnBrk="0" hangingPunct="1">
              <a:lnSpc>
                <a:spcPct val="11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sz="875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sz="257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PFA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原理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——PFA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与既往热能源有何不同？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4831A04-49ED-AAA8-003F-C0058D15D654}"/>
              </a:ext>
            </a:extLst>
          </p:cNvPr>
          <p:cNvSpPr/>
          <p:nvPr/>
        </p:nvSpPr>
        <p:spPr>
          <a:xfrm>
            <a:off x="5745892" y="71269"/>
            <a:ext cx="2224216" cy="1267035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72000" rIns="0" bIns="72000" rtlCol="0" anchor="ctr"/>
          <a:lstStyle/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作者：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Sugrue </a:t>
            </a:r>
            <a:r>
              <a:rPr lang="en-US" altLang="zh-CN" sz="1200" dirty="0" err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A,et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 al</a:t>
            </a: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发表日期：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2022-09-01</a:t>
            </a: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研究类型：综述</a:t>
            </a:r>
            <a:endParaRPr lang="en-US" altLang="zh-CN" sz="12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 R" pitchFamily="18" charset="-122"/>
            </a:endParaRP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期刊：</a:t>
            </a:r>
            <a:r>
              <a:rPr lang="en-US" altLang="zh-CN" sz="1200" dirty="0" err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Europace</a:t>
            </a:r>
            <a:endParaRPr lang="en-US" altLang="zh-CN" sz="12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 R" pitchFamily="18" charset="-122"/>
              <a:sym typeface="+mn-ea"/>
            </a:endParaRPr>
          </a:p>
          <a:p>
            <a:pPr defTabSz="1279525">
              <a:spcAft>
                <a:spcPts val="600"/>
              </a:spcAft>
              <a:defRPr/>
            </a:pP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IF</a:t>
            </a: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7.5</a:t>
            </a:r>
          </a:p>
        </p:txBody>
      </p:sp>
      <p:sp>
        <p:nvSpPr>
          <p:cNvPr id="15" name="矩形: 圆角 484">
            <a:extLst>
              <a:ext uri="{FF2B5EF4-FFF2-40B4-BE49-F238E27FC236}">
                <a16:creationId xmlns:a16="http://schemas.microsoft.com/office/drawing/2014/main" id="{BEE23A49-BBAC-B4DE-9A42-38F89A9A653D}"/>
              </a:ext>
            </a:extLst>
          </p:cNvPr>
          <p:cNvSpPr/>
          <p:nvPr/>
        </p:nvSpPr>
        <p:spPr>
          <a:xfrm>
            <a:off x="3160747" y="8417609"/>
            <a:ext cx="1039829" cy="824761"/>
          </a:xfrm>
          <a:prstGeom prst="roundRect">
            <a:avLst>
              <a:gd name="adj" fmla="val 422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点击查看原文链接</a:t>
            </a:r>
            <a:endParaRPr kumimoji="1" lang="zh-CN" altLang="en-US" sz="14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966483F-B1F8-D8BB-C758-EFC04FD2FC65}"/>
              </a:ext>
            </a:extLst>
          </p:cNvPr>
          <p:cNvSpPr txBox="1"/>
          <p:nvPr/>
        </p:nvSpPr>
        <p:spPr>
          <a:xfrm>
            <a:off x="709492" y="9355115"/>
            <a:ext cx="64872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https://</a:t>
            </a:r>
            <a:r>
              <a:rPr lang="en-US" altLang="zh-CN" sz="1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academic.oup.com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en-US" altLang="zh-CN" sz="1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europace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/article/24/8/1213/6569081?login=false</a:t>
            </a:r>
            <a:endParaRPr lang="zh-CN" alt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EBB5B43-3EF4-6120-16EF-B9FD9B905F0F}"/>
              </a:ext>
            </a:extLst>
          </p:cNvPr>
          <p:cNvSpPr txBox="1"/>
          <p:nvPr/>
        </p:nvSpPr>
        <p:spPr>
          <a:xfrm>
            <a:off x="1659972" y="9978033"/>
            <a:ext cx="57236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*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版权问题暂不提供直接下载，如有学术交流需要，请联系内部人员</a:t>
            </a:r>
          </a:p>
        </p:txBody>
      </p:sp>
    </p:spTree>
    <p:extLst>
      <p:ext uri="{BB962C8B-B14F-4D97-AF65-F5344CB8AC3E}">
        <p14:creationId xmlns:p14="http://schemas.microsoft.com/office/powerpoint/2010/main" val="931049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97DAD-C3A3-13B6-65EA-FE90FEF98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B560621-5073-FDE3-2D70-6734DC8AD9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4426" y="1564595"/>
            <a:ext cx="7197410" cy="106445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Primer on Pulsed Electrical Field Ablation: Understanding the Benefits and Limitations</a:t>
            </a: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脉冲电场消融入门：了解其益处和局限性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0C1FA47-9F3F-0292-120D-BBCAD125B0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6715" y="10346316"/>
            <a:ext cx="6834187" cy="246221"/>
          </a:xfrm>
        </p:spPr>
        <p:txBody>
          <a:bodyPr/>
          <a:lstStyle/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800" b="1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参考文献：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Verma A,</a:t>
            </a:r>
            <a:r>
              <a:rPr lang="zh-CN" altLang="en-US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 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et</a:t>
            </a:r>
            <a:r>
              <a:rPr lang="zh-CN" altLang="en-US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 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al. Primer on Pulsed Electrical Field Ablation: Understanding the Benefits and Limitations. Circ </a:t>
            </a:r>
            <a:r>
              <a:rPr lang="en-US" altLang="zh-CN" sz="800" dirty="0" err="1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Arrhythm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 </a:t>
            </a:r>
            <a:r>
              <a:rPr lang="en-US" altLang="zh-CN" sz="800" dirty="0" err="1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Electrophysiol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. 2021 Sep;14(9):e010086.</a:t>
            </a:r>
            <a:endParaRPr lang="en-US" altLang="zh-CN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A1E9586-9A52-B2D9-37F9-7B4C0CFBD5AD}"/>
              </a:ext>
            </a:extLst>
          </p:cNvPr>
          <p:cNvSpPr txBox="1"/>
          <p:nvPr/>
        </p:nvSpPr>
        <p:spPr>
          <a:xfrm>
            <a:off x="362743" y="3232397"/>
            <a:ext cx="6834186" cy="3905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400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摘要：</a:t>
            </a:r>
            <a:endParaRPr lang="en-US" altLang="zh-CN" sz="1400" b="1" dirty="0"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脉冲电场（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PEF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）能量作为心脏心律失常导管消融的新兴技术，展现出广阔前景。本文重点探讨了安全高效实施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PEF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消融的关键考量因素及其临床可行性影响。该技术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核心优势在于其能够通过不改变基质蛋白的机制杀死细胞，从而保护敏感结构，提高安全性，同时又不牺牲心肌细胞消融的疗效。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PEF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治疗效果受多重参数影响，包括脉冲强度、波形特征、脉冲数量以及电极布局等物理电气特性。这些参数需精细调控以平衡靶组织消融效果与副作用（如肌肉收缩、局部温升、电弧风险）。需强调的是，所有参数组合均须通过临床验证以确保安全性与有效性。临床应用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PEF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技术需深入理解其作用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机制，才能充分发挥其优势，为患者带来切实持久的健康改善。</a:t>
            </a:r>
            <a:endParaRPr lang="zh-CN" altLang="en-US" sz="14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19EAA310-25A5-F326-1FB2-1D51EB4E0192}"/>
              </a:ext>
            </a:extLst>
          </p:cNvPr>
          <p:cNvSpPr txBox="1">
            <a:spLocks/>
          </p:cNvSpPr>
          <p:nvPr/>
        </p:nvSpPr>
        <p:spPr>
          <a:xfrm>
            <a:off x="362584" y="297560"/>
            <a:ext cx="6834505" cy="40722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1304289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  <a:defRPr sz="2000" b="1" i="0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0" indent="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None/>
              <a:defRPr sz="1555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5339" indent="-40767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Char char="•"/>
              <a:defRPr sz="13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22374" indent="-40767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Char char="•"/>
              <a:defRPr sz="13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1304289" rtl="0" eaLnBrk="1" latinLnBrk="0" hangingPunct="1">
              <a:lnSpc>
                <a:spcPct val="11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sz="875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sz="257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PFA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原理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——PFA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与既往热能源有何不同？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698D70F-74A1-435E-BEBD-3DDAFD0C2C7A}"/>
              </a:ext>
            </a:extLst>
          </p:cNvPr>
          <p:cNvSpPr/>
          <p:nvPr/>
        </p:nvSpPr>
        <p:spPr>
          <a:xfrm>
            <a:off x="5429928" y="97182"/>
            <a:ext cx="2129747" cy="1267035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72000" rIns="0" bIns="72000" rtlCol="0" anchor="ctr"/>
          <a:lstStyle/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作者：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Verma A, et al</a:t>
            </a: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发表日期：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2021-09</a:t>
            </a: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研究类型：综述</a:t>
            </a:r>
            <a:endParaRPr lang="en-US" altLang="zh-CN" sz="12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 R" pitchFamily="18" charset="-122"/>
            </a:endParaRP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期刊：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Circ </a:t>
            </a:r>
            <a:r>
              <a:rPr lang="en-US" altLang="zh-CN" sz="1200" dirty="0" err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Arrhythm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 </a:t>
            </a:r>
            <a:r>
              <a:rPr lang="en-US" altLang="zh-CN" sz="1200" dirty="0" err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Electrophysiol</a:t>
            </a:r>
            <a:endParaRPr lang="en-US" altLang="zh-CN" sz="12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 R" pitchFamily="18" charset="-122"/>
              <a:sym typeface="+mn-ea"/>
            </a:endParaRPr>
          </a:p>
          <a:p>
            <a:pPr defTabSz="1279525">
              <a:spcAft>
                <a:spcPts val="600"/>
              </a:spcAft>
              <a:defRPr/>
            </a:pP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IF</a:t>
            </a: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9.8</a:t>
            </a:r>
          </a:p>
        </p:txBody>
      </p:sp>
      <p:sp>
        <p:nvSpPr>
          <p:cNvPr id="15" name="矩形: 圆角 484">
            <a:extLst>
              <a:ext uri="{FF2B5EF4-FFF2-40B4-BE49-F238E27FC236}">
                <a16:creationId xmlns:a16="http://schemas.microsoft.com/office/drawing/2014/main" id="{7C3226CC-53C4-6ED3-6B9E-CE0D599E051A}"/>
              </a:ext>
            </a:extLst>
          </p:cNvPr>
          <p:cNvSpPr/>
          <p:nvPr/>
        </p:nvSpPr>
        <p:spPr>
          <a:xfrm>
            <a:off x="3160747" y="8417609"/>
            <a:ext cx="1039829" cy="824761"/>
          </a:xfrm>
          <a:prstGeom prst="roundRect">
            <a:avLst>
              <a:gd name="adj" fmla="val 422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点击查看原文链接</a:t>
            </a:r>
            <a:endParaRPr kumimoji="1" lang="zh-CN" altLang="en-US" sz="14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8FBA75E-8328-D1C1-18BA-4B98232D0BDE}"/>
              </a:ext>
            </a:extLst>
          </p:cNvPr>
          <p:cNvSpPr txBox="1"/>
          <p:nvPr/>
        </p:nvSpPr>
        <p:spPr>
          <a:xfrm>
            <a:off x="709492" y="9355115"/>
            <a:ext cx="64872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https://</a:t>
            </a:r>
            <a:r>
              <a:rPr lang="en-US" altLang="zh-CN" sz="1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www.ahajournals.org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en-US" altLang="zh-CN" sz="1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doi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/10.1161/CIRCEP.121.010086?url_ver=Z39.88-2003&amp;rfr_id=</a:t>
            </a:r>
            <a:r>
              <a:rPr lang="en-US" altLang="zh-CN" sz="1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ori:rid:crossref.org&amp;rfr_dat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=cr_pub%20%200pubmed</a:t>
            </a:r>
            <a:endParaRPr lang="zh-CN" alt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CCBA997-A543-D4ED-A596-E084B488C649}"/>
              </a:ext>
            </a:extLst>
          </p:cNvPr>
          <p:cNvSpPr txBox="1"/>
          <p:nvPr/>
        </p:nvSpPr>
        <p:spPr>
          <a:xfrm>
            <a:off x="1659972" y="9978033"/>
            <a:ext cx="57236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*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版权问题暂不提供直接下载，如有学术交流需要，请联系内部人员</a:t>
            </a:r>
          </a:p>
        </p:txBody>
      </p:sp>
    </p:spTree>
    <p:extLst>
      <p:ext uri="{BB962C8B-B14F-4D97-AF65-F5344CB8AC3E}">
        <p14:creationId xmlns:p14="http://schemas.microsoft.com/office/powerpoint/2010/main" val="41869783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3027A-DFFA-CEF8-64A2-465C3C099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0E23B64-E582-811F-4EDE-129A76C90D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2265" y="1588559"/>
            <a:ext cx="6834505" cy="106452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kumimoji="1" lang="en-US" altLang="zh-CN" sz="16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Cryoballoon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Ablation as Initial Treatment for Atrial Fibrillation: JACC State-of-the-Art Review</a:t>
            </a: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冷冻球囊消融术作为房颤的初始治疗：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JACC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最新综述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4367567-5BE4-BABC-D027-E3192688601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6715" y="10346316"/>
            <a:ext cx="6834187" cy="246221"/>
          </a:xfrm>
        </p:spPr>
        <p:txBody>
          <a:bodyPr/>
          <a:lstStyle/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800" b="1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参考文献：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Andrade </a:t>
            </a:r>
            <a:r>
              <a:rPr lang="en-US" altLang="zh-CN" sz="800" dirty="0" err="1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JG,et</a:t>
            </a:r>
            <a:r>
              <a:rPr lang="zh-CN" altLang="en-US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 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al. </a:t>
            </a:r>
            <a:r>
              <a:rPr lang="en-US" altLang="zh-CN" sz="800" dirty="0" err="1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Cryoballoon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 Ablation as Initial Treatment for Atrial Fibrillation: JACC State-of-the-Art Review. J Am Coll </a:t>
            </a:r>
            <a:r>
              <a:rPr lang="en-US" altLang="zh-CN" sz="800" dirty="0" err="1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Cardiol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. 2021 Aug 31;78(9):914-930. </a:t>
            </a:r>
            <a:endParaRPr lang="en-US" altLang="zh-CN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FB242B0-6C1A-ADBC-F750-B7D48D5CF481}"/>
              </a:ext>
            </a:extLst>
          </p:cNvPr>
          <p:cNvSpPr txBox="1"/>
          <p:nvPr/>
        </p:nvSpPr>
        <p:spPr>
          <a:xfrm>
            <a:off x="362584" y="3606303"/>
            <a:ext cx="6834186" cy="3043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400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摘要：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房颤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是临床最常见的持续性心律失常，呈慢性进展性，症状常反复发作。目前指南建议将抗心律失常药物作为维持窦性心律的首选治疗。然而，药物在维持窦性心律方面效果有限，且可能伴随明显的不良反应。近年来研究表明，对于初治的房颤患者，若初始即采用冷冻球囊导管消融策略，相比药物，能更显著改善心律失常相关结局，提升患者的症状与生活质量，并明显降低后续的医疗资源使用（如住院率），同时，该策略并未增加不良事件风险。上述发现对于初治房颤患者初始节律控制方案的选择，具有重要的参考价值，可帮助患者、医生及医疗系统做出更合理的决策。</a:t>
            </a:r>
          </a:p>
        </p:txBody>
      </p:sp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312EA517-18AE-E007-6073-2CFB2C39AD24}"/>
              </a:ext>
            </a:extLst>
          </p:cNvPr>
          <p:cNvSpPr txBox="1">
            <a:spLocks/>
          </p:cNvSpPr>
          <p:nvPr/>
        </p:nvSpPr>
        <p:spPr>
          <a:xfrm>
            <a:off x="362584" y="297560"/>
            <a:ext cx="6834505" cy="40722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1304289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  <a:defRPr sz="2000" b="1" i="0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0" indent="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None/>
              <a:defRPr sz="1555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5339" indent="-40767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Char char="•"/>
              <a:defRPr sz="13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22374" indent="-40767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Char char="•"/>
              <a:defRPr sz="13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1304289" rtl="0" eaLnBrk="1" latinLnBrk="0" hangingPunct="1">
              <a:lnSpc>
                <a:spcPct val="11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sz="875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sz="257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PFA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原理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——PFA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与既往热能源有何不同？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F3B56A7-A1EC-437B-02D3-9BCFA5D5EB4E}"/>
              </a:ext>
            </a:extLst>
          </p:cNvPr>
          <p:cNvSpPr/>
          <p:nvPr/>
        </p:nvSpPr>
        <p:spPr>
          <a:xfrm>
            <a:off x="5745892" y="71269"/>
            <a:ext cx="2224216" cy="1267035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72000" rIns="0" bIns="72000" rtlCol="0" anchor="ctr"/>
          <a:lstStyle/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作者：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Andrade </a:t>
            </a:r>
            <a:r>
              <a:rPr lang="en-US" altLang="zh-CN" sz="1200" dirty="0" err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JG,et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 al</a:t>
            </a: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发表日期：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2021-08-31</a:t>
            </a: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研究类型：综述</a:t>
            </a:r>
            <a:endParaRPr lang="en-US" altLang="zh-CN" sz="12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 R" pitchFamily="18" charset="-122"/>
            </a:endParaRP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期刊：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JACC</a:t>
            </a:r>
          </a:p>
          <a:p>
            <a:pPr defTabSz="1279525">
              <a:spcAft>
                <a:spcPts val="600"/>
              </a:spcAft>
              <a:defRPr/>
            </a:pP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IF</a:t>
            </a: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22.3</a:t>
            </a:r>
          </a:p>
        </p:txBody>
      </p:sp>
      <p:sp>
        <p:nvSpPr>
          <p:cNvPr id="15" name="矩形: 圆角 484">
            <a:extLst>
              <a:ext uri="{FF2B5EF4-FFF2-40B4-BE49-F238E27FC236}">
                <a16:creationId xmlns:a16="http://schemas.microsoft.com/office/drawing/2014/main" id="{E6DC9CF0-AFD7-A001-77AF-09935DCD6292}"/>
              </a:ext>
            </a:extLst>
          </p:cNvPr>
          <p:cNvSpPr/>
          <p:nvPr/>
        </p:nvSpPr>
        <p:spPr>
          <a:xfrm>
            <a:off x="3160747" y="8417609"/>
            <a:ext cx="1039829" cy="824761"/>
          </a:xfrm>
          <a:prstGeom prst="roundRect">
            <a:avLst>
              <a:gd name="adj" fmla="val 422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点击查看原文链接</a:t>
            </a:r>
            <a:endParaRPr kumimoji="1" lang="zh-CN" altLang="en-US" sz="14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A880D3D-0A80-FDA6-9495-FAEE2ACF985B}"/>
              </a:ext>
            </a:extLst>
          </p:cNvPr>
          <p:cNvSpPr txBox="1"/>
          <p:nvPr/>
        </p:nvSpPr>
        <p:spPr>
          <a:xfrm>
            <a:off x="896361" y="9333654"/>
            <a:ext cx="57669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https://</a:t>
            </a:r>
            <a:r>
              <a:rPr lang="en-US" altLang="zh-CN" sz="1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www.jacc.org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en-US" altLang="zh-CN" sz="1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doi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/10.1016/j.jacc.2021.06.038</a:t>
            </a:r>
            <a:endParaRPr lang="zh-CN" alt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75D409C-0517-4BC3-CF12-68381791D092}"/>
              </a:ext>
            </a:extLst>
          </p:cNvPr>
          <p:cNvSpPr txBox="1"/>
          <p:nvPr/>
        </p:nvSpPr>
        <p:spPr>
          <a:xfrm>
            <a:off x="1659972" y="9978033"/>
            <a:ext cx="57236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*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版权问题暂不提供直接下载，如有学术交流需要，请联系内部人员</a:t>
            </a:r>
          </a:p>
        </p:txBody>
      </p:sp>
    </p:spTree>
    <p:extLst>
      <p:ext uri="{BB962C8B-B14F-4D97-AF65-F5344CB8AC3E}">
        <p14:creationId xmlns:p14="http://schemas.microsoft.com/office/powerpoint/2010/main" val="16036579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15CF4-E0BD-2E1E-C2F3-E89BB78F3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E00AF42-55BD-630D-17C1-AE2D614F52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4426" y="1749261"/>
            <a:ext cx="7197410" cy="69512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Cell death due to electroporation - A review</a:t>
            </a: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电穿孔引起的细胞死亡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综述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DC68D6-03CD-DD5E-714F-E2269AB84C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6715" y="10469426"/>
            <a:ext cx="6834187" cy="123111"/>
          </a:xfrm>
        </p:spPr>
        <p:txBody>
          <a:bodyPr/>
          <a:lstStyle/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800" b="1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参考文献：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Batista </a:t>
            </a:r>
            <a:r>
              <a:rPr lang="en-US" altLang="zh-CN" sz="800" dirty="0" err="1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Napotnik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 </a:t>
            </a:r>
            <a:r>
              <a:rPr lang="en-US" altLang="zh-CN" sz="800" dirty="0" err="1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T,et</a:t>
            </a:r>
            <a:r>
              <a:rPr lang="zh-CN" altLang="en-US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 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al. Cell death due to electroporation - A review. Bioelectrochemistry. 2021 Oct;141:107871. </a:t>
            </a:r>
            <a:endParaRPr lang="en-US" altLang="zh-CN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BC0442B-C9E1-F712-18E7-D2165F2F0940}"/>
              </a:ext>
            </a:extLst>
          </p:cNvPr>
          <p:cNvSpPr txBox="1"/>
          <p:nvPr/>
        </p:nvSpPr>
        <p:spPr>
          <a:xfrm>
            <a:off x="362743" y="3232397"/>
            <a:ext cx="6834186" cy="3905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400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摘要：</a:t>
            </a:r>
            <a:endParaRPr lang="en-US" altLang="zh-CN" sz="1400" b="1" dirty="0"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高压电场脉冲通过使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细胞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膜发生电穿孔，短暂增加细胞膜通透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性。电穿孔具有可逆性，可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用于基因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转移和增强药物递送等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领域， 但也可能引发细胞死亡。在肿瘤及心律失常治疗领域，电穿孔导致细胞死亡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（即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不可逆电穿孔）已成功用作一种新型的非热消融方法。不同的电场脉冲参数和条件下，细胞死亡机制会影响基于电穿孔的治疗效果，但尚未完全阐明其机制。本文基于文献，回顾了电穿孔后细胞死亡机制、可能导致电穿孔后细胞死亡的细胞损伤以及涉及的膜修复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机制。需明确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电脉冲后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细胞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膜修复与死亡机制的研究、细胞内电场靶点，以优化现有电穿孔技术，并开发该技术在医学、生物技术与食品领域的新应用。 </a:t>
            </a:r>
            <a:endParaRPr lang="en-US" altLang="zh-CN" sz="14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DB9AEA9A-F18D-C8EE-725E-18494FDD6B86}"/>
              </a:ext>
            </a:extLst>
          </p:cNvPr>
          <p:cNvSpPr txBox="1">
            <a:spLocks/>
          </p:cNvSpPr>
          <p:nvPr/>
        </p:nvSpPr>
        <p:spPr>
          <a:xfrm>
            <a:off x="362584" y="297560"/>
            <a:ext cx="6834505" cy="40722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1304289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  <a:defRPr sz="2000" b="1" i="0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0" indent="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None/>
              <a:defRPr sz="1555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5339" indent="-40767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Char char="•"/>
              <a:defRPr sz="13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22374" indent="-40767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Char char="•"/>
              <a:defRPr sz="13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1304289" rtl="0" eaLnBrk="1" latinLnBrk="0" hangingPunct="1">
              <a:lnSpc>
                <a:spcPct val="11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sz="875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sz="257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PFA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原理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——PFA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与既往热能源有何不同？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FB25289-CA15-2DC3-159B-9B63C4495ACC}"/>
              </a:ext>
            </a:extLst>
          </p:cNvPr>
          <p:cNvSpPr/>
          <p:nvPr/>
        </p:nvSpPr>
        <p:spPr>
          <a:xfrm>
            <a:off x="5141844" y="97182"/>
            <a:ext cx="2417832" cy="1267035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72000" rIns="0" bIns="72000" rtlCol="0" anchor="ctr"/>
          <a:lstStyle/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作者：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 Batista </a:t>
            </a:r>
            <a:r>
              <a:rPr lang="en-US" altLang="zh-CN" sz="1200" dirty="0" err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Napotnik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 T, et al</a:t>
            </a: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发表日期：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2021-06-06</a:t>
            </a: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研究类型：综述</a:t>
            </a:r>
            <a:endParaRPr lang="en-US" altLang="zh-CN" sz="12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 R" pitchFamily="18" charset="-122"/>
            </a:endParaRP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期刊：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Bioelectrochemistry</a:t>
            </a:r>
          </a:p>
          <a:p>
            <a:pPr defTabSz="1279525">
              <a:spcAft>
                <a:spcPts val="600"/>
              </a:spcAft>
              <a:defRPr/>
            </a:pP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IF</a:t>
            </a: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4.5</a:t>
            </a:r>
          </a:p>
        </p:txBody>
      </p:sp>
      <p:sp>
        <p:nvSpPr>
          <p:cNvPr id="15" name="矩形: 圆角 484">
            <a:extLst>
              <a:ext uri="{FF2B5EF4-FFF2-40B4-BE49-F238E27FC236}">
                <a16:creationId xmlns:a16="http://schemas.microsoft.com/office/drawing/2014/main" id="{2CFCE738-BF24-8202-6729-0876DBA6DD3C}"/>
              </a:ext>
            </a:extLst>
          </p:cNvPr>
          <p:cNvSpPr/>
          <p:nvPr/>
        </p:nvSpPr>
        <p:spPr>
          <a:xfrm>
            <a:off x="3160747" y="8417609"/>
            <a:ext cx="1039829" cy="824761"/>
          </a:xfrm>
          <a:prstGeom prst="roundRect">
            <a:avLst>
              <a:gd name="adj" fmla="val 422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点击查看原文链接</a:t>
            </a:r>
            <a:endParaRPr kumimoji="1" lang="zh-CN" altLang="en-US" sz="14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5FC6677-3E53-4EAF-B5CD-BFBE3CA7DFF0}"/>
              </a:ext>
            </a:extLst>
          </p:cNvPr>
          <p:cNvSpPr txBox="1"/>
          <p:nvPr/>
        </p:nvSpPr>
        <p:spPr>
          <a:xfrm>
            <a:off x="709492" y="9355115"/>
            <a:ext cx="64872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https://</a:t>
            </a:r>
            <a:r>
              <a:rPr lang="en-US" altLang="zh-CN" sz="1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www.sciencedirect.com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/science/article/</a:t>
            </a:r>
            <a:r>
              <a:rPr lang="en-US" altLang="zh-CN" sz="1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pii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/S1567539421001341?via%3Dihub</a:t>
            </a:r>
            <a:endParaRPr lang="zh-CN" alt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C55D15-98B8-BE58-13AC-189B586C09A7}"/>
              </a:ext>
            </a:extLst>
          </p:cNvPr>
          <p:cNvSpPr txBox="1"/>
          <p:nvPr/>
        </p:nvSpPr>
        <p:spPr>
          <a:xfrm>
            <a:off x="1659972" y="9978033"/>
            <a:ext cx="57236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*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版权问题暂不提供直接下载，如有学术交流需要，请联系内部人员</a:t>
            </a:r>
          </a:p>
        </p:txBody>
      </p:sp>
    </p:spTree>
    <p:extLst>
      <p:ext uri="{BB962C8B-B14F-4D97-AF65-F5344CB8AC3E}">
        <p14:creationId xmlns:p14="http://schemas.microsoft.com/office/powerpoint/2010/main" val="42415854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6B516-1023-9AE9-8255-637B5AED7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7C692ACF-F9FE-69F8-B6B6-B5D81499AB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2265" y="1645496"/>
            <a:ext cx="6834505" cy="106445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Pulsed electric fields for cardiac ablation and beyond: A state-of-the-art review</a:t>
            </a: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脉冲电场在心脏消融及更广泛领域的应用：一项最新综述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E98530-6ABA-4FFF-5889-E9746A132B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6715" y="10346316"/>
            <a:ext cx="6834187" cy="246221"/>
          </a:xfrm>
        </p:spPr>
        <p:txBody>
          <a:bodyPr/>
          <a:lstStyle/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800" b="1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参考文献：</a:t>
            </a:r>
            <a:r>
              <a:rPr lang="en-US" altLang="zh-CN" sz="800" b="1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 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Maor E</a:t>
            </a:r>
            <a:r>
              <a:rPr lang="zh-CN" altLang="en-US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 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,</a:t>
            </a:r>
            <a:r>
              <a:rPr lang="zh-CN" altLang="en-US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 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et</a:t>
            </a:r>
            <a:r>
              <a:rPr lang="zh-CN" altLang="en-US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 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al. Pulsed electric fields for cardiac ablation and beyond: A state-of-the-art review. Heart Rhythm. 2019 Jul;16(7):1112-1120. </a:t>
            </a:r>
            <a:endParaRPr lang="en-US" altLang="zh-CN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DCADD61-3627-EA4D-61FA-EDDFE5A4D53D}"/>
              </a:ext>
            </a:extLst>
          </p:cNvPr>
          <p:cNvSpPr txBox="1"/>
          <p:nvPr/>
        </p:nvSpPr>
        <p:spPr>
          <a:xfrm>
            <a:off x="362584" y="3606303"/>
            <a:ext cx="6834186" cy="218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400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摘要：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不可逆电穿孔 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(IRE) 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是指高压脉冲电场 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(PEF)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作用下，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细胞膜通透性增加，导致细胞稳态破坏并最终凋亡的过程。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PEF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具有良好的组织选择性和非热损伤等优势，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在心脏病学中的应用十分广泛，涉及房颤、室颤、室间隔消融以及血管靶向消融等多个领域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。本文梳理了系统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回顾了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IRE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的生物物理学原理和作用机制，整理了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迄今为止该技术的重要研究进展及临床应用，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并对其未来发展方向提出展望。</a:t>
            </a:r>
          </a:p>
        </p:txBody>
      </p:sp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A1241EE3-B058-5B7A-0063-0A21DC64AA46}"/>
              </a:ext>
            </a:extLst>
          </p:cNvPr>
          <p:cNvSpPr txBox="1">
            <a:spLocks/>
          </p:cNvSpPr>
          <p:nvPr/>
        </p:nvSpPr>
        <p:spPr>
          <a:xfrm>
            <a:off x="362584" y="297560"/>
            <a:ext cx="6834505" cy="40722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1304289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  <a:defRPr sz="2000" b="1" i="0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0" indent="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None/>
              <a:defRPr sz="1555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5339" indent="-40767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Char char="•"/>
              <a:defRPr sz="13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22374" indent="-40767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Char char="•"/>
              <a:defRPr sz="13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1304289" rtl="0" eaLnBrk="1" latinLnBrk="0" hangingPunct="1">
              <a:lnSpc>
                <a:spcPct val="11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sz="875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sz="257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PFA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原理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——PFA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与既往热能源有何不同？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A6EA574-95FB-02C5-3A65-A850F9173B4F}"/>
              </a:ext>
            </a:extLst>
          </p:cNvPr>
          <p:cNvSpPr/>
          <p:nvPr/>
        </p:nvSpPr>
        <p:spPr>
          <a:xfrm>
            <a:off x="5745892" y="71269"/>
            <a:ext cx="2224216" cy="1267035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72000" rIns="0" bIns="72000" rtlCol="0" anchor="ctr"/>
          <a:lstStyle/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作者：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Maor E, et al</a:t>
            </a: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发表日期：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2019-01-11</a:t>
            </a: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研究类型：综述</a:t>
            </a:r>
            <a:endParaRPr lang="en-US" altLang="zh-CN" sz="12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 R" pitchFamily="18" charset="-122"/>
            </a:endParaRP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期刊：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Heart Rhythm</a:t>
            </a:r>
          </a:p>
          <a:p>
            <a:pPr defTabSz="1279525">
              <a:spcAft>
                <a:spcPts val="600"/>
              </a:spcAft>
              <a:defRPr/>
            </a:pP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IF</a:t>
            </a: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5.8</a:t>
            </a:r>
          </a:p>
        </p:txBody>
      </p:sp>
      <p:sp>
        <p:nvSpPr>
          <p:cNvPr id="15" name="矩形: 圆角 484">
            <a:extLst>
              <a:ext uri="{FF2B5EF4-FFF2-40B4-BE49-F238E27FC236}">
                <a16:creationId xmlns:a16="http://schemas.microsoft.com/office/drawing/2014/main" id="{CC00A15E-633A-9655-348E-B96718386F81}"/>
              </a:ext>
            </a:extLst>
          </p:cNvPr>
          <p:cNvSpPr/>
          <p:nvPr/>
        </p:nvSpPr>
        <p:spPr>
          <a:xfrm>
            <a:off x="3160747" y="8417609"/>
            <a:ext cx="1039829" cy="824761"/>
          </a:xfrm>
          <a:prstGeom prst="roundRect">
            <a:avLst>
              <a:gd name="adj" fmla="val 422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点击查看原文链接</a:t>
            </a:r>
            <a:endParaRPr kumimoji="1" lang="zh-CN" altLang="en-US" sz="14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5A26CB1-0F60-42DF-C27F-F6E454FD6B1C}"/>
              </a:ext>
            </a:extLst>
          </p:cNvPr>
          <p:cNvSpPr txBox="1"/>
          <p:nvPr/>
        </p:nvSpPr>
        <p:spPr>
          <a:xfrm>
            <a:off x="896361" y="9333654"/>
            <a:ext cx="57669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https://www.heartrhythmjournal.com/article/S1547-5271(19)30012-8/abstract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849ED54-D6BF-80F8-8E38-B5E7CE2F20A4}"/>
              </a:ext>
            </a:extLst>
          </p:cNvPr>
          <p:cNvSpPr txBox="1"/>
          <p:nvPr/>
        </p:nvSpPr>
        <p:spPr>
          <a:xfrm>
            <a:off x="1659972" y="9978033"/>
            <a:ext cx="57236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*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版权问题暂不提供直接下载，如有学术交流需要，请联系内部人员</a:t>
            </a:r>
          </a:p>
        </p:txBody>
      </p:sp>
    </p:spTree>
    <p:extLst>
      <p:ext uri="{BB962C8B-B14F-4D97-AF65-F5344CB8AC3E}">
        <p14:creationId xmlns:p14="http://schemas.microsoft.com/office/powerpoint/2010/main" val="13794930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10C65-4CA9-1095-07EA-42B03298D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A491FF8-6E58-F783-743C-2CB4F72243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4426" y="1807981"/>
            <a:ext cx="7197410" cy="69512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Irreversible electroporation for the treatment of cardiac arrhythmias</a:t>
            </a: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不可逆电穿孔治疗心律失常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19CF3D-C80D-7F96-1D99-587C94CCDE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6715" y="10346316"/>
            <a:ext cx="6834187" cy="246221"/>
          </a:xfrm>
        </p:spPr>
        <p:txBody>
          <a:bodyPr/>
          <a:lstStyle/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800" b="1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参考文献：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Sugrue A,</a:t>
            </a:r>
            <a:r>
              <a:rPr lang="zh-CN" altLang="en-US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 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et</a:t>
            </a:r>
            <a:r>
              <a:rPr lang="zh-CN" altLang="en-US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 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al. Irreversible electroporation for the treatment of cardiac arrhythmias. Expert Rev Cardiovasc Ther. 2018 May;16(5):349-360. </a:t>
            </a:r>
            <a:endParaRPr lang="en-US" altLang="zh-CN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5C11DEB-1319-AEA5-C34F-23E9CCA1C180}"/>
              </a:ext>
            </a:extLst>
          </p:cNvPr>
          <p:cNvSpPr txBox="1"/>
          <p:nvPr/>
        </p:nvSpPr>
        <p:spPr>
          <a:xfrm>
            <a:off x="362743" y="3232397"/>
            <a:ext cx="6834186" cy="3474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400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摘要：</a:t>
            </a:r>
            <a:endParaRPr lang="en-US" altLang="zh-CN" sz="1400" b="1" dirty="0"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心脏消融术是治疗心律失常患者的成熟治疗手段。当前，主流心脏消融术多采用热能来在心脏内部制造损伤灶（即实现组织消融）。然而，热能消融法存在诸多缺陷与局限。电穿孔（直流电能量）作为一种非热能的消融替代方案，在动物实验中已展现出巨大潜力。本研究广泛检索并深入分析了电穿孔在心脏消融（包括心脏组织及邻近组织消融）领域应用的文献资料。重点探讨了不可逆电穿孔作为心脏消融手段的可行性，详细阐释了电穿孔的生物物理学原理，剖析了当前热能消融法的局限性，并系统梳理了已发表的电穿孔心脏消融相关数据。</a:t>
            </a:r>
          </a:p>
        </p:txBody>
      </p:sp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88E5C3AD-9B59-D66B-69C5-7F31AFD7B029}"/>
              </a:ext>
            </a:extLst>
          </p:cNvPr>
          <p:cNvSpPr txBox="1">
            <a:spLocks/>
          </p:cNvSpPr>
          <p:nvPr/>
        </p:nvSpPr>
        <p:spPr>
          <a:xfrm>
            <a:off x="362584" y="297560"/>
            <a:ext cx="6834505" cy="40722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1304289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  <a:defRPr sz="2000" b="1" i="0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0" indent="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None/>
              <a:defRPr sz="1555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5339" indent="-40767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Char char="•"/>
              <a:defRPr sz="13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22374" indent="-40767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Char char="•"/>
              <a:defRPr sz="13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1304289" rtl="0" eaLnBrk="1" latinLnBrk="0" hangingPunct="1">
              <a:lnSpc>
                <a:spcPct val="11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sz="875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sz="257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PFA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原理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——PFA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与既往热能源有何不同？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FE02ECF-A0BF-8A7D-972D-2C0BA7A11782}"/>
              </a:ext>
            </a:extLst>
          </p:cNvPr>
          <p:cNvSpPr/>
          <p:nvPr/>
        </p:nvSpPr>
        <p:spPr>
          <a:xfrm>
            <a:off x="5745892" y="71269"/>
            <a:ext cx="1813783" cy="1267035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72000" rIns="0" bIns="72000" rtlCol="0" anchor="ctr"/>
          <a:lstStyle/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作者：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Sugrue </a:t>
            </a:r>
            <a:r>
              <a:rPr lang="en-US" altLang="zh-CN" sz="1200" dirty="0" err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A,et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 al</a:t>
            </a: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发表日期：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2018-05</a:t>
            </a: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研究类型：综述</a:t>
            </a:r>
            <a:endParaRPr lang="en-US" altLang="zh-CN" sz="12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 R" pitchFamily="18" charset="-122"/>
            </a:endParaRP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期刊：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Expert Rev Cardiovasc Ther</a:t>
            </a:r>
          </a:p>
          <a:p>
            <a:pPr defTabSz="1279525">
              <a:spcAft>
                <a:spcPts val="600"/>
              </a:spcAft>
              <a:defRPr/>
            </a:pP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IF</a:t>
            </a: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2.1</a:t>
            </a:r>
          </a:p>
        </p:txBody>
      </p:sp>
      <p:sp>
        <p:nvSpPr>
          <p:cNvPr id="15" name="矩形: 圆角 484">
            <a:extLst>
              <a:ext uri="{FF2B5EF4-FFF2-40B4-BE49-F238E27FC236}">
                <a16:creationId xmlns:a16="http://schemas.microsoft.com/office/drawing/2014/main" id="{7CA4D580-35CF-F660-74C1-7C9E3E961D5C}"/>
              </a:ext>
            </a:extLst>
          </p:cNvPr>
          <p:cNvSpPr/>
          <p:nvPr/>
        </p:nvSpPr>
        <p:spPr>
          <a:xfrm>
            <a:off x="3160747" y="8417609"/>
            <a:ext cx="1039829" cy="824761"/>
          </a:xfrm>
          <a:prstGeom prst="roundRect">
            <a:avLst>
              <a:gd name="adj" fmla="val 422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点击查看原文链接</a:t>
            </a:r>
            <a:endParaRPr kumimoji="1" lang="zh-CN" altLang="en-US" sz="14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177C169-3C8F-6ADF-80F1-BC3C58243B05}"/>
              </a:ext>
            </a:extLst>
          </p:cNvPr>
          <p:cNvSpPr txBox="1"/>
          <p:nvPr/>
        </p:nvSpPr>
        <p:spPr>
          <a:xfrm>
            <a:off x="709492" y="9355115"/>
            <a:ext cx="64872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https://</a:t>
            </a:r>
            <a:r>
              <a:rPr lang="en-US" altLang="zh-CN" sz="1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www.tandfonline.com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en-US" altLang="zh-CN" sz="1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doi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/10.1080/14779072.2018.1459185?url_ver=Z39.88-2003&amp;rfr_id=</a:t>
            </a:r>
            <a:r>
              <a:rPr lang="en-US" altLang="zh-CN" sz="1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ori:rid:crossref.org&amp;rfr_dat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=cr_pub%20%200pubmed</a:t>
            </a:r>
            <a:endParaRPr lang="zh-CN" alt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7100BB6-A5F7-AF3D-27A4-EBD037BADB75}"/>
              </a:ext>
            </a:extLst>
          </p:cNvPr>
          <p:cNvSpPr txBox="1"/>
          <p:nvPr/>
        </p:nvSpPr>
        <p:spPr>
          <a:xfrm>
            <a:off x="1659972" y="9978033"/>
            <a:ext cx="57236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*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版权问题暂不提供直接下载，如有学术交流需要，请联系内部人员</a:t>
            </a:r>
          </a:p>
        </p:txBody>
      </p:sp>
    </p:spTree>
    <p:extLst>
      <p:ext uri="{BB962C8B-B14F-4D97-AF65-F5344CB8AC3E}">
        <p14:creationId xmlns:p14="http://schemas.microsoft.com/office/powerpoint/2010/main" val="33408268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87EC0-6111-6D3D-5E89-47F172825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3FD4360-ED1D-ED06-0C6B-12834DF170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4426" y="1807949"/>
            <a:ext cx="7197410" cy="69519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Electroporation: past and future of catheter ablation</a:t>
            </a: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电穿孔：导管消融的过去与未来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996E66-4925-949E-E6B8-D8EB3B765AC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6715" y="10469426"/>
            <a:ext cx="6834187" cy="123111"/>
          </a:xfrm>
        </p:spPr>
        <p:txBody>
          <a:bodyPr/>
          <a:lstStyle/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800" b="1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参考文献：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DeSimone CV, et</a:t>
            </a:r>
            <a:r>
              <a:rPr lang="zh-CN" altLang="en-US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 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al.  Electroporation: past and future of catheter ablation. Circ </a:t>
            </a:r>
            <a:r>
              <a:rPr lang="en-US" altLang="zh-CN" sz="800" dirty="0" err="1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Arrhythm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 </a:t>
            </a:r>
            <a:r>
              <a:rPr lang="en-US" altLang="zh-CN" sz="800" dirty="0" err="1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Electrophysiol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. 2014 Aug;7(4):573-5.</a:t>
            </a:r>
            <a:endParaRPr lang="en-US" altLang="zh-CN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26DB9DE-F61B-F1C0-E26B-C9BFBCB55E42}"/>
              </a:ext>
            </a:extLst>
          </p:cNvPr>
          <p:cNvSpPr txBox="1"/>
          <p:nvPr/>
        </p:nvSpPr>
        <p:spPr>
          <a:xfrm>
            <a:off x="362743" y="3232397"/>
            <a:ext cx="6834186" cy="218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400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内容简介：</a:t>
            </a:r>
            <a:endParaRPr lang="en-US" altLang="zh-CN" sz="1400" b="1" dirty="0"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4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Wittkampf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教授及其同事在其研究中报告了不可逆电穿孔的潜在优势。这种直流电能量来源的复兴，主要源于实体瘤肿瘤学等非心脏领域的既有经验，即其潜在的组织特异性及相应的组织保护作用。未来需进一步研究以明确最佳能量传递参数，从而充分发挥不可逆电穿孔（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IRE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）可能的组织特异性优势。</a:t>
            </a:r>
          </a:p>
        </p:txBody>
      </p:sp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F98B63C3-C01C-6493-F510-A8C5D21350BF}"/>
              </a:ext>
            </a:extLst>
          </p:cNvPr>
          <p:cNvSpPr txBox="1">
            <a:spLocks/>
          </p:cNvSpPr>
          <p:nvPr/>
        </p:nvSpPr>
        <p:spPr>
          <a:xfrm>
            <a:off x="362584" y="297560"/>
            <a:ext cx="6834505" cy="40722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1304289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  <a:defRPr sz="2000" b="1" i="0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0" indent="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None/>
              <a:defRPr sz="1555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5339" indent="-40767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Char char="•"/>
              <a:defRPr sz="13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22374" indent="-40767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Char char="•"/>
              <a:defRPr sz="13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1304289" rtl="0" eaLnBrk="1" latinLnBrk="0" hangingPunct="1">
              <a:lnSpc>
                <a:spcPct val="11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sz="875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sz="257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PFA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原理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——PFA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与既往热能源有何不同？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547D6A5-D1D2-F4CA-9246-260E800F27A7}"/>
              </a:ext>
            </a:extLst>
          </p:cNvPr>
          <p:cNvSpPr/>
          <p:nvPr/>
        </p:nvSpPr>
        <p:spPr>
          <a:xfrm>
            <a:off x="5408342" y="71269"/>
            <a:ext cx="2151334" cy="1267035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72000" rIns="0" bIns="72000" rtlCol="0" anchor="ctr"/>
          <a:lstStyle/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作者：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DeSimone </a:t>
            </a:r>
            <a:r>
              <a:rPr lang="en-US" altLang="zh-CN" sz="1200" dirty="0" err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CV,et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 al</a:t>
            </a: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发表日期：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2014-08</a:t>
            </a: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研究类型：社论</a:t>
            </a:r>
            <a:endParaRPr lang="en-US" altLang="zh-CN" sz="12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 R" pitchFamily="18" charset="-122"/>
            </a:endParaRP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期刊：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Circ </a:t>
            </a:r>
            <a:r>
              <a:rPr lang="en-US" altLang="zh-CN" sz="1200" dirty="0" err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Arrhythm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 </a:t>
            </a:r>
            <a:r>
              <a:rPr lang="en-US" altLang="zh-CN" sz="1200" dirty="0" err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Electrophysiol</a:t>
            </a:r>
            <a:endParaRPr lang="en-US" altLang="zh-CN" sz="12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 R" pitchFamily="18" charset="-122"/>
              <a:sym typeface="+mn-ea"/>
            </a:endParaRPr>
          </a:p>
          <a:p>
            <a:pPr defTabSz="1279525">
              <a:spcAft>
                <a:spcPts val="600"/>
              </a:spcAft>
              <a:defRPr/>
            </a:pP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IF</a:t>
            </a: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9.8</a:t>
            </a:r>
          </a:p>
        </p:txBody>
      </p:sp>
      <p:sp>
        <p:nvSpPr>
          <p:cNvPr id="15" name="矩形: 圆角 484">
            <a:extLst>
              <a:ext uri="{FF2B5EF4-FFF2-40B4-BE49-F238E27FC236}">
                <a16:creationId xmlns:a16="http://schemas.microsoft.com/office/drawing/2014/main" id="{905C252E-37DC-7C73-A25D-9F58C1CD843D}"/>
              </a:ext>
            </a:extLst>
          </p:cNvPr>
          <p:cNvSpPr/>
          <p:nvPr/>
        </p:nvSpPr>
        <p:spPr>
          <a:xfrm>
            <a:off x="3160747" y="8417609"/>
            <a:ext cx="1039829" cy="824761"/>
          </a:xfrm>
          <a:prstGeom prst="roundRect">
            <a:avLst>
              <a:gd name="adj" fmla="val 422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点击查看原文链接</a:t>
            </a:r>
            <a:endParaRPr kumimoji="1" lang="zh-CN" altLang="en-US" sz="14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1790A71-1978-F591-2917-09ECDA39F43F}"/>
              </a:ext>
            </a:extLst>
          </p:cNvPr>
          <p:cNvSpPr txBox="1"/>
          <p:nvPr/>
        </p:nvSpPr>
        <p:spPr>
          <a:xfrm>
            <a:off x="709492" y="9355115"/>
            <a:ext cx="64872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https://</a:t>
            </a:r>
            <a:r>
              <a:rPr lang="en-US" altLang="zh-CN" sz="1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www.ahajournals.org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en-US" altLang="zh-CN" sz="1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doi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/10.1161/CIRCEP.114.001999?url_ver=Z39.88-2003&amp;rfr_id=</a:t>
            </a:r>
            <a:r>
              <a:rPr lang="en-US" altLang="zh-CN" sz="1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ori:rid:crossref.org&amp;rfr_dat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=cr_pub%20%200pubmed</a:t>
            </a:r>
            <a:endParaRPr lang="zh-CN" alt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DB20F9D-7DD5-EA05-46BC-7A62F7281128}"/>
              </a:ext>
            </a:extLst>
          </p:cNvPr>
          <p:cNvSpPr txBox="1"/>
          <p:nvPr/>
        </p:nvSpPr>
        <p:spPr>
          <a:xfrm>
            <a:off x="1659972" y="9978033"/>
            <a:ext cx="57236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*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版权问题暂不提供直接下载，如有学术交流需要，请联系内部人员</a:t>
            </a:r>
          </a:p>
        </p:txBody>
      </p:sp>
    </p:spTree>
    <p:extLst>
      <p:ext uri="{BB962C8B-B14F-4D97-AF65-F5344CB8AC3E}">
        <p14:creationId xmlns:p14="http://schemas.microsoft.com/office/powerpoint/2010/main" val="12851028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7E75C-9602-3548-C9E3-5F26725C7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A2D58D0D-F6FA-BCC7-C793-EAAC709B1F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4426" y="1807949"/>
            <a:ext cx="7197410" cy="69519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Cell membrane electroporation- Part 1: The phenomenon</a:t>
            </a: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细胞膜电穿孔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第一部分：现象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6DE43B-9D7B-5AD6-BB55-2674D98661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6715" y="10469426"/>
            <a:ext cx="6834187" cy="123111"/>
          </a:xfrm>
        </p:spPr>
        <p:txBody>
          <a:bodyPr/>
          <a:lstStyle/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800" b="1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参考文献：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Kotnik T, et al. Cell membrane electroporation-Part 1: The phenomenon[J]. IEEE Electrical Insulation Magazine, 2012, 28(5): 14-23.</a:t>
            </a:r>
            <a:endParaRPr lang="en-US" altLang="zh-CN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AD5E288-21D4-B742-10EF-E2E8BADAEB1D}"/>
              </a:ext>
            </a:extLst>
          </p:cNvPr>
          <p:cNvSpPr txBox="1"/>
          <p:nvPr/>
        </p:nvSpPr>
        <p:spPr>
          <a:xfrm>
            <a:off x="362743" y="3232397"/>
            <a:ext cx="6834186" cy="3905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400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摘要：</a:t>
            </a:r>
            <a:endParaRPr lang="en-US" altLang="zh-CN" sz="1400" b="1" dirty="0"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电穿孔自发现以来已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在医学和生物技术领域展现出广泛的应用价值。目前，可逆电穿孔已成为向肿瘤细胞内导入化疗药物的成熟手段（即电化学疗法），同时也有望在避免病毒载体风险的前提下实现基因治疗（即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DNA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电转移）。在临床医学方面，不可逆电穿孔正被探索用于组织消融（非热消融）；而在生物技术领域，该技术可用于提取生物分子及杀灭微生物，在食品保鲜中尤为实用。</a:t>
            </a:r>
          </a:p>
          <a:p>
            <a:pPr>
              <a:lnSpc>
                <a:spcPct val="200000"/>
              </a:lnSpc>
            </a:pP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本文是电穿孔专题三篇系列文章的开篇之作，首先从分子层面剖析脂质双层中的电穿孔机制，进而提升至细胞层面，阐述外部电场如何在整个细胞上诱导质膜产生跨膜电压、引发出穿孔，并促使分子经由这些穿孔实现跨膜转运。</a:t>
            </a:r>
          </a:p>
        </p:txBody>
      </p:sp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BAC782D8-2103-172C-FA2A-6E3A317D59BF}"/>
              </a:ext>
            </a:extLst>
          </p:cNvPr>
          <p:cNvSpPr txBox="1">
            <a:spLocks/>
          </p:cNvSpPr>
          <p:nvPr/>
        </p:nvSpPr>
        <p:spPr>
          <a:xfrm>
            <a:off x="362584" y="297560"/>
            <a:ext cx="6834505" cy="40722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1304289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  <a:defRPr sz="2000" b="1" i="0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0" indent="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None/>
              <a:defRPr sz="1555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5339" indent="-40767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Char char="•"/>
              <a:defRPr sz="13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22374" indent="-40767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Char char="•"/>
              <a:defRPr sz="13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1304289" rtl="0" eaLnBrk="1" latinLnBrk="0" hangingPunct="1">
              <a:lnSpc>
                <a:spcPct val="11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sz="875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sz="257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PFA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原理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——PFA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与既往热能源有何不同？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426AA3C-790E-68D5-83FC-DBB57DC88565}"/>
              </a:ext>
            </a:extLst>
          </p:cNvPr>
          <p:cNvSpPr/>
          <p:nvPr/>
        </p:nvSpPr>
        <p:spPr>
          <a:xfrm>
            <a:off x="5745892" y="71269"/>
            <a:ext cx="1813783" cy="1267035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72000" rIns="0" bIns="72000" rtlCol="0" anchor="ctr"/>
          <a:lstStyle/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作者：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Kotnik T, et al</a:t>
            </a: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发表日期：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2012-08-16</a:t>
            </a: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研究类型：综述</a:t>
            </a:r>
            <a:endParaRPr lang="en-US" altLang="zh-CN" sz="12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 R" pitchFamily="18" charset="-122"/>
            </a:endParaRP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期刊：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IEEE </a:t>
            </a:r>
            <a:r>
              <a:rPr lang="en-US" altLang="zh-CN" sz="1200" dirty="0" err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Electr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. </a:t>
            </a:r>
            <a:r>
              <a:rPr lang="en-US" altLang="zh-CN" sz="1200" dirty="0" err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Insul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. Mag</a:t>
            </a:r>
          </a:p>
          <a:p>
            <a:pPr defTabSz="1279525">
              <a:spcAft>
                <a:spcPts val="600"/>
              </a:spcAft>
              <a:defRPr/>
            </a:pP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IF</a:t>
            </a: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1.3</a:t>
            </a:r>
          </a:p>
        </p:txBody>
      </p:sp>
      <p:sp>
        <p:nvSpPr>
          <p:cNvPr id="15" name="矩形: 圆角 484">
            <a:extLst>
              <a:ext uri="{FF2B5EF4-FFF2-40B4-BE49-F238E27FC236}">
                <a16:creationId xmlns:a16="http://schemas.microsoft.com/office/drawing/2014/main" id="{31A63BF9-F9E5-4BCA-1DF3-597634966A85}"/>
              </a:ext>
            </a:extLst>
          </p:cNvPr>
          <p:cNvSpPr/>
          <p:nvPr/>
        </p:nvSpPr>
        <p:spPr>
          <a:xfrm>
            <a:off x="3160747" y="8417609"/>
            <a:ext cx="1039829" cy="824761"/>
          </a:xfrm>
          <a:prstGeom prst="roundRect">
            <a:avLst>
              <a:gd name="adj" fmla="val 422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点击查看原文链接</a:t>
            </a:r>
            <a:endParaRPr kumimoji="1" lang="zh-CN" altLang="en-US" sz="14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77526FA-E8AA-2310-127E-ECAE1887F7BA}"/>
              </a:ext>
            </a:extLst>
          </p:cNvPr>
          <p:cNvSpPr txBox="1"/>
          <p:nvPr/>
        </p:nvSpPr>
        <p:spPr>
          <a:xfrm>
            <a:off x="709492" y="9355115"/>
            <a:ext cx="64872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https://</a:t>
            </a:r>
            <a:r>
              <a:rPr lang="en-US" altLang="zh-CN" sz="1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ieeexplore.ieee.org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/abstract/document/6268438/</a:t>
            </a:r>
            <a:r>
              <a:rPr lang="en-US" altLang="zh-CN" sz="1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keywords#keywords</a:t>
            </a:r>
            <a:endParaRPr lang="zh-CN" alt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66962CB-0913-EC9F-CB88-0EB8B08BD492}"/>
              </a:ext>
            </a:extLst>
          </p:cNvPr>
          <p:cNvSpPr txBox="1"/>
          <p:nvPr/>
        </p:nvSpPr>
        <p:spPr>
          <a:xfrm>
            <a:off x="1659972" y="9978033"/>
            <a:ext cx="57236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*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版权问题暂不提供直接下载，如有学术交流需要，请联系内部人员</a:t>
            </a:r>
          </a:p>
        </p:txBody>
      </p:sp>
    </p:spTree>
    <p:extLst>
      <p:ext uri="{BB962C8B-B14F-4D97-AF65-F5344CB8AC3E}">
        <p14:creationId xmlns:p14="http://schemas.microsoft.com/office/powerpoint/2010/main" val="3249906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F1BAB-B932-1A34-AD53-40C0098BE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6AC50BE-875E-69B9-0AAB-FD062C4393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4426" y="1372839"/>
            <a:ext cx="7197410" cy="180318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Internal atrial shock delivery by standard diagnostic electrophysiology catheters in goats: effects on atrial electrogram amplitude and tissue architecture</a:t>
            </a: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通过标准诊断电生理导管对山羊进行心房内电击：对心房电图振幅和组织结构的影响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898518-A821-247B-6AF8-F723339B174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6715" y="10346316"/>
            <a:ext cx="6834187" cy="246221"/>
          </a:xfrm>
        </p:spPr>
        <p:txBody>
          <a:bodyPr/>
          <a:lstStyle/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800" b="1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参考文献：</a:t>
            </a:r>
            <a:r>
              <a:rPr lang="en-US" altLang="zh-CN" sz="800" dirty="0" err="1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Wijffels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 MC,</a:t>
            </a:r>
            <a:r>
              <a:rPr lang="zh-CN" altLang="en-US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 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et</a:t>
            </a:r>
            <a:r>
              <a:rPr lang="zh-CN" altLang="en-US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 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al. Internal atrial shock delivery by standard diagnostic electrophysiology catheters in goats: effects on atrial electrogram amplitude and tissue architecture. </a:t>
            </a:r>
            <a:r>
              <a:rPr lang="en-US" altLang="zh-CN" sz="800" dirty="0" err="1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Europace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. 2007 Apr;9(4):203-7.</a:t>
            </a:r>
            <a:endParaRPr lang="en-US" altLang="zh-CN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CBB3527-AD21-075B-A13C-E922D9E46D00}"/>
              </a:ext>
            </a:extLst>
          </p:cNvPr>
          <p:cNvSpPr txBox="1"/>
          <p:nvPr/>
        </p:nvSpPr>
        <p:spPr>
          <a:xfrm>
            <a:off x="362743" y="3232397"/>
            <a:ext cx="6834186" cy="5197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400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摘要：</a:t>
            </a:r>
            <a:endParaRPr lang="en-US" altLang="zh-CN" sz="1400" b="1" dirty="0"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目的：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本研究旨在评估通过诊断性电生理导管进行心房电击所产生的效果。</a:t>
            </a:r>
          </a:p>
          <a:p>
            <a:pPr>
              <a:lnSpc>
                <a:spcPct val="200000"/>
              </a:lnSpc>
            </a:pPr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方法与结果：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将十极导管分别置于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11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只麻醉山羊右心耳（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RAA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）和冠状窦（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CS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）。共评估三种不同导管与两种复律方案。其中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只山羊使用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 mm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电极（表面积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70 mm²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）输送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50 J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电击；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只使用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 mm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电极（面积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140 mm²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），其中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只给予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50 J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，另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只给予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10 J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；另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只使用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5 mm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电极（面积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310 mm²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）输送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50 J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电击。结果未出现持续性不良反应。但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RAA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CS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部位的电图振幅下降＞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50%–98%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 &gt; 0.01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），以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CS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部位及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50 J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电击组的降幅最为显著。实验动物于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9 ± 1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天后处死，肉眼可见电极部位存在心内膜损伤，镜下表现为心内膜血栓形成及伴肉芽组织形成的坏死。诊断性导管联合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50 J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电击引起的损伤最为明显。</a:t>
            </a:r>
          </a:p>
          <a:p>
            <a:pPr>
              <a:lnSpc>
                <a:spcPct val="200000"/>
              </a:lnSpc>
            </a:pPr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结论：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经诊断性导管输送心房电击可诱发局部消融性损伤。振幅下降程度、宏观和微观损伤均与施加的能量和电极表面积相关 。</a:t>
            </a:r>
          </a:p>
        </p:txBody>
      </p:sp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1E885AD2-1854-3D5C-D7A0-86724908C29D}"/>
              </a:ext>
            </a:extLst>
          </p:cNvPr>
          <p:cNvSpPr txBox="1">
            <a:spLocks/>
          </p:cNvSpPr>
          <p:nvPr/>
        </p:nvSpPr>
        <p:spPr>
          <a:xfrm>
            <a:off x="362584" y="297560"/>
            <a:ext cx="6834505" cy="40722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1304289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  <a:defRPr sz="2000" b="1" i="0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0" indent="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None/>
              <a:defRPr sz="1555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5339" indent="-40767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Char char="•"/>
              <a:defRPr sz="13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22374" indent="-40767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Char char="•"/>
              <a:defRPr sz="13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1304289" rtl="0" eaLnBrk="1" latinLnBrk="0" hangingPunct="1">
              <a:lnSpc>
                <a:spcPct val="11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sz="875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sz="257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PFA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原理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——PFA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与既往热能源有何不同？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E99B2A1-FBE7-2C43-6577-B2A9E4D6B84E}"/>
              </a:ext>
            </a:extLst>
          </p:cNvPr>
          <p:cNvSpPr/>
          <p:nvPr/>
        </p:nvSpPr>
        <p:spPr>
          <a:xfrm>
            <a:off x="5408342" y="71269"/>
            <a:ext cx="2151334" cy="1267035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72000" rIns="0" bIns="72000" rtlCol="0" anchor="ctr"/>
          <a:lstStyle/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作者：</a:t>
            </a:r>
            <a:r>
              <a:rPr lang="en-US" altLang="zh-CN" sz="1200" dirty="0" err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Wijffels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 </a:t>
            </a:r>
            <a:r>
              <a:rPr lang="en-US" altLang="zh-CN" sz="1200" dirty="0" err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MC,et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 al</a:t>
            </a: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发表日期：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2007-03-09</a:t>
            </a: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研究类型：动物实验</a:t>
            </a:r>
            <a:endParaRPr lang="en-US" altLang="zh-CN" sz="12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 R" pitchFamily="18" charset="-122"/>
            </a:endParaRP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期刊：</a:t>
            </a:r>
            <a:r>
              <a:rPr lang="en-US" altLang="zh-CN" sz="1200" dirty="0" err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Europace</a:t>
            </a:r>
            <a:endParaRPr lang="en-US" altLang="zh-CN" sz="12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 R" pitchFamily="18" charset="-122"/>
              <a:sym typeface="+mn-ea"/>
            </a:endParaRPr>
          </a:p>
          <a:p>
            <a:pPr defTabSz="1279525">
              <a:spcAft>
                <a:spcPts val="600"/>
              </a:spcAft>
              <a:defRPr/>
            </a:pP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IF</a:t>
            </a: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7.5</a:t>
            </a:r>
          </a:p>
        </p:txBody>
      </p:sp>
      <p:sp>
        <p:nvSpPr>
          <p:cNvPr id="15" name="矩形: 圆角 484">
            <a:extLst>
              <a:ext uri="{FF2B5EF4-FFF2-40B4-BE49-F238E27FC236}">
                <a16:creationId xmlns:a16="http://schemas.microsoft.com/office/drawing/2014/main" id="{258B067B-2374-6688-1586-0DAF746A08B7}"/>
              </a:ext>
            </a:extLst>
          </p:cNvPr>
          <p:cNvSpPr/>
          <p:nvPr/>
        </p:nvSpPr>
        <p:spPr>
          <a:xfrm>
            <a:off x="3160747" y="8417609"/>
            <a:ext cx="1039829" cy="824761"/>
          </a:xfrm>
          <a:prstGeom prst="roundRect">
            <a:avLst>
              <a:gd name="adj" fmla="val 422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点击查看原文链接</a:t>
            </a:r>
            <a:endParaRPr kumimoji="1" lang="zh-CN" altLang="en-US" sz="14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9667F64-6852-1387-E371-6985CD69C821}"/>
              </a:ext>
            </a:extLst>
          </p:cNvPr>
          <p:cNvSpPr txBox="1"/>
          <p:nvPr/>
        </p:nvSpPr>
        <p:spPr>
          <a:xfrm>
            <a:off x="709492" y="9355115"/>
            <a:ext cx="64872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https://</a:t>
            </a:r>
            <a:r>
              <a:rPr lang="en-US" altLang="zh-CN" sz="1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academic.oup.com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en-US" altLang="zh-CN" sz="1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europace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/article/9/4/203/640812?login=false</a:t>
            </a:r>
            <a:endParaRPr lang="zh-CN" alt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D911850-3C6B-60BC-F9B2-95067CC6510E}"/>
              </a:ext>
            </a:extLst>
          </p:cNvPr>
          <p:cNvSpPr txBox="1"/>
          <p:nvPr/>
        </p:nvSpPr>
        <p:spPr>
          <a:xfrm>
            <a:off x="1659972" y="9978033"/>
            <a:ext cx="57236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*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版权问题暂不提供直接下载，如有学术交流需要，请联系内部人员</a:t>
            </a:r>
          </a:p>
        </p:txBody>
      </p:sp>
    </p:spTree>
    <p:extLst>
      <p:ext uri="{BB962C8B-B14F-4D97-AF65-F5344CB8AC3E}">
        <p14:creationId xmlns:p14="http://schemas.microsoft.com/office/powerpoint/2010/main" val="13526302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693FD-0258-7462-CCB5-2D43FA823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F042F2C-8CB6-25C0-F027-874A0CB111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2265" y="1704911"/>
            <a:ext cx="7197410" cy="69519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Electroporation of the heart</a:t>
            </a: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心脏电穿孔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01B87E-235B-FDC2-CA0B-B5F63C49600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6715" y="10469426"/>
            <a:ext cx="6834187" cy="123111"/>
          </a:xfrm>
        </p:spPr>
        <p:txBody>
          <a:bodyPr/>
          <a:lstStyle/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800" b="1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参考文献：</a:t>
            </a:r>
            <a:r>
              <a:rPr lang="en-US" altLang="zh-CN" sz="800" dirty="0" err="1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Nikolski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 VP, et al. Electroporation of the heart. </a:t>
            </a:r>
            <a:r>
              <a:rPr lang="en-US" altLang="zh-CN" sz="800" dirty="0" err="1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Europace</a:t>
            </a:r>
            <a:r>
              <a:rPr lang="en-US" altLang="zh-CN" sz="800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</a:rPr>
              <a:t>. 2005 Sep;7 Suppl 2:146-54.</a:t>
            </a:r>
            <a:endParaRPr lang="en-US" altLang="zh-CN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29C52EF-E80A-5965-217A-D02013C3BBDA}"/>
              </a:ext>
            </a:extLst>
          </p:cNvPr>
          <p:cNvSpPr txBox="1"/>
          <p:nvPr/>
        </p:nvSpPr>
        <p:spPr>
          <a:xfrm>
            <a:off x="362743" y="3232397"/>
            <a:ext cx="6834186" cy="2612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400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摘要：</a:t>
            </a:r>
            <a:endParaRPr lang="en-US" altLang="zh-CN" sz="1400" b="1" dirty="0"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除颤电击常用于终止危及生命的心律失常。此类电击目的是使大多数心肌细胞膜去极化，从而恢复心脏电活动的同步性。若电击引起的跨膜电位变化足够大，则可能因电穿孔导致一过性组织损伤。本文综述表明：（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）在临床相关强度的外部电场作用下，心脏组织确实可能发生电穿孔；（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）电穿孔既可抗心律失常，也可致心律失常，从而影响除颤治疗的效果。</a:t>
            </a:r>
          </a:p>
        </p:txBody>
      </p:sp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A2406AE0-9E1A-E58E-E997-69BCF53B8305}"/>
              </a:ext>
            </a:extLst>
          </p:cNvPr>
          <p:cNvSpPr txBox="1">
            <a:spLocks/>
          </p:cNvSpPr>
          <p:nvPr/>
        </p:nvSpPr>
        <p:spPr>
          <a:xfrm>
            <a:off x="362584" y="297560"/>
            <a:ext cx="6834505" cy="40722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1304289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  <a:defRPr sz="2000" b="1" i="0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0" indent="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None/>
              <a:defRPr sz="1555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5339" indent="-40767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Char char="•"/>
              <a:defRPr sz="13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22374" indent="-407670" algn="l" defTabSz="130428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55"/>
              </a:spcAft>
              <a:buFont typeface="Arial" panose="020B0604020202090204" pitchFamily="34" charset="0"/>
              <a:buChar char="•"/>
              <a:defRPr sz="136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1304289" rtl="0" eaLnBrk="1" latinLnBrk="0" hangingPunct="1">
              <a:lnSpc>
                <a:spcPct val="11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sz="875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lang="en-GB" sz="257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1304289" rtl="0" eaLnBrk="1" latinLnBrk="0" hangingPunct="1">
              <a:lnSpc>
                <a:spcPct val="90000"/>
              </a:lnSpc>
              <a:spcBef>
                <a:spcPts val="855"/>
              </a:spcBef>
              <a:spcAft>
                <a:spcPts val="855"/>
              </a:spcAft>
              <a:buFont typeface="Arial" panose="020B0604020202090204" pitchFamily="34" charset="0"/>
              <a:buNone/>
              <a:defRPr sz="257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PFA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原理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——PFA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与既往热能源有何不同？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891C8DB-B51B-52BB-6443-13EA420A1A2C}"/>
              </a:ext>
            </a:extLst>
          </p:cNvPr>
          <p:cNvSpPr/>
          <p:nvPr/>
        </p:nvSpPr>
        <p:spPr>
          <a:xfrm>
            <a:off x="5408342" y="71269"/>
            <a:ext cx="2151334" cy="1267035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72000" rIns="0" bIns="72000" rtlCol="0" anchor="ctr"/>
          <a:lstStyle/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作者：</a:t>
            </a:r>
            <a:r>
              <a:rPr lang="en-US" altLang="zh-CN" sz="1200" dirty="0" err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Nikolski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 VP,</a:t>
            </a: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 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et al</a:t>
            </a: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发表日期：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2005-09-07</a:t>
            </a: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研究类型：综述</a:t>
            </a:r>
            <a:endParaRPr lang="en-US" altLang="zh-CN" sz="12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 R" pitchFamily="18" charset="-122"/>
            </a:endParaRPr>
          </a:p>
          <a:p>
            <a:pPr defTabSz="1279525">
              <a:spcAft>
                <a:spcPts val="600"/>
              </a:spcAft>
              <a:defRPr/>
            </a:pP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期刊：</a:t>
            </a:r>
            <a:r>
              <a:rPr lang="en-US" altLang="zh-CN" sz="1200" dirty="0" err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Europace</a:t>
            </a:r>
            <a:endParaRPr lang="en-US" altLang="zh-CN" sz="12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 R" pitchFamily="18" charset="-122"/>
              <a:sym typeface="+mn-ea"/>
            </a:endParaRPr>
          </a:p>
          <a:p>
            <a:pPr defTabSz="1279525">
              <a:spcAft>
                <a:spcPts val="600"/>
              </a:spcAft>
              <a:defRPr/>
            </a:pP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IF</a:t>
            </a:r>
            <a:r>
              <a:rPr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：</a:t>
            </a:r>
            <a:r>
              <a:rPr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R" pitchFamily="18" charset="-122"/>
                <a:sym typeface="+mn-ea"/>
              </a:rPr>
              <a:t>7.5</a:t>
            </a:r>
          </a:p>
        </p:txBody>
      </p:sp>
      <p:sp>
        <p:nvSpPr>
          <p:cNvPr id="15" name="矩形: 圆角 484">
            <a:extLst>
              <a:ext uri="{FF2B5EF4-FFF2-40B4-BE49-F238E27FC236}">
                <a16:creationId xmlns:a16="http://schemas.microsoft.com/office/drawing/2014/main" id="{0F885604-2538-3D84-FF68-D6043CB0C566}"/>
              </a:ext>
            </a:extLst>
          </p:cNvPr>
          <p:cNvSpPr/>
          <p:nvPr/>
        </p:nvSpPr>
        <p:spPr>
          <a:xfrm>
            <a:off x="3160747" y="8417609"/>
            <a:ext cx="1039829" cy="824761"/>
          </a:xfrm>
          <a:prstGeom prst="roundRect">
            <a:avLst>
              <a:gd name="adj" fmla="val 422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点击查看原文链接</a:t>
            </a:r>
            <a:endParaRPr kumimoji="1" lang="zh-CN" altLang="en-US" sz="14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E0F4AE9-B1D5-202D-7C02-9660F82A236E}"/>
              </a:ext>
            </a:extLst>
          </p:cNvPr>
          <p:cNvSpPr txBox="1"/>
          <p:nvPr/>
        </p:nvSpPr>
        <p:spPr>
          <a:xfrm>
            <a:off x="709492" y="9355115"/>
            <a:ext cx="64872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https://</a:t>
            </a:r>
            <a:r>
              <a:rPr lang="en-US" altLang="zh-CN" sz="1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academic.oup.com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en-US" altLang="zh-CN" sz="1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europace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/article/7/s2/S146/520582?login=false</a:t>
            </a:r>
            <a:endParaRPr lang="zh-CN" alt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A11FC9E-923F-2033-1715-1CEB6C8AF30E}"/>
              </a:ext>
            </a:extLst>
          </p:cNvPr>
          <p:cNvSpPr txBox="1"/>
          <p:nvPr/>
        </p:nvSpPr>
        <p:spPr>
          <a:xfrm>
            <a:off x="1659972" y="9978033"/>
            <a:ext cx="57236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*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版权问题暂不提供直接下载，如有学术交流需要，请联系内部人员</a:t>
            </a:r>
          </a:p>
        </p:txBody>
      </p:sp>
    </p:spTree>
    <p:extLst>
      <p:ext uri="{BB962C8B-B14F-4D97-AF65-F5344CB8AC3E}">
        <p14:creationId xmlns:p14="http://schemas.microsoft.com/office/powerpoint/2010/main" val="30651842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DY2MWVjYjViNGYzMGI3NmY4NGUxZTljZTIzYTYxYWIifQ=="/>
</p:tagLst>
</file>

<file path=ppt/theme/theme1.xml><?xml version="1.0" encoding="utf-8"?>
<a:theme xmlns:a="http://schemas.openxmlformats.org/drawingml/2006/main" name="Johnson and Johnson: Innovative Medicine">
  <a:themeElements>
    <a:clrScheme name="Johnson and Johnson 1">
      <a:dk1>
        <a:srgbClr val="000000"/>
      </a:dk1>
      <a:lt1>
        <a:srgbClr val="FFFFFF"/>
      </a:lt1>
      <a:dk2>
        <a:srgbClr val="F9F7F6"/>
      </a:dk2>
      <a:lt2>
        <a:srgbClr val="564C47"/>
      </a:lt2>
      <a:accent1>
        <a:srgbClr val="EB1700"/>
      </a:accent1>
      <a:accent2>
        <a:srgbClr val="000000"/>
      </a:accent2>
      <a:accent3>
        <a:srgbClr val="C1BBB3"/>
      </a:accent3>
      <a:accent4>
        <a:srgbClr val="004685"/>
      </a:accent4>
      <a:accent5>
        <a:srgbClr val="69D0FF"/>
      </a:accent5>
      <a:accent6>
        <a:srgbClr val="541980"/>
      </a:accent6>
      <a:hlink>
        <a:srgbClr val="000000"/>
      </a:hlink>
      <a:folHlink>
        <a:srgbClr val="000000"/>
      </a:folHlink>
    </a:clrScheme>
    <a:fontScheme name="自定义 216">
      <a:majorFont>
        <a:latin typeface="Johnson Display"/>
        <a:ea typeface="方正雅士黑 简"/>
        <a:cs typeface=""/>
      </a:majorFont>
      <a:minorFont>
        <a:latin typeface="Johnson Text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smtClean="0">
            <a:latin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85750" indent="-285750" algn="l">
          <a:buFont typeface="Arial" panose="020B0604020202090204" pitchFamily="34" charset="0"/>
          <a:buChar char="•"/>
          <a:defRPr sz="1800" kern="1200" dirty="0" err="1" smtClean="0">
            <a:solidFill>
              <a:schemeClr val="tx1"/>
            </a:solidFill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Johnson and Johnson: Innovative Medicine">
  <a:themeElements>
    <a:clrScheme name="Johnson and Johnson 1">
      <a:dk1>
        <a:srgbClr val="000000"/>
      </a:dk1>
      <a:lt1>
        <a:srgbClr val="FFFFFF"/>
      </a:lt1>
      <a:dk2>
        <a:srgbClr val="F9F7F6"/>
      </a:dk2>
      <a:lt2>
        <a:srgbClr val="564C47"/>
      </a:lt2>
      <a:accent1>
        <a:srgbClr val="EB1700"/>
      </a:accent1>
      <a:accent2>
        <a:srgbClr val="000000"/>
      </a:accent2>
      <a:accent3>
        <a:srgbClr val="C1BBB3"/>
      </a:accent3>
      <a:accent4>
        <a:srgbClr val="004685"/>
      </a:accent4>
      <a:accent5>
        <a:srgbClr val="69D0FF"/>
      </a:accent5>
      <a:accent6>
        <a:srgbClr val="541980"/>
      </a:accent6>
      <a:hlink>
        <a:srgbClr val="000000"/>
      </a:hlink>
      <a:folHlink>
        <a:srgbClr val="000000"/>
      </a:folHlink>
    </a:clrScheme>
    <a:fontScheme name="J&amp;J">
      <a:majorFont>
        <a:latin typeface="Johnson Display"/>
        <a:ea typeface=""/>
        <a:cs typeface=""/>
      </a:majorFont>
      <a:minorFont>
        <a:latin typeface="Johnson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smtClean="0">
            <a:latin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85750" indent="-285750" algn="l">
          <a:buFont typeface="Arial" panose="020B0604020202090204" pitchFamily="34" charset="0"/>
          <a:buChar char="•"/>
          <a:defRPr sz="1800" kern="1200" dirty="0" err="1" smtClean="0">
            <a:solidFill>
              <a:schemeClr val="tx1"/>
            </a:solidFill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Johnson and Johnson: Innovative Medicine">
  <a:themeElements>
    <a:clrScheme name="Johnson and Johnson 1">
      <a:dk1>
        <a:srgbClr val="000000"/>
      </a:dk1>
      <a:lt1>
        <a:srgbClr val="FFFFFF"/>
      </a:lt1>
      <a:dk2>
        <a:srgbClr val="F9F7F6"/>
      </a:dk2>
      <a:lt2>
        <a:srgbClr val="564C47"/>
      </a:lt2>
      <a:accent1>
        <a:srgbClr val="EB1700"/>
      </a:accent1>
      <a:accent2>
        <a:srgbClr val="000000"/>
      </a:accent2>
      <a:accent3>
        <a:srgbClr val="C1BBB3"/>
      </a:accent3>
      <a:accent4>
        <a:srgbClr val="004685"/>
      </a:accent4>
      <a:accent5>
        <a:srgbClr val="69D0FF"/>
      </a:accent5>
      <a:accent6>
        <a:srgbClr val="541980"/>
      </a:accent6>
      <a:hlink>
        <a:srgbClr val="000000"/>
      </a:hlink>
      <a:folHlink>
        <a:srgbClr val="000000"/>
      </a:folHlink>
    </a:clrScheme>
    <a:fontScheme name="J&amp;J">
      <a:majorFont>
        <a:latin typeface="Johnson Display"/>
        <a:ea typeface=""/>
        <a:cs typeface=""/>
      </a:majorFont>
      <a:minorFont>
        <a:latin typeface="Johnson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smtClean="0">
            <a:latin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85750" indent="-285750" algn="l">
          <a:buFont typeface="Arial" panose="020B0604020202090204" pitchFamily="34" charset="0"/>
          <a:buChar char="•"/>
          <a:defRPr sz="1800" kern="1200" dirty="0" err="1" smtClean="0">
            <a:solidFill>
              <a:schemeClr val="tx1"/>
            </a:solidFill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Johnson and Johnson: Innovative Medicine">
  <a:themeElements>
    <a:clrScheme name="Johnson and Johnson 1">
      <a:dk1>
        <a:srgbClr val="000000"/>
      </a:dk1>
      <a:lt1>
        <a:srgbClr val="FFFFFF"/>
      </a:lt1>
      <a:dk2>
        <a:srgbClr val="F9F7F6"/>
      </a:dk2>
      <a:lt2>
        <a:srgbClr val="564C47"/>
      </a:lt2>
      <a:accent1>
        <a:srgbClr val="EB1700"/>
      </a:accent1>
      <a:accent2>
        <a:srgbClr val="000000"/>
      </a:accent2>
      <a:accent3>
        <a:srgbClr val="C1BBB3"/>
      </a:accent3>
      <a:accent4>
        <a:srgbClr val="004685"/>
      </a:accent4>
      <a:accent5>
        <a:srgbClr val="69D0FF"/>
      </a:accent5>
      <a:accent6>
        <a:srgbClr val="541980"/>
      </a:accent6>
      <a:hlink>
        <a:srgbClr val="000000"/>
      </a:hlink>
      <a:folHlink>
        <a:srgbClr val="000000"/>
      </a:folHlink>
    </a:clrScheme>
    <a:fontScheme name="自定义 216">
      <a:majorFont>
        <a:latin typeface="Johnson Display"/>
        <a:ea typeface="方正雅士黑 简"/>
        <a:cs typeface=""/>
      </a:majorFont>
      <a:minorFont>
        <a:latin typeface="Johnson Text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smtClean="0">
            <a:latin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85750" indent="-285750" algn="l">
          <a:buFont typeface="Arial" panose="020B0604020202090204" pitchFamily="34" charset="0"/>
          <a:buChar char="•"/>
          <a:defRPr sz="1800" kern="1200" dirty="0" err="1" smtClean="0">
            <a:solidFill>
              <a:schemeClr val="tx1"/>
            </a:solidFill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Johnson and Johnson: Innovative Medicine">
  <a:themeElements>
    <a:clrScheme name="自定义 912">
      <a:dk1>
        <a:srgbClr val="000000"/>
      </a:dk1>
      <a:lt1>
        <a:srgbClr val="FFFFFF"/>
      </a:lt1>
      <a:dk2>
        <a:srgbClr val="F9F7F6"/>
      </a:dk2>
      <a:lt2>
        <a:srgbClr val="564C47"/>
      </a:lt2>
      <a:accent1>
        <a:srgbClr val="EB1700"/>
      </a:accent1>
      <a:accent2>
        <a:srgbClr val="000000"/>
      </a:accent2>
      <a:accent3>
        <a:srgbClr val="C1BBB3"/>
      </a:accent3>
      <a:accent4>
        <a:srgbClr val="004685"/>
      </a:accent4>
      <a:accent5>
        <a:srgbClr val="69D0FF"/>
      </a:accent5>
      <a:accent6>
        <a:srgbClr val="541980"/>
      </a:accent6>
      <a:hlink>
        <a:srgbClr val="000000"/>
      </a:hlink>
      <a:folHlink>
        <a:srgbClr val="000000"/>
      </a:folHlink>
    </a:clrScheme>
    <a:fontScheme name="自定义 287">
      <a:majorFont>
        <a:latin typeface="Johnson Display"/>
        <a:ea typeface="方正雅士黑 简"/>
        <a:cs typeface=""/>
      </a:majorFont>
      <a:minorFont>
        <a:latin typeface="Johnson Text"/>
        <a:ea typeface="阿里巴巴普惠体 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smtClean="0">
            <a:latin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85750" indent="-285750" algn="l">
          <a:buFont typeface="Arial" panose="020B0604020202090204" pitchFamily="34" charset="0"/>
          <a:buChar char="•"/>
          <a:defRPr sz="1800" kern="1200" dirty="0" err="1" smtClean="0">
            <a:solidFill>
              <a:schemeClr val="tx1"/>
            </a:solidFill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JJMT_V3_Core_Program_PPT_Template</Template>
  <TotalTime>10611</TotalTime>
  <Words>6447</Words>
  <Application>Microsoft Macintosh PowerPoint</Application>
  <PresentationFormat>自定义</PresentationFormat>
  <Paragraphs>325</Paragraphs>
  <Slides>23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23</vt:i4>
      </vt:variant>
    </vt:vector>
  </HeadingPairs>
  <TitlesOfParts>
    <vt:vector size="32" baseType="lpstr">
      <vt:lpstr>Johnson Display</vt:lpstr>
      <vt:lpstr>Arial</vt:lpstr>
      <vt:lpstr>Microsoft YaHei</vt:lpstr>
      <vt:lpstr>Johnson Text</vt:lpstr>
      <vt:lpstr>Johnson and Johnson: Innovative Medicine</vt:lpstr>
      <vt:lpstr>1_Johnson and Johnson: Innovative Medicine</vt:lpstr>
      <vt:lpstr>2_Johnson and Johnson: Innovative Medicine</vt:lpstr>
      <vt:lpstr>3_Johnson and Johnson: Innovative Medicine</vt:lpstr>
      <vt:lpstr>5_Johnson and Johnson: Innovative Medicine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goes here</dc:title>
  <dc:creator>Bostwick, Samantha [DPYUS]</dc:creator>
  <cp:lastModifiedBy>B3209</cp:lastModifiedBy>
  <cp:revision>666</cp:revision>
  <dcterms:created xsi:type="dcterms:W3CDTF">2024-12-15T10:30:09Z</dcterms:created>
  <dcterms:modified xsi:type="dcterms:W3CDTF">2026-04-13T09:06:24Z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0x010100528BBC019314714CBF5A1CA68AA86DD7</vt:lpwstr>
  </property>
  <property fmtid="{D5CDD505-2E9C-101B-9397-08002B2CF9AE}" pid="3" name="ICV">
    <vt:lpwstr>D9216364A8E74C80A5795E67625DB02A_43</vt:lpwstr>
  </property>
  <property fmtid="{D5CDD505-2E9C-101B-9397-08002B2CF9AE}" pid="4" name="KSOProductBuildVer">
    <vt:lpwstr>2052-6.10.1.8873</vt:lpwstr>
  </property>
</Properties>
</file>